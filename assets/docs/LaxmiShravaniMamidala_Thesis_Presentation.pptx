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tags/tag1.xml" ContentType="application/vnd.openxmlformats-officedocument.presentationml.tags+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tags/tag17.xml" ContentType="application/vnd.openxmlformats-officedocument.presentationml.tags+xml"/>
  <Override PartName="/ppt/tags/tag18.xml" ContentType="application/vnd.openxmlformats-officedocument.presentationml.tags+xml"/>
  <Override PartName="/ppt/tags/tag19.xml" ContentType="application/vnd.openxmlformats-officedocument.presentationml.tags+xml"/>
  <Override PartName="/ppt/tags/tag20.xml" ContentType="application/vnd.openxmlformats-officedocument.presentationml.tags+xml"/>
  <Override PartName="/ppt/tags/tag21.xml" ContentType="application/vnd.openxmlformats-officedocument.presentationml.tags+xml"/>
  <Override PartName="/ppt/tags/tag22.xml" ContentType="application/vnd.openxmlformats-officedocument.presentationml.tags+xml"/>
  <Override PartName="/ppt/tags/tag23.xml" ContentType="application/vnd.openxmlformats-officedocument.presentationml.tags+xml"/>
  <Override PartName="/ppt/tags/tag24.xml" ContentType="application/vnd.openxmlformats-officedocument.presentationml.tags+xml"/>
  <Override PartName="/ppt/tags/tag25.xml" ContentType="application/vnd.openxmlformats-officedocument.presentationml.tags+xml"/>
  <Override PartName="/ppt/tags/tag26.xml" ContentType="application/vnd.openxmlformats-officedocument.presentationml.tags+xml"/>
  <Override PartName="/ppt/tags/tag27.xml" ContentType="application/vnd.openxmlformats-officedocument.presentationml.tags+xml"/>
  <Override PartName="/ppt/tags/tag28.xml" ContentType="application/vnd.openxmlformats-officedocument.presentationml.tags+xml"/>
  <Override PartName="/ppt/tags/tag29.xml" ContentType="application/vnd.openxmlformats-officedocument.presentationml.tags+xml"/>
  <Override PartName="/ppt/tags/tag30.xml" ContentType="application/vnd.openxmlformats-officedocument.presentationml.tags+xml"/>
  <Override PartName="/ppt/tags/tag31.xml" ContentType="application/vnd.openxmlformats-officedocument.presentationml.tags+xml"/>
  <Override PartName="/ppt/tags/tag32.xml" ContentType="application/vnd.openxmlformats-officedocument.presentationml.tags+xml"/>
  <Override PartName="/ppt/tags/tag33.xml" ContentType="application/vnd.openxmlformats-officedocument.presentationml.tags+xml"/>
  <Override PartName="/ppt/tags/tag34.xml" ContentType="application/vnd.openxmlformats-officedocument.presentationml.tags+xml"/>
  <Override PartName="/ppt/tags/tag35.xml" ContentType="application/vnd.openxmlformats-officedocument.presentationml.tags+xml"/>
  <Override PartName="/ppt/tags/tag36.xml" ContentType="application/vnd.openxmlformats-officedocument.presentationml.tags+xml"/>
  <Override PartName="/ppt/tags/tag37.xml" ContentType="application/vnd.openxmlformats-officedocument.presentationml.tags+xml"/>
  <Override PartName="/ppt/tags/tag38.xml" ContentType="application/vnd.openxmlformats-officedocument.presentationml.tags+xml"/>
  <Override PartName="/ppt/tags/tag39.xml" ContentType="application/vnd.openxmlformats-officedocument.presentationml.tags+xml"/>
  <Override PartName="/ppt/tags/tag40.xml" ContentType="application/vnd.openxmlformats-officedocument.presentationml.tags+xml"/>
  <Override PartName="/ppt/tags/tag41.xml" ContentType="application/vnd.openxmlformats-officedocument.presentationml.tags+xml"/>
  <Override PartName="/ppt/tags/tag42.xml" ContentType="application/vnd.openxmlformats-officedocument.presentationml.tags+xml"/>
  <Override PartName="/ppt/tags/tag43.xml" ContentType="application/vnd.openxmlformats-officedocument.presentationml.tags+xml"/>
  <Override PartName="/ppt/tags/tag44.xml" ContentType="application/vnd.openxmlformats-officedocument.presentationml.tags+xml"/>
  <Override PartName="/ppt/tags/tag45.xml" ContentType="application/vnd.openxmlformats-officedocument.presentationml.tags+xml"/>
  <Override PartName="/ppt/tags/tag46.xml" ContentType="application/vnd.openxmlformats-officedocument.presentationml.tags+xml"/>
  <Override PartName="/ppt/tags/tag47.xml" ContentType="application/vnd.openxmlformats-officedocument.presentationml.tags+xml"/>
  <Override PartName="/ppt/tags/tag48.xml" ContentType="application/vnd.openxmlformats-officedocument.presentationml.tags+xml"/>
  <Override PartName="/ppt/tags/tag49.xml" ContentType="application/vnd.openxmlformats-officedocument.presentationml.tags+xml"/>
  <Override PartName="/ppt/tags/tag50.xml" ContentType="application/vnd.openxmlformats-officedocument.presentationml.tags+xml"/>
  <Override PartName="/ppt/tags/tag51.xml" ContentType="application/vnd.openxmlformats-officedocument.presentationml.tags+xml"/>
  <Override PartName="/ppt/tags/tag52.xml" ContentType="application/vnd.openxmlformats-officedocument.presentationml.tags+xml"/>
  <Override PartName="/ppt/tags/tag53.xml" ContentType="application/vnd.openxmlformats-officedocument.presentationml.tags+xml"/>
  <Override PartName="/ppt/tags/tag54.xml" ContentType="application/vnd.openxmlformats-officedocument.presentationml.tags+xml"/>
  <Override PartName="/ppt/tags/tag55.xml" ContentType="application/vnd.openxmlformats-officedocument.presentationml.tags+xml"/>
  <Override PartName="/ppt/notesSlides/notesSlide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47" r:id="rId1"/>
    <p:sldMasterId id="2147483776" r:id="rId2"/>
  </p:sldMasterIdLst>
  <p:notesMasterIdLst>
    <p:notesMasterId r:id="rId37"/>
  </p:notesMasterIdLst>
  <p:sldIdLst>
    <p:sldId id="256" r:id="rId3"/>
    <p:sldId id="261" r:id="rId4"/>
    <p:sldId id="262" r:id="rId5"/>
    <p:sldId id="291" r:id="rId6"/>
    <p:sldId id="263" r:id="rId7"/>
    <p:sldId id="292" r:id="rId8"/>
    <p:sldId id="293" r:id="rId9"/>
    <p:sldId id="264" r:id="rId10"/>
    <p:sldId id="290" r:id="rId11"/>
    <p:sldId id="266" r:id="rId12"/>
    <p:sldId id="294" r:id="rId13"/>
    <p:sldId id="267" r:id="rId14"/>
    <p:sldId id="268" r:id="rId15"/>
    <p:sldId id="269" r:id="rId16"/>
    <p:sldId id="270" r:id="rId17"/>
    <p:sldId id="271" r:id="rId18"/>
    <p:sldId id="279" r:id="rId19"/>
    <p:sldId id="272" r:id="rId20"/>
    <p:sldId id="277" r:id="rId21"/>
    <p:sldId id="278" r:id="rId22"/>
    <p:sldId id="296" r:id="rId23"/>
    <p:sldId id="298" r:id="rId24"/>
    <p:sldId id="280" r:id="rId25"/>
    <p:sldId id="281" r:id="rId26"/>
    <p:sldId id="299" r:id="rId27"/>
    <p:sldId id="286" r:id="rId28"/>
    <p:sldId id="284" r:id="rId29"/>
    <p:sldId id="287" r:id="rId30"/>
    <p:sldId id="300" r:id="rId31"/>
    <p:sldId id="257" r:id="rId32"/>
    <p:sldId id="288" r:id="rId33"/>
    <p:sldId id="259" r:id="rId34"/>
    <p:sldId id="289" r:id="rId35"/>
    <p:sldId id="258" r:id="rId36"/>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Default Section" id="{4529F06D-E384-4B26-A68C-530F110DEFB5}">
          <p14:sldIdLst>
            <p14:sldId id="256"/>
            <p14:sldId id="261"/>
            <p14:sldId id="262"/>
            <p14:sldId id="291"/>
            <p14:sldId id="263"/>
            <p14:sldId id="292"/>
            <p14:sldId id="293"/>
            <p14:sldId id="264"/>
            <p14:sldId id="290"/>
            <p14:sldId id="266"/>
            <p14:sldId id="294"/>
            <p14:sldId id="267"/>
            <p14:sldId id="268"/>
            <p14:sldId id="269"/>
            <p14:sldId id="270"/>
            <p14:sldId id="271"/>
            <p14:sldId id="279"/>
            <p14:sldId id="272"/>
            <p14:sldId id="277"/>
            <p14:sldId id="278"/>
            <p14:sldId id="296"/>
            <p14:sldId id="298"/>
            <p14:sldId id="280"/>
            <p14:sldId id="281"/>
            <p14:sldId id="299"/>
            <p14:sldId id="286"/>
            <p14:sldId id="284"/>
            <p14:sldId id="287"/>
            <p14:sldId id="300"/>
            <p14:sldId id="257"/>
            <p14:sldId id="288"/>
            <p14:sldId id="259"/>
            <p14:sldId id="289"/>
            <p14:sldId id="258"/>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4299B6"/>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7961" autoAdjust="0"/>
    <p:restoredTop sz="94660"/>
  </p:normalViewPr>
  <p:slideViewPr>
    <p:cSldViewPr snapToGrid="0">
      <p:cViewPr varScale="1">
        <p:scale>
          <a:sx n="97" d="100"/>
          <a:sy n="97" d="100"/>
        </p:scale>
        <p:origin x="270" y="8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1.xml"/><Relationship Id="rId18" Type="http://schemas.openxmlformats.org/officeDocument/2006/relationships/slide" Target="slides/slide16.xml"/><Relationship Id="rId26" Type="http://schemas.openxmlformats.org/officeDocument/2006/relationships/slide" Target="slides/slide24.xml"/><Relationship Id="rId39" Type="http://schemas.openxmlformats.org/officeDocument/2006/relationships/viewProps" Target="viewProps.xml"/><Relationship Id="rId21" Type="http://schemas.openxmlformats.org/officeDocument/2006/relationships/slide" Target="slides/slide19.xml"/><Relationship Id="rId34" Type="http://schemas.openxmlformats.org/officeDocument/2006/relationships/slide" Target="slides/slide32.xml"/><Relationship Id="rId7" Type="http://schemas.openxmlformats.org/officeDocument/2006/relationships/slide" Target="slides/slide5.xml"/><Relationship Id="rId2" Type="http://schemas.openxmlformats.org/officeDocument/2006/relationships/slideMaster" Target="slideMasters/slideMaster2.xml"/><Relationship Id="rId16" Type="http://schemas.openxmlformats.org/officeDocument/2006/relationships/slide" Target="slides/slide14.xml"/><Relationship Id="rId20" Type="http://schemas.openxmlformats.org/officeDocument/2006/relationships/slide" Target="slides/slide18.xml"/><Relationship Id="rId29" Type="http://schemas.openxmlformats.org/officeDocument/2006/relationships/slide" Target="slides/slide27.xml"/><Relationship Id="rId41"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24" Type="http://schemas.openxmlformats.org/officeDocument/2006/relationships/slide" Target="slides/slide22.xml"/><Relationship Id="rId32" Type="http://schemas.openxmlformats.org/officeDocument/2006/relationships/slide" Target="slides/slide30.xml"/><Relationship Id="rId37" Type="http://schemas.openxmlformats.org/officeDocument/2006/relationships/notesMaster" Target="notesMasters/notesMaster1.xml"/><Relationship Id="rId40" Type="http://schemas.openxmlformats.org/officeDocument/2006/relationships/theme" Target="theme/theme1.xml"/><Relationship Id="rId5" Type="http://schemas.openxmlformats.org/officeDocument/2006/relationships/slide" Target="slides/slide3.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slide" Target="slides/slide26.xml"/><Relationship Id="rId36" Type="http://schemas.openxmlformats.org/officeDocument/2006/relationships/slide" Target="slides/slide34.xml"/><Relationship Id="rId10" Type="http://schemas.openxmlformats.org/officeDocument/2006/relationships/slide" Target="slides/slide8.xml"/><Relationship Id="rId19" Type="http://schemas.openxmlformats.org/officeDocument/2006/relationships/slide" Target="slides/slide17.xml"/><Relationship Id="rId31" Type="http://schemas.openxmlformats.org/officeDocument/2006/relationships/slide" Target="slides/slide29.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slide" Target="slides/slide25.xml"/><Relationship Id="rId30" Type="http://schemas.openxmlformats.org/officeDocument/2006/relationships/slide" Target="slides/slide28.xml"/><Relationship Id="rId35" Type="http://schemas.openxmlformats.org/officeDocument/2006/relationships/slide" Target="slides/slide33.xml"/><Relationship Id="rId8" Type="http://schemas.openxmlformats.org/officeDocument/2006/relationships/slide" Target="slides/slide6.xml"/><Relationship Id="rId3" Type="http://schemas.openxmlformats.org/officeDocument/2006/relationships/slide" Target="slides/slide1.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slide" Target="slides/slide23.xml"/><Relationship Id="rId33" Type="http://schemas.openxmlformats.org/officeDocument/2006/relationships/slide" Target="slides/slide31.xml"/><Relationship Id="rId38"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E78B349D-4356-4131-AD9F-06EB895DA332}" type="datetimeFigureOut">
              <a:rPr lang="en-US" smtClean="0"/>
              <a:t>3/24/2026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D6CA4E08-D01C-465D-BE24-BE5C54BB15F3}" type="slidenum">
              <a:rPr lang="en-US" smtClean="0"/>
              <a:t>‹#›</a:t>
            </a:fld>
            <a:endParaRPr lang="en-US"/>
          </a:p>
        </p:txBody>
      </p:sp>
    </p:spTree>
    <p:extLst>
      <p:ext uri="{BB962C8B-B14F-4D97-AF65-F5344CB8AC3E}">
        <p14:creationId xmlns:p14="http://schemas.microsoft.com/office/powerpoint/2010/main" val="34524707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D6CA4E08-D01C-465D-BE24-BE5C54BB15F3}" type="slidenum">
              <a:rPr lang="en-US" smtClean="0"/>
              <a:t>2</a:t>
            </a:fld>
            <a:endParaRPr lang="en-US"/>
          </a:p>
        </p:txBody>
      </p:sp>
    </p:spTree>
    <p:extLst>
      <p:ext uri="{BB962C8B-B14F-4D97-AF65-F5344CB8AC3E}">
        <p14:creationId xmlns:p14="http://schemas.microsoft.com/office/powerpoint/2010/main" val="1075522798"/>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D6CA4E08-D01C-465D-BE24-BE5C54BB15F3}" type="slidenum">
              <a:rPr lang="en-US" smtClean="0"/>
              <a:t>34</a:t>
            </a:fld>
            <a:endParaRPr lang="en-US"/>
          </a:p>
        </p:txBody>
      </p:sp>
    </p:spTree>
    <p:extLst>
      <p:ext uri="{BB962C8B-B14F-4D97-AF65-F5344CB8AC3E}">
        <p14:creationId xmlns:p14="http://schemas.microsoft.com/office/powerpoint/2010/main" val="1320841029"/>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7" name="Group 6"/>
          <p:cNvGrpSpPr/>
          <p:nvPr/>
        </p:nvGrpSpPr>
        <p:grpSpPr>
          <a:xfrm>
            <a:off x="0" y="-8467"/>
            <a:ext cx="12192000" cy="6866467"/>
            <a:chOff x="0" y="-8467"/>
            <a:chExt cx="12192000" cy="6866467"/>
          </a:xfrm>
        </p:grpSpPr>
        <p:cxnSp>
          <p:nvCxnSpPr>
            <p:cNvPr id="32" name="Straight Connector 31"/>
            <p:cNvCxnSpPr/>
            <p:nvPr/>
          </p:nvCxnSpPr>
          <p:spPr>
            <a:xfrm>
              <a:off x="9371012" y="0"/>
              <a:ext cx="1219200" cy="6858000"/>
            </a:xfrm>
            <a:prstGeom prst="line">
              <a:avLst/>
            </a:prstGeom>
            <a:ln w="9525">
              <a:solidFill>
                <a:schemeClr val="bg1">
                  <a:lumMod val="75000"/>
                </a:schemeClr>
              </a:solidFill>
            </a:ln>
          </p:spPr>
          <p:style>
            <a:lnRef idx="2">
              <a:schemeClr val="accent1"/>
            </a:lnRef>
            <a:fillRef idx="0">
              <a:schemeClr val="accent1"/>
            </a:fillRef>
            <a:effectRef idx="1">
              <a:schemeClr val="accent1"/>
            </a:effectRef>
            <a:fontRef idx="minor">
              <a:schemeClr val="tx1"/>
            </a:fontRef>
          </p:style>
        </p:cxnSp>
        <p:cxnSp>
          <p:nvCxnSpPr>
            <p:cNvPr id="21" name="Straight Connector 20"/>
            <p:cNvCxnSpPr/>
            <p:nvPr/>
          </p:nvCxnSpPr>
          <p:spPr>
            <a:xfrm flipH="1">
              <a:off x="7425267" y="3681413"/>
              <a:ext cx="4763558" cy="3176587"/>
            </a:xfrm>
            <a:prstGeom prst="line">
              <a:avLst/>
            </a:prstGeom>
            <a:ln w="9525">
              <a:solidFill>
                <a:schemeClr val="bg1">
                  <a:lumMod val="85000"/>
                </a:schemeClr>
              </a:solidFill>
            </a:ln>
          </p:spPr>
          <p:style>
            <a:lnRef idx="2">
              <a:schemeClr val="accent1"/>
            </a:lnRef>
            <a:fillRef idx="0">
              <a:schemeClr val="accent1"/>
            </a:fillRef>
            <a:effectRef idx="1">
              <a:schemeClr val="accent1"/>
            </a:effectRef>
            <a:fontRef idx="minor">
              <a:schemeClr val="tx1"/>
            </a:fontRef>
          </p:style>
        </p:cxnSp>
        <p:sp>
          <p:nvSpPr>
            <p:cNvPr id="24"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26"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27" name="Isosceles Triangle 26"/>
            <p:cNvSpPr/>
            <p:nvPr/>
          </p:nvSpPr>
          <p:spPr>
            <a:xfrm>
              <a:off x="8932333" y="3048000"/>
              <a:ext cx="3259667" cy="3810000"/>
            </a:xfrm>
            <a:prstGeom prst="triangle">
              <a:avLst>
                <a:gd name="adj" fmla="val 100000"/>
              </a:avLst>
            </a:prstGeom>
            <a:solidFill>
              <a:schemeClr val="accent2">
                <a:alpha val="72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28"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29"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1">
                <a:lumMod val="60000"/>
                <a:lumOff val="40000"/>
                <a:alpha val="7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30"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1">
                <a:alpha val="65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31" name="Isosceles Triangle 30"/>
            <p:cNvSpPr/>
            <p:nvPr/>
          </p:nvSpPr>
          <p:spPr>
            <a:xfrm>
              <a:off x="10371666" y="3589867"/>
              <a:ext cx="1817159" cy="3268133"/>
            </a:xfrm>
            <a:prstGeom prst="triangle">
              <a:avLst>
                <a:gd name="adj" fmla="val 100000"/>
              </a:avLst>
            </a:prstGeom>
            <a:solidFill>
              <a:schemeClr val="accent1">
                <a:alpha val="8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19" name="Isosceles Triangle 18"/>
            <p:cNvSpPr/>
            <p:nvPr/>
          </p:nvSpPr>
          <p:spPr>
            <a:xfrm rot="10800000">
              <a:off x="0" y="0"/>
              <a:ext cx="842596" cy="5666154"/>
            </a:xfrm>
            <a:prstGeom prst="triangle">
              <a:avLst>
                <a:gd name="adj" fmla="val 100000"/>
              </a:avLst>
            </a:pr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grpSp>
      <p:sp>
        <p:nvSpPr>
          <p:cNvPr id="2" name="Title 1"/>
          <p:cNvSpPr>
            <a:spLocks noGrp="1"/>
          </p:cNvSpPr>
          <p:nvPr>
            <p:ph type="ctrTitle"/>
          </p:nvPr>
        </p:nvSpPr>
        <p:spPr>
          <a:xfrm>
            <a:off x="1507067" y="2404534"/>
            <a:ext cx="7766936" cy="1646302"/>
          </a:xfrm>
        </p:spPr>
        <p:txBody>
          <a:bodyPr anchor="b">
            <a:noAutofit/>
          </a:bodyPr>
          <a:lstStyle>
            <a:lvl1pPr algn="r">
              <a:defRPr sz="5400">
                <a:solidFill>
                  <a:schemeClr val="accent1"/>
                </a:solidFill>
              </a:defRPr>
            </a:lvl1pPr>
          </a:lstStyle>
          <a:p>
            <a:r>
              <a:rPr lang="en-US"/>
              <a:t>Click to edit Master title style</a:t>
            </a:r>
            <a:endParaRPr lang="en-US" dirty="0"/>
          </a:p>
        </p:txBody>
      </p:sp>
      <p:sp>
        <p:nvSpPr>
          <p:cNvPr id="3" name="Subtitle 2"/>
          <p:cNvSpPr>
            <a:spLocks noGrp="1"/>
          </p:cNvSpPr>
          <p:nvPr>
            <p:ph type="subTitle" idx="1"/>
          </p:nvPr>
        </p:nvSpPr>
        <p:spPr>
          <a:xfrm>
            <a:off x="1507067" y="4050833"/>
            <a:ext cx="7766936" cy="1096899"/>
          </a:xfrm>
        </p:spPr>
        <p:txBody>
          <a:bodyPr anchor="t"/>
          <a:lstStyle>
            <a:lvl1pPr marL="0" indent="0" algn="r">
              <a:buNone/>
              <a:defRPr>
                <a:solidFill>
                  <a:schemeClr val="tx1">
                    <a:lumMod val="50000"/>
                    <a:lumOff val="50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D1D1EADE-8E88-4C7C-8AC5-FB148DE4940E}" type="datetime1">
              <a:rPr lang="en-US" smtClean="0"/>
              <a:t>3/24/2026</a:t>
            </a:fld>
            <a:endParaRPr lang="en-US"/>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87E7843D-FF13-4365-9478-9625B70A2705}" type="slidenum">
              <a:rPr lang="en-US" smtClean="0"/>
              <a:t>‹#›</a:t>
            </a:fld>
            <a:endParaRPr lang="en-US"/>
          </a:p>
        </p:txBody>
      </p:sp>
    </p:spTree>
    <p:extLst>
      <p:ext uri="{BB962C8B-B14F-4D97-AF65-F5344CB8AC3E}">
        <p14:creationId xmlns:p14="http://schemas.microsoft.com/office/powerpoint/2010/main" val="68715904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lvl1pPr>
              <a:defRPr sz="3600"/>
            </a:lvl1p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157B6794-849E-4626-908B-D15793550EFB}" type="datetime1">
              <a:rPr lang="en-US" smtClean="0"/>
              <a:t>3/24/2026</a:t>
            </a:fld>
            <a:endParaRPr lang="en-US"/>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87E7843D-FF13-4365-9478-9625B70A2705}" type="slidenum">
              <a:rPr lang="en-US" smtClean="0"/>
              <a:t>‹#›</a:t>
            </a:fld>
            <a:endParaRPr lang="en-US"/>
          </a:p>
        </p:txBody>
      </p:sp>
    </p:spTree>
    <p:extLst>
      <p:ext uri="{BB962C8B-B14F-4D97-AF65-F5344CB8AC3E}">
        <p14:creationId xmlns:p14="http://schemas.microsoft.com/office/powerpoint/2010/main" val="199051229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77335" y="2700867"/>
            <a:ext cx="8596668" cy="1826581"/>
          </a:xfrm>
        </p:spPr>
        <p:txBody>
          <a:bodyPr anchor="b"/>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527448"/>
            <a:ext cx="8596668" cy="860400"/>
          </a:xfrm>
        </p:spPr>
        <p:txBody>
          <a:bodyPr anchor="t"/>
          <a:lstStyle>
            <a:lvl1pPr marL="0" indent="0" algn="l">
              <a:buNone/>
              <a:defRPr sz="20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63DB64E7-5594-42A3-ADBF-E95A7ACEAD64}" type="datetime1">
              <a:rPr lang="en-US" smtClean="0"/>
              <a:t>3/24/2026</a:t>
            </a:fld>
            <a:endParaRPr lang="en-US"/>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87E7843D-FF13-4365-9478-9625B70A2705}" type="slidenum">
              <a:rPr lang="en-US" smtClean="0"/>
              <a:t>‹#›</a:t>
            </a:fld>
            <a:endParaRPr lang="en-US"/>
          </a:p>
        </p:txBody>
      </p:sp>
    </p:spTree>
    <p:extLst>
      <p:ext uri="{BB962C8B-B14F-4D97-AF65-F5344CB8AC3E}">
        <p14:creationId xmlns:p14="http://schemas.microsoft.com/office/powerpoint/2010/main" val="132953674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677334" y="2160589"/>
            <a:ext cx="4184035" cy="388077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5089970" y="2160589"/>
            <a:ext cx="4184034" cy="388077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18462B0B-D248-4FFB-8695-AD7FA4B1284A}" type="datetime1">
              <a:rPr lang="en-US" smtClean="0"/>
              <a:t>3/24/2026</a:t>
            </a:fld>
            <a:endParaRPr lang="en-US"/>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87E7843D-FF13-4365-9478-9625B70A2705}" type="slidenum">
              <a:rPr lang="en-US" smtClean="0"/>
              <a:t>‹#›</a:t>
            </a:fld>
            <a:endParaRPr lang="en-US"/>
          </a:p>
        </p:txBody>
      </p:sp>
    </p:spTree>
    <p:extLst>
      <p:ext uri="{BB962C8B-B14F-4D97-AF65-F5344CB8AC3E}">
        <p14:creationId xmlns:p14="http://schemas.microsoft.com/office/powerpoint/2010/main" val="44012332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675745" y="2160983"/>
            <a:ext cx="4185623"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75745" y="2737245"/>
            <a:ext cx="4185623" cy="330411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5088383" y="2160983"/>
            <a:ext cx="4185618"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5088384" y="2737245"/>
            <a:ext cx="4185617" cy="330411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D0378EFB-9159-4510-B73F-4F0409ADE937}" type="datetime1">
              <a:rPr lang="en-US" smtClean="0"/>
              <a:t>3/24/2026</a:t>
            </a:fld>
            <a:endParaRPr lang="en-US"/>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87E7843D-FF13-4365-9478-9625B70A2705}" type="slidenum">
              <a:rPr lang="en-US" smtClean="0"/>
              <a:t>‹#›</a:t>
            </a:fld>
            <a:endParaRPr lang="en-US"/>
          </a:p>
        </p:txBody>
      </p:sp>
    </p:spTree>
    <p:extLst>
      <p:ext uri="{BB962C8B-B14F-4D97-AF65-F5344CB8AC3E}">
        <p14:creationId xmlns:p14="http://schemas.microsoft.com/office/powerpoint/2010/main" val="63950405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677334" y="609600"/>
            <a:ext cx="8596668" cy="1320800"/>
          </a:xfrm>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89BC9412-2452-4BED-A324-9D8C115361AD}" type="datetime1">
              <a:rPr lang="en-US" smtClean="0"/>
              <a:t>3/24/2026</a:t>
            </a:fld>
            <a:endParaRPr lang="en-US"/>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87E7843D-FF13-4365-9478-9625B70A2705}" type="slidenum">
              <a:rPr lang="en-US" smtClean="0"/>
              <a:t>‹#›</a:t>
            </a:fld>
            <a:endParaRPr lang="en-US"/>
          </a:p>
        </p:txBody>
      </p:sp>
    </p:spTree>
    <p:extLst>
      <p:ext uri="{BB962C8B-B14F-4D97-AF65-F5344CB8AC3E}">
        <p14:creationId xmlns:p14="http://schemas.microsoft.com/office/powerpoint/2010/main" val="132726268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F5318F62-D251-40E8-A23C-F4CFE9FEAB41}" type="datetime1">
              <a:rPr lang="en-US" smtClean="0"/>
              <a:t>3/24/2026</a:t>
            </a:fld>
            <a:endParaRPr lang="en-US"/>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87E7843D-FF13-4365-9478-9625B70A2705}" type="slidenum">
              <a:rPr lang="en-US" smtClean="0"/>
              <a:t>‹#›</a:t>
            </a:fld>
            <a:endParaRPr lang="en-US"/>
          </a:p>
        </p:txBody>
      </p:sp>
    </p:spTree>
    <p:extLst>
      <p:ext uri="{BB962C8B-B14F-4D97-AF65-F5344CB8AC3E}">
        <p14:creationId xmlns:p14="http://schemas.microsoft.com/office/powerpoint/2010/main" val="130278472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4" y="1498604"/>
            <a:ext cx="3854528" cy="1278466"/>
          </a:xfrm>
        </p:spPr>
        <p:txBody>
          <a:bodyPr anchor="b">
            <a:normAutofit/>
          </a:bodyPr>
          <a:lstStyle>
            <a:lvl1pPr>
              <a:defRPr sz="2000"/>
            </a:lvl1pPr>
          </a:lstStyle>
          <a:p>
            <a:r>
              <a:rPr lang="en-US"/>
              <a:t>Click to edit Master title style</a:t>
            </a:r>
            <a:endParaRPr lang="en-US" dirty="0"/>
          </a:p>
        </p:txBody>
      </p:sp>
      <p:sp>
        <p:nvSpPr>
          <p:cNvPr id="3" name="Content Placeholder 2"/>
          <p:cNvSpPr>
            <a:spLocks noGrp="1"/>
          </p:cNvSpPr>
          <p:nvPr>
            <p:ph idx="1"/>
          </p:nvPr>
        </p:nvSpPr>
        <p:spPr>
          <a:xfrm>
            <a:off x="4760461" y="514924"/>
            <a:ext cx="4513541" cy="552643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677334" y="2777069"/>
            <a:ext cx="3854528" cy="2584449"/>
          </a:xfrm>
        </p:spPr>
        <p:txBody>
          <a:bodyPr>
            <a:normAutofit/>
          </a:bodyPr>
          <a:lstStyle>
            <a:lvl1pPr marL="0" indent="0">
              <a:buNone/>
              <a:defRPr sz="1400"/>
            </a:lvl1pPr>
            <a:lvl2pPr marL="457063" indent="0">
              <a:buNone/>
              <a:defRPr sz="1400"/>
            </a:lvl2pPr>
            <a:lvl3pPr marL="914126" indent="0">
              <a:buNone/>
              <a:defRPr sz="1200"/>
            </a:lvl3pPr>
            <a:lvl4pPr marL="1371189" indent="0">
              <a:buNone/>
              <a:defRPr sz="1000"/>
            </a:lvl4pPr>
            <a:lvl5pPr marL="1828251" indent="0">
              <a:buNone/>
              <a:defRPr sz="1000"/>
            </a:lvl5pPr>
            <a:lvl6pPr marL="2285314" indent="0">
              <a:buNone/>
              <a:defRPr sz="1000"/>
            </a:lvl6pPr>
            <a:lvl7pPr marL="2742377" indent="0">
              <a:buNone/>
              <a:defRPr sz="1000"/>
            </a:lvl7pPr>
            <a:lvl8pPr marL="3199440" indent="0">
              <a:buNone/>
              <a:defRPr sz="1000"/>
            </a:lvl8pPr>
            <a:lvl9pPr marL="3656503"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44F76144-149E-4874-93A5-554A0357CF82}" type="datetime1">
              <a:rPr lang="en-US" smtClean="0"/>
              <a:t>3/24/2026</a:t>
            </a:fld>
            <a:endParaRPr lang="en-US"/>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87E7843D-FF13-4365-9478-9625B70A2705}" type="slidenum">
              <a:rPr lang="en-US" smtClean="0"/>
              <a:t>‹#›</a:t>
            </a:fld>
            <a:endParaRPr lang="en-US"/>
          </a:p>
        </p:txBody>
      </p:sp>
    </p:spTree>
    <p:extLst>
      <p:ext uri="{BB962C8B-B14F-4D97-AF65-F5344CB8AC3E}">
        <p14:creationId xmlns:p14="http://schemas.microsoft.com/office/powerpoint/2010/main" val="284118762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4" y="4800600"/>
            <a:ext cx="8596667" cy="566738"/>
          </a:xfrm>
        </p:spPr>
        <p:txBody>
          <a:bodyPr anchor="b">
            <a:normAutofit/>
          </a:bodyPr>
          <a:lstStyle>
            <a:lvl1pPr algn="l">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677334" y="609600"/>
            <a:ext cx="8596668" cy="3845718"/>
          </a:xfrm>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677334" y="5367338"/>
            <a:ext cx="8596667" cy="674024"/>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0BA65D8-0540-4835-AE5C-25D29DBA01BE}" type="datetime1">
              <a:rPr lang="en-US" smtClean="0"/>
              <a:t>3/24/2026</a:t>
            </a:fld>
            <a:endParaRPr lang="en-US"/>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87E7843D-FF13-4365-9478-9625B70A2705}" type="slidenum">
              <a:rPr lang="en-US" smtClean="0"/>
              <a:t>‹#›</a:t>
            </a:fld>
            <a:endParaRPr lang="en-US"/>
          </a:p>
        </p:txBody>
      </p:sp>
    </p:spTree>
    <p:extLst>
      <p:ext uri="{BB962C8B-B14F-4D97-AF65-F5344CB8AC3E}">
        <p14:creationId xmlns:p14="http://schemas.microsoft.com/office/powerpoint/2010/main" val="225154720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5" y="609600"/>
            <a:ext cx="8596668" cy="3403600"/>
          </a:xfrm>
        </p:spPr>
        <p:txBody>
          <a:bodyPr anchor="ctr">
            <a:normAutofit/>
          </a:bodyPr>
          <a:lstStyle>
            <a:lvl1pPr algn="l">
              <a:defRPr sz="44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E31BA835-12AC-4E8F-955A-EA3F4DE2791F}" type="datetime1">
              <a:rPr lang="en-US" smtClean="0"/>
              <a:t>3/24/2026</a:t>
            </a:fld>
            <a:endParaRPr lang="en-US"/>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87E7843D-FF13-4365-9478-9625B70A2705}" type="slidenum">
              <a:rPr lang="en-US" smtClean="0"/>
              <a:t>‹#›</a:t>
            </a:fld>
            <a:endParaRPr lang="en-US"/>
          </a:p>
        </p:txBody>
      </p:sp>
    </p:spTree>
    <p:extLst>
      <p:ext uri="{BB962C8B-B14F-4D97-AF65-F5344CB8AC3E}">
        <p14:creationId xmlns:p14="http://schemas.microsoft.com/office/powerpoint/2010/main" val="2749662791"/>
      </p:ext>
    </p:extLst>
  </p:cSld>
  <p:clrMapOvr>
    <a:masterClrMapping/>
  </p:clrMapOvr>
  <p:hf sldNum="0" hdr="0" ftr="0" dt="0"/>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1366139" y="3632200"/>
            <a:ext cx="7224524" cy="381000"/>
          </a:xfrm>
        </p:spPr>
        <p:txBody>
          <a:bodyPr anchor="ctr">
            <a:noAutofit/>
          </a:bodyPr>
          <a:lstStyle>
            <a:lvl1pPr marL="0" indent="0">
              <a:buFontTx/>
              <a:buNone/>
              <a:defRPr sz="1600">
                <a:solidFill>
                  <a:schemeClr val="tx1">
                    <a:lumMod val="50000"/>
                    <a:lumOff val="50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E31BA835-12AC-4E8F-955A-EA3F4DE2791F}" type="datetime1">
              <a:rPr lang="en-US" smtClean="0"/>
              <a:t>3/24/2026</a:t>
            </a:fld>
            <a:endParaRPr lang="en-US"/>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87E7843D-FF13-4365-9478-9625B70A2705}" type="slidenum">
              <a:rPr lang="en-US" smtClean="0"/>
              <a:t>‹#›</a:t>
            </a:fld>
            <a:endParaRPr lang="en-US"/>
          </a:p>
        </p:txBody>
      </p:sp>
      <p:sp>
        <p:nvSpPr>
          <p:cNvPr id="20" name="TextBox 19"/>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2" name="TextBox 21"/>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latin typeface="Arial"/>
              </a:rPr>
              <a:t>”</a:t>
            </a:r>
            <a:endParaRPr lang="en-US" dirty="0">
              <a:solidFill>
                <a:schemeClr val="accent1">
                  <a:lumMod val="60000"/>
                  <a:lumOff val="40000"/>
                </a:schemeClr>
              </a:solidFill>
              <a:latin typeface="Arial"/>
            </a:endParaRPr>
          </a:p>
        </p:txBody>
      </p:sp>
    </p:spTree>
    <p:extLst>
      <p:ext uri="{BB962C8B-B14F-4D97-AF65-F5344CB8AC3E}">
        <p14:creationId xmlns:p14="http://schemas.microsoft.com/office/powerpoint/2010/main" val="365085664"/>
      </p:ext>
    </p:extLst>
  </p:cSld>
  <p:clrMapOvr>
    <a:masterClrMapping/>
  </p:clrMapOvr>
  <p:hf sldNum="0" hdr="0" ftr="0" dt="0"/>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677335" y="1931988"/>
            <a:ext cx="8596668" cy="2595460"/>
          </a:xfrm>
        </p:spPr>
        <p:txBody>
          <a:bodyPr anchor="b">
            <a:normAutofit/>
          </a:bodyPr>
          <a:lstStyle>
            <a:lvl1pPr algn="l">
              <a:defRPr sz="44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E31BA835-12AC-4E8F-955A-EA3F4DE2791F}" type="datetime1">
              <a:rPr lang="en-US" smtClean="0"/>
              <a:t>3/24/2026</a:t>
            </a:fld>
            <a:endParaRPr lang="en-US"/>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87E7843D-FF13-4365-9478-9625B70A2705}" type="slidenum">
              <a:rPr lang="en-US" smtClean="0"/>
              <a:t>‹#›</a:t>
            </a:fld>
            <a:endParaRPr lang="en-US"/>
          </a:p>
        </p:txBody>
      </p:sp>
    </p:spTree>
    <p:extLst>
      <p:ext uri="{BB962C8B-B14F-4D97-AF65-F5344CB8AC3E}">
        <p14:creationId xmlns:p14="http://schemas.microsoft.com/office/powerpoint/2010/main" val="463204890"/>
      </p:ext>
    </p:extLst>
  </p:cSld>
  <p:clrMapOvr>
    <a:masterClrMapping/>
  </p:clrMapOvr>
  <p:hf sldNum="0" hdr="0" ftr="0" dt="0"/>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tx1">
                    <a:lumMod val="75000"/>
                    <a:lumOff val="25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E31BA835-12AC-4E8F-955A-EA3F4DE2791F}" type="datetime1">
              <a:rPr lang="en-US" smtClean="0"/>
              <a:t>3/24/2026</a:t>
            </a:fld>
            <a:endParaRPr lang="en-US"/>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87E7843D-FF13-4365-9478-9625B70A2705}" type="slidenum">
              <a:rPr lang="en-US" smtClean="0"/>
              <a:t>‹#›</a:t>
            </a:fld>
            <a:endParaRPr lang="en-US"/>
          </a:p>
        </p:txBody>
      </p:sp>
      <p:sp>
        <p:nvSpPr>
          <p:cNvPr id="24" name="TextBox 23"/>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5" name="TextBox 24"/>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Tree>
    <p:extLst>
      <p:ext uri="{BB962C8B-B14F-4D97-AF65-F5344CB8AC3E}">
        <p14:creationId xmlns:p14="http://schemas.microsoft.com/office/powerpoint/2010/main" val="4278575174"/>
      </p:ext>
    </p:extLst>
  </p:cSld>
  <p:clrMapOvr>
    <a:masterClrMapping/>
  </p:clrMapOvr>
  <p:hf sldNum="0" hdr="0" ftr="0" dt="0"/>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685799" y="609600"/>
            <a:ext cx="8588203"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E31BA835-12AC-4E8F-955A-EA3F4DE2791F}" type="datetime1">
              <a:rPr lang="en-US" smtClean="0"/>
              <a:t>3/24/2026</a:t>
            </a:fld>
            <a:endParaRPr lang="en-US"/>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87E7843D-FF13-4365-9478-9625B70A2705}" type="slidenum">
              <a:rPr lang="en-US" smtClean="0"/>
              <a:t>‹#›</a:t>
            </a:fld>
            <a:endParaRPr lang="en-US"/>
          </a:p>
        </p:txBody>
      </p:sp>
    </p:spTree>
    <p:extLst>
      <p:ext uri="{BB962C8B-B14F-4D97-AF65-F5344CB8AC3E}">
        <p14:creationId xmlns:p14="http://schemas.microsoft.com/office/powerpoint/2010/main" val="3875484773"/>
      </p:ext>
    </p:extLst>
  </p:cSld>
  <p:clrMapOvr>
    <a:masterClrMapping/>
  </p:clrMapOvr>
  <p:hf sldNum="0" hdr="0" ftr="0" dt="0"/>
</p:sldLayout>
</file>

<file path=ppt/slideLayouts/slideLayout15.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EC3C8B9C-477D-492A-96AD-1FC2CC997A73}" type="datetime1">
              <a:rPr lang="en-US" smtClean="0"/>
              <a:t>3/24/2026</a:t>
            </a:fld>
            <a:endParaRPr lang="en-US"/>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87E7843D-FF13-4365-9478-9625B70A2705}" type="slidenum">
              <a:rPr lang="en-US" smtClean="0"/>
              <a:t>‹#›</a:t>
            </a:fld>
            <a:endParaRPr lang="en-US"/>
          </a:p>
        </p:txBody>
      </p:sp>
    </p:spTree>
    <p:extLst>
      <p:ext uri="{BB962C8B-B14F-4D97-AF65-F5344CB8AC3E}">
        <p14:creationId xmlns:p14="http://schemas.microsoft.com/office/powerpoint/2010/main" val="2727625422"/>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7967673" y="609599"/>
            <a:ext cx="1304743" cy="5251451"/>
          </a:xfrm>
        </p:spPr>
        <p:txBody>
          <a:bodyPr vert="eaVert" anchor="ctr"/>
          <a:lstStyle/>
          <a:p>
            <a:r>
              <a:rPr lang="en-US"/>
              <a:t>Click to edit Master title style</a:t>
            </a:r>
            <a:endParaRPr lang="en-US" dirty="0"/>
          </a:p>
        </p:txBody>
      </p:sp>
      <p:sp>
        <p:nvSpPr>
          <p:cNvPr id="3" name="Vertical Text Placeholder 2"/>
          <p:cNvSpPr>
            <a:spLocks noGrp="1"/>
          </p:cNvSpPr>
          <p:nvPr>
            <p:ph type="body" orient="vert" idx="1"/>
          </p:nvPr>
        </p:nvSpPr>
        <p:spPr>
          <a:xfrm>
            <a:off x="677335" y="609600"/>
            <a:ext cx="7060150" cy="525145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42D3AED5-E26D-4E29-B1B3-7847B6779594}" type="datetime1">
              <a:rPr lang="en-US" smtClean="0"/>
              <a:t>3/24/2026</a:t>
            </a:fld>
            <a:endParaRPr lang="en-US"/>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87E7843D-FF13-4365-9478-9625B70A2705}" type="slidenum">
              <a:rPr lang="en-US" smtClean="0"/>
              <a:t>‹#›</a:t>
            </a:fld>
            <a:endParaRPr lang="en-US"/>
          </a:p>
        </p:txBody>
      </p:sp>
    </p:spTree>
    <p:extLst>
      <p:ext uri="{BB962C8B-B14F-4D97-AF65-F5344CB8AC3E}">
        <p14:creationId xmlns:p14="http://schemas.microsoft.com/office/powerpoint/2010/main" val="1642114336"/>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7" name="Rectangle 6"/>
          <p:cNvSpPr/>
          <p:nvPr/>
        </p:nvSpPr>
        <p:spPr>
          <a:xfrm>
            <a:off x="1" y="6400800"/>
            <a:ext cx="12192000"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8" name="Rectangle 7"/>
          <p:cNvSpPr/>
          <p:nvPr/>
        </p:nvSpPr>
        <p:spPr>
          <a:xfrm>
            <a:off x="1" y="6334316"/>
            <a:ext cx="12192000" cy="66484"/>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2" name="Title 1"/>
          <p:cNvSpPr>
            <a:spLocks noGrp="1"/>
          </p:cNvSpPr>
          <p:nvPr>
            <p:ph type="ctrTitle"/>
          </p:nvPr>
        </p:nvSpPr>
        <p:spPr>
          <a:xfrm>
            <a:off x="1097280" y="758952"/>
            <a:ext cx="10058400" cy="3566160"/>
          </a:xfrm>
        </p:spPr>
        <p:txBody>
          <a:bodyPr anchor="b">
            <a:normAutofit/>
          </a:bodyPr>
          <a:lstStyle>
            <a:lvl1pPr algn="l">
              <a:lnSpc>
                <a:spcPct val="85000"/>
              </a:lnSpc>
              <a:defRPr sz="8000" spc="-50" baseline="0">
                <a:solidFill>
                  <a:schemeClr val="tx1">
                    <a:lumMod val="85000"/>
                    <a:lumOff val="15000"/>
                  </a:schemeClr>
                </a:solidFill>
              </a:defRPr>
            </a:lvl1pPr>
          </a:lstStyle>
          <a:p>
            <a:r>
              <a:rPr lang="en-US"/>
              <a:t>Click to edit Master title style</a:t>
            </a:r>
            <a:endParaRPr lang="en-US" dirty="0"/>
          </a:p>
        </p:txBody>
      </p:sp>
      <p:sp>
        <p:nvSpPr>
          <p:cNvPr id="3" name="Subtitle 2"/>
          <p:cNvSpPr>
            <a:spLocks noGrp="1"/>
          </p:cNvSpPr>
          <p:nvPr>
            <p:ph type="subTitle" idx="1"/>
          </p:nvPr>
        </p:nvSpPr>
        <p:spPr>
          <a:xfrm>
            <a:off x="1100051" y="4455621"/>
            <a:ext cx="10058400" cy="1143000"/>
          </a:xfrm>
        </p:spPr>
        <p:txBody>
          <a:bodyPr lIns="91440" rIns="91440">
            <a:normAutofit/>
          </a:bodyPr>
          <a:lstStyle>
            <a:lvl1pPr marL="0" indent="0" algn="l">
              <a:buNone/>
              <a:defRPr sz="2400" cap="all" spc="200" baseline="0">
                <a:solidFill>
                  <a:schemeClr val="tx2"/>
                </a:solidFill>
                <a:latin typeface="+mj-lt"/>
              </a:defRPr>
            </a:lvl1pPr>
            <a:lvl2pPr marL="457200" indent="0" algn="ctr">
              <a:buNone/>
              <a:defRPr sz="2400"/>
            </a:lvl2pPr>
            <a:lvl3pPr marL="914400" indent="0" algn="ctr">
              <a:buNone/>
              <a:defRPr sz="2400"/>
            </a:lvl3pPr>
            <a:lvl4pPr marL="1371600" indent="0" algn="ctr">
              <a:buNone/>
              <a:defRPr sz="2000"/>
            </a:lvl4pPr>
            <a:lvl5pPr marL="1828800" indent="0" algn="ctr">
              <a:buNone/>
              <a:defRPr sz="2000"/>
            </a:lvl5pPr>
            <a:lvl6pPr marL="2286000" indent="0" algn="ctr">
              <a:buNone/>
              <a:defRPr sz="2000"/>
            </a:lvl6pPr>
            <a:lvl7pPr marL="2743200" indent="0" algn="ctr">
              <a:buNone/>
              <a:defRPr sz="2000"/>
            </a:lvl7pPr>
            <a:lvl8pPr marL="3200400" indent="0" algn="ctr">
              <a:buNone/>
              <a:defRPr sz="2000"/>
            </a:lvl8pPr>
            <a:lvl9pPr marL="3657600" indent="0" algn="ctr">
              <a:buNone/>
              <a:defRPr sz="20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D1D1EADE-8E88-4C7C-8AC5-FB148DE4940E}" type="datetime1">
              <a:rPr lang="en-US" smtClean="0"/>
              <a:t>3/24/2026</a:t>
            </a:fld>
            <a:endParaRPr lang="en-US"/>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87E7843D-FF13-4365-9478-9625B70A2705}" type="slidenum">
              <a:rPr lang="en-US" smtClean="0"/>
              <a:t>‹#›</a:t>
            </a:fld>
            <a:endParaRPr lang="en-US"/>
          </a:p>
        </p:txBody>
      </p:sp>
      <p:cxnSp>
        <p:nvCxnSpPr>
          <p:cNvPr id="9" name="Straight Connector 8"/>
          <p:cNvCxnSpPr/>
          <p:nvPr/>
        </p:nvCxnSpPr>
        <p:spPr>
          <a:xfrm>
            <a:off x="1207658" y="4343400"/>
            <a:ext cx="987552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777938278"/>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157B6794-849E-4626-908B-D15793550EFB}" type="datetime1">
              <a:rPr lang="en-US" smtClean="0"/>
              <a:t>3/24/2026</a:t>
            </a:fld>
            <a:endParaRPr lang="en-US"/>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87E7843D-FF13-4365-9478-9625B70A2705}" type="slidenum">
              <a:rPr lang="en-US" smtClean="0"/>
              <a:t>‹#›</a:t>
            </a:fld>
            <a:endParaRPr lang="en-US"/>
          </a:p>
        </p:txBody>
      </p:sp>
    </p:spTree>
    <p:extLst>
      <p:ext uri="{BB962C8B-B14F-4D97-AF65-F5344CB8AC3E}">
        <p14:creationId xmlns:p14="http://schemas.microsoft.com/office/powerpoint/2010/main" val="2191670454"/>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showMasterSp="0" type="secHead" preserve="1">
  <p:cSld name="Section Header">
    <p:bg>
      <p:bgPr>
        <a:solidFill>
          <a:schemeClr val="bg1"/>
        </a:solidFill>
        <a:effectLst/>
      </p:bgPr>
    </p:bg>
    <p:spTree>
      <p:nvGrpSpPr>
        <p:cNvPr id="1" name=""/>
        <p:cNvGrpSpPr/>
        <p:nvPr/>
      </p:nvGrpSpPr>
      <p:grpSpPr>
        <a:xfrm>
          <a:off x="0" y="0"/>
          <a:ext cx="0" cy="0"/>
          <a:chOff x="0" y="0"/>
          <a:chExt cx="0" cy="0"/>
        </a:xfrm>
      </p:grpSpPr>
      <p:sp>
        <p:nvSpPr>
          <p:cNvPr id="7" name="Rectangle 6"/>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8" name="Rectangle 7"/>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2" name="Title 1"/>
          <p:cNvSpPr>
            <a:spLocks noGrp="1"/>
          </p:cNvSpPr>
          <p:nvPr>
            <p:ph type="title"/>
          </p:nvPr>
        </p:nvSpPr>
        <p:spPr>
          <a:xfrm>
            <a:off x="1097280" y="758952"/>
            <a:ext cx="10058400" cy="3566160"/>
          </a:xfrm>
        </p:spPr>
        <p:txBody>
          <a:bodyPr anchor="b" anchorCtr="0">
            <a:normAutofit/>
          </a:bodyPr>
          <a:lstStyle>
            <a:lvl1pPr>
              <a:lnSpc>
                <a:spcPct val="85000"/>
              </a:lnSpc>
              <a:defRPr sz="8000" b="0">
                <a:solidFill>
                  <a:schemeClr val="tx1">
                    <a:lumMod val="85000"/>
                    <a:lumOff val="15000"/>
                  </a:schemeClr>
                </a:solidFill>
              </a:defRPr>
            </a:lvl1pPr>
          </a:lstStyle>
          <a:p>
            <a:r>
              <a:rPr lang="en-US"/>
              <a:t>Click to edit Master title style</a:t>
            </a:r>
            <a:endParaRPr lang="en-US" dirty="0"/>
          </a:p>
        </p:txBody>
      </p:sp>
      <p:sp>
        <p:nvSpPr>
          <p:cNvPr id="3" name="Text Placeholder 2"/>
          <p:cNvSpPr>
            <a:spLocks noGrp="1"/>
          </p:cNvSpPr>
          <p:nvPr>
            <p:ph type="body" idx="1"/>
          </p:nvPr>
        </p:nvSpPr>
        <p:spPr>
          <a:xfrm>
            <a:off x="1097280" y="4453128"/>
            <a:ext cx="10058400" cy="1143000"/>
          </a:xfrm>
        </p:spPr>
        <p:txBody>
          <a:bodyPr lIns="91440" rIns="91440" anchor="t" anchorCtr="0">
            <a:normAutofit/>
          </a:bodyPr>
          <a:lstStyle>
            <a:lvl1pPr marL="0" indent="0">
              <a:buNone/>
              <a:defRPr sz="2400" cap="all" spc="200" baseline="0">
                <a:solidFill>
                  <a:schemeClr val="tx2"/>
                </a:solidFill>
                <a:latin typeface="+mj-lt"/>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63DB64E7-5594-42A3-ADBF-E95A7ACEAD64}" type="datetime1">
              <a:rPr lang="en-US" smtClean="0"/>
              <a:t>3/24/2026</a:t>
            </a:fld>
            <a:endParaRPr lang="en-US"/>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87E7843D-FF13-4365-9478-9625B70A2705}" type="slidenum">
              <a:rPr lang="en-US" smtClean="0"/>
              <a:t>‹#›</a:t>
            </a:fld>
            <a:endParaRPr lang="en-US"/>
          </a:p>
        </p:txBody>
      </p:sp>
      <p:cxnSp>
        <p:nvCxnSpPr>
          <p:cNvPr id="9" name="Straight Connector 8"/>
          <p:cNvCxnSpPr/>
          <p:nvPr/>
        </p:nvCxnSpPr>
        <p:spPr>
          <a:xfrm>
            <a:off x="1207658" y="4343400"/>
            <a:ext cx="987552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598609571"/>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8" name="Title 7"/>
          <p:cNvSpPr>
            <a:spLocks noGrp="1"/>
          </p:cNvSpPr>
          <p:nvPr>
            <p:ph type="title"/>
          </p:nvPr>
        </p:nvSpPr>
        <p:spPr>
          <a:xfrm>
            <a:off x="1097280" y="286603"/>
            <a:ext cx="10058400" cy="1450757"/>
          </a:xfrm>
        </p:spPr>
        <p:txBody>
          <a:bodyPr/>
          <a:lstStyle/>
          <a:p>
            <a:r>
              <a:rPr lang="en-US"/>
              <a:t>Click to edit Master title style</a:t>
            </a:r>
            <a:endParaRPr lang="en-US" dirty="0"/>
          </a:p>
        </p:txBody>
      </p:sp>
      <p:sp>
        <p:nvSpPr>
          <p:cNvPr id="3" name="Content Placeholder 2"/>
          <p:cNvSpPr>
            <a:spLocks noGrp="1"/>
          </p:cNvSpPr>
          <p:nvPr>
            <p:ph sz="half" idx="1"/>
          </p:nvPr>
        </p:nvSpPr>
        <p:spPr>
          <a:xfrm>
            <a:off x="1097280" y="1845734"/>
            <a:ext cx="4937760" cy="4023359"/>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217920" y="1845735"/>
            <a:ext cx="4937760" cy="402336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18462B0B-D248-4FFB-8695-AD7FA4B1284A}" type="datetime1">
              <a:rPr lang="en-US" smtClean="0"/>
              <a:t>3/24/2026</a:t>
            </a:fld>
            <a:endParaRPr lang="en-US"/>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87E7843D-FF13-4365-9478-9625B70A2705}" type="slidenum">
              <a:rPr lang="en-US" smtClean="0"/>
              <a:t>‹#›</a:t>
            </a:fld>
            <a:endParaRPr lang="en-US"/>
          </a:p>
        </p:txBody>
      </p:sp>
    </p:spTree>
    <p:extLst>
      <p:ext uri="{BB962C8B-B14F-4D97-AF65-F5344CB8AC3E}">
        <p14:creationId xmlns:p14="http://schemas.microsoft.com/office/powerpoint/2010/main" val="1379011691"/>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 name="Title 9"/>
          <p:cNvSpPr>
            <a:spLocks noGrp="1"/>
          </p:cNvSpPr>
          <p:nvPr>
            <p:ph type="title"/>
          </p:nvPr>
        </p:nvSpPr>
        <p:spPr>
          <a:xfrm>
            <a:off x="1097280" y="286603"/>
            <a:ext cx="10058400" cy="1450757"/>
          </a:xfrm>
        </p:spPr>
        <p:txBody>
          <a:bodyPr/>
          <a:lstStyle/>
          <a:p>
            <a:r>
              <a:rPr lang="en-US"/>
              <a:t>Click to edit Master title style</a:t>
            </a:r>
            <a:endParaRPr lang="en-US" dirty="0"/>
          </a:p>
        </p:txBody>
      </p:sp>
      <p:sp>
        <p:nvSpPr>
          <p:cNvPr id="3" name="Text Placeholder 2"/>
          <p:cNvSpPr>
            <a:spLocks noGrp="1"/>
          </p:cNvSpPr>
          <p:nvPr>
            <p:ph type="body" idx="1"/>
          </p:nvPr>
        </p:nvSpPr>
        <p:spPr>
          <a:xfrm>
            <a:off x="1097280" y="1846052"/>
            <a:ext cx="4937760" cy="736282"/>
          </a:xfrm>
        </p:spPr>
        <p:txBody>
          <a:bodyPr lIns="91440" rIns="91440" anchor="ctr">
            <a:normAutofit/>
          </a:bodyPr>
          <a:lstStyle>
            <a:lvl1pPr marL="0" indent="0">
              <a:buNone/>
              <a:defRPr sz="2000" b="0" cap="all" baseline="0">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097280" y="2582335"/>
            <a:ext cx="4937760" cy="328676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217920" y="1846052"/>
            <a:ext cx="4937760" cy="736282"/>
          </a:xfrm>
        </p:spPr>
        <p:txBody>
          <a:bodyPr lIns="91440" rIns="91440" anchor="ctr">
            <a:normAutofit/>
          </a:bodyPr>
          <a:lstStyle>
            <a:lvl1pPr marL="0" indent="0">
              <a:buNone/>
              <a:defRPr sz="2000" b="0" cap="all" baseline="0">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217920" y="2582334"/>
            <a:ext cx="4937760" cy="328676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D0378EFB-9159-4510-B73F-4F0409ADE937}" type="datetime1">
              <a:rPr lang="en-US" smtClean="0"/>
              <a:t>3/24/2026</a:t>
            </a:fld>
            <a:endParaRPr lang="en-US"/>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87E7843D-FF13-4365-9478-9625B70A2705}" type="slidenum">
              <a:rPr lang="en-US" smtClean="0"/>
              <a:t>‹#›</a:t>
            </a:fld>
            <a:endParaRPr lang="en-US"/>
          </a:p>
        </p:txBody>
      </p:sp>
    </p:spTree>
    <p:extLst>
      <p:ext uri="{BB962C8B-B14F-4D97-AF65-F5344CB8AC3E}">
        <p14:creationId xmlns:p14="http://schemas.microsoft.com/office/powerpoint/2010/main" val="464150510"/>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89BC9412-2452-4BED-A324-9D8C115361AD}" type="datetime1">
              <a:rPr lang="en-US" smtClean="0"/>
              <a:t>3/24/2026</a:t>
            </a:fld>
            <a:endParaRPr lang="en-US"/>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87E7843D-FF13-4365-9478-9625B70A2705}" type="slidenum">
              <a:rPr lang="en-US" smtClean="0"/>
              <a:t>‹#›</a:t>
            </a:fld>
            <a:endParaRPr lang="en-US"/>
          </a:p>
        </p:txBody>
      </p:sp>
    </p:spTree>
    <p:extLst>
      <p:ext uri="{BB962C8B-B14F-4D97-AF65-F5344CB8AC3E}">
        <p14:creationId xmlns:p14="http://schemas.microsoft.com/office/powerpoint/2010/main" val="2912122511"/>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5" name="Rectangle 4"/>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6" name="Rectangle 5"/>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7" name="Date Placeholder 6"/>
          <p:cNvSpPr>
            <a:spLocks noGrp="1"/>
          </p:cNvSpPr>
          <p:nvPr>
            <p:ph type="dt" sz="half" idx="10"/>
          </p:nvPr>
        </p:nvSpPr>
        <p:spPr/>
        <p:txBody>
          <a:bodyPr/>
          <a:lstStyle/>
          <a:p>
            <a:fld id="{F5318F62-D251-40E8-A23C-F4CFE9FEAB41}" type="datetime1">
              <a:rPr lang="en-US" smtClean="0"/>
              <a:t>3/24/2026</a:t>
            </a:fld>
            <a:endParaRPr lang="en-US"/>
          </a:p>
        </p:txBody>
      </p:sp>
      <p:sp>
        <p:nvSpPr>
          <p:cNvPr id="8" name="Footer Placeholder 7"/>
          <p:cNvSpPr>
            <a:spLocks noGrp="1"/>
          </p:cNvSpPr>
          <p:nvPr>
            <p:ph type="ftr" sz="quarter" idx="11"/>
          </p:nvPr>
        </p:nvSpPr>
        <p:spPr/>
        <p:txBody>
          <a:bodyPr/>
          <a:lstStyle>
            <a:lvl1pPr>
              <a:defRPr>
                <a:solidFill>
                  <a:srgbClr val="FFFFFF"/>
                </a:solidFill>
              </a:defRPr>
            </a:lvl1pPr>
          </a:lstStyle>
          <a:p>
            <a:endParaRPr lang="en-US" dirty="0"/>
          </a:p>
        </p:txBody>
      </p:sp>
      <p:sp>
        <p:nvSpPr>
          <p:cNvPr id="9" name="Slide Number Placeholder 8"/>
          <p:cNvSpPr>
            <a:spLocks noGrp="1"/>
          </p:cNvSpPr>
          <p:nvPr>
            <p:ph type="sldNum" sz="quarter" idx="12"/>
          </p:nvPr>
        </p:nvSpPr>
        <p:spPr/>
        <p:txBody>
          <a:bodyPr/>
          <a:lstStyle/>
          <a:p>
            <a:fld id="{87E7843D-FF13-4365-9478-9625B70A2705}" type="slidenum">
              <a:rPr lang="en-US" smtClean="0"/>
              <a:t>‹#›</a:t>
            </a:fld>
            <a:endParaRPr lang="en-US"/>
          </a:p>
        </p:txBody>
      </p:sp>
    </p:spTree>
    <p:extLst>
      <p:ext uri="{BB962C8B-B14F-4D97-AF65-F5344CB8AC3E}">
        <p14:creationId xmlns:p14="http://schemas.microsoft.com/office/powerpoint/2010/main" val="488489652"/>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sp>
        <p:nvSpPr>
          <p:cNvPr id="8" name="Rectangle 7"/>
          <p:cNvSpPr/>
          <p:nvPr/>
        </p:nvSpPr>
        <p:spPr>
          <a:xfrm>
            <a:off x="16" y="0"/>
            <a:ext cx="4050791" cy="6858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9" name="Rectangle 8"/>
          <p:cNvSpPr/>
          <p:nvPr/>
        </p:nvSpPr>
        <p:spPr>
          <a:xfrm>
            <a:off x="4040071" y="0"/>
            <a:ext cx="64008"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2" name="Title 1"/>
          <p:cNvSpPr>
            <a:spLocks noGrp="1"/>
          </p:cNvSpPr>
          <p:nvPr>
            <p:ph type="title"/>
          </p:nvPr>
        </p:nvSpPr>
        <p:spPr>
          <a:xfrm>
            <a:off x="457200" y="594359"/>
            <a:ext cx="3200400" cy="2286000"/>
          </a:xfrm>
        </p:spPr>
        <p:txBody>
          <a:bodyPr anchor="b">
            <a:normAutofit/>
          </a:bodyPr>
          <a:lstStyle>
            <a:lvl1pPr>
              <a:defRPr sz="3600" b="0">
                <a:solidFill>
                  <a:srgbClr val="FFFFFF"/>
                </a:solidFill>
              </a:defRPr>
            </a:lvl1pPr>
          </a:lstStyle>
          <a:p>
            <a:r>
              <a:rPr lang="en-US"/>
              <a:t>Click to edit Master title style</a:t>
            </a:r>
            <a:endParaRPr lang="en-US" dirty="0"/>
          </a:p>
        </p:txBody>
      </p:sp>
      <p:sp>
        <p:nvSpPr>
          <p:cNvPr id="3" name="Content Placeholder 2"/>
          <p:cNvSpPr>
            <a:spLocks noGrp="1"/>
          </p:cNvSpPr>
          <p:nvPr>
            <p:ph idx="1"/>
          </p:nvPr>
        </p:nvSpPr>
        <p:spPr>
          <a:xfrm>
            <a:off x="4800600" y="731520"/>
            <a:ext cx="6492240" cy="52578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457200" y="2926080"/>
            <a:ext cx="3200400" cy="3379124"/>
          </a:xfrm>
        </p:spPr>
        <p:txBody>
          <a:bodyPr lIns="91440" rIns="91440">
            <a:normAutofit/>
          </a:bodyPr>
          <a:lstStyle>
            <a:lvl1pPr marL="0" indent="0">
              <a:buNone/>
              <a:defRPr sz="1500">
                <a:solidFill>
                  <a:srgbClr val="FFFFFF"/>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a:xfrm>
            <a:off x="465512" y="6459785"/>
            <a:ext cx="2618510" cy="365125"/>
          </a:xfrm>
        </p:spPr>
        <p:txBody>
          <a:bodyPr/>
          <a:lstStyle>
            <a:lvl1pPr algn="l">
              <a:defRPr/>
            </a:lvl1pPr>
          </a:lstStyle>
          <a:p>
            <a:fld id="{44F76144-149E-4874-93A5-554A0357CF82}" type="datetime1">
              <a:rPr lang="en-US" smtClean="0"/>
              <a:t>3/24/2026</a:t>
            </a:fld>
            <a:endParaRPr lang="en-US"/>
          </a:p>
        </p:txBody>
      </p:sp>
      <p:sp>
        <p:nvSpPr>
          <p:cNvPr id="6" name="Footer Placeholder 5"/>
          <p:cNvSpPr>
            <a:spLocks noGrp="1"/>
          </p:cNvSpPr>
          <p:nvPr>
            <p:ph type="ftr" sz="quarter" idx="11"/>
          </p:nvPr>
        </p:nvSpPr>
        <p:spPr>
          <a:xfrm>
            <a:off x="4800600" y="6459785"/>
            <a:ext cx="4648200" cy="365125"/>
          </a:xfrm>
        </p:spPr>
        <p:txBody>
          <a:bodyPr/>
          <a:lstStyle>
            <a:lvl1pPr algn="l">
              <a:defRPr>
                <a:solidFill>
                  <a:schemeClr val="tx2"/>
                </a:solidFill>
              </a:defRPr>
            </a:lvl1pPr>
          </a:lstStyle>
          <a:p>
            <a:endParaRPr lang="en-US" dirty="0"/>
          </a:p>
        </p:txBody>
      </p:sp>
      <p:sp>
        <p:nvSpPr>
          <p:cNvPr id="7" name="Slide Number Placeholder 6"/>
          <p:cNvSpPr>
            <a:spLocks noGrp="1"/>
          </p:cNvSpPr>
          <p:nvPr>
            <p:ph type="sldNum" sz="quarter" idx="12"/>
          </p:nvPr>
        </p:nvSpPr>
        <p:spPr/>
        <p:txBody>
          <a:bodyPr/>
          <a:lstStyle>
            <a:lvl1pPr>
              <a:defRPr>
                <a:solidFill>
                  <a:schemeClr val="tx2"/>
                </a:solidFill>
              </a:defRPr>
            </a:lvl1pPr>
          </a:lstStyle>
          <a:p>
            <a:fld id="{87E7843D-FF13-4365-9478-9625B70A2705}" type="slidenum">
              <a:rPr lang="en-US" smtClean="0"/>
              <a:t>‹#›</a:t>
            </a:fld>
            <a:endParaRPr lang="en-US"/>
          </a:p>
        </p:txBody>
      </p:sp>
    </p:spTree>
    <p:extLst>
      <p:ext uri="{BB962C8B-B14F-4D97-AF65-F5344CB8AC3E}">
        <p14:creationId xmlns:p14="http://schemas.microsoft.com/office/powerpoint/2010/main" val="2892629028"/>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8" name="Rectangle 7"/>
          <p:cNvSpPr/>
          <p:nvPr/>
        </p:nvSpPr>
        <p:spPr>
          <a:xfrm>
            <a:off x="0" y="4953000"/>
            <a:ext cx="12188825" cy="1905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9" name="Rectangle 8"/>
          <p:cNvSpPr/>
          <p:nvPr/>
        </p:nvSpPr>
        <p:spPr>
          <a:xfrm>
            <a:off x="15" y="491507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2" name="Title 1"/>
          <p:cNvSpPr>
            <a:spLocks noGrp="1"/>
          </p:cNvSpPr>
          <p:nvPr>
            <p:ph type="title"/>
          </p:nvPr>
        </p:nvSpPr>
        <p:spPr>
          <a:xfrm>
            <a:off x="1097280" y="5074920"/>
            <a:ext cx="10113645" cy="822960"/>
          </a:xfrm>
        </p:spPr>
        <p:txBody>
          <a:bodyPr tIns="0" bIns="0" anchor="b">
            <a:noAutofit/>
          </a:bodyPr>
          <a:lstStyle>
            <a:lvl1pPr>
              <a:defRPr sz="3600" b="0">
                <a:solidFill>
                  <a:srgbClr val="FFFFFF"/>
                </a:solidFill>
              </a:defRPr>
            </a:lvl1pPr>
          </a:lstStyle>
          <a:p>
            <a:r>
              <a:rPr lang="en-US"/>
              <a:t>Click to edit Master title style</a:t>
            </a:r>
            <a:endParaRPr lang="en-US" dirty="0"/>
          </a:p>
        </p:txBody>
      </p:sp>
      <p:sp>
        <p:nvSpPr>
          <p:cNvPr id="3" name="Picture Placeholder 2"/>
          <p:cNvSpPr>
            <a:spLocks noGrp="1" noChangeAspect="1"/>
          </p:cNvSpPr>
          <p:nvPr>
            <p:ph type="pic" idx="1"/>
          </p:nvPr>
        </p:nvSpPr>
        <p:spPr>
          <a:xfrm>
            <a:off x="15" y="0"/>
            <a:ext cx="12191985" cy="4915076"/>
          </a:xfrm>
          <a:solidFill>
            <a:schemeClr val="bg2">
              <a:lumMod val="90000"/>
            </a:schemeClr>
          </a:solidFill>
        </p:spPr>
        <p:txBody>
          <a:bodyPr lIns="457200" tIns="457200"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1097280" y="5907024"/>
            <a:ext cx="10113264" cy="594360"/>
          </a:xfrm>
        </p:spPr>
        <p:txBody>
          <a:bodyPr lIns="91440" tIns="0" rIns="91440" bIns="0">
            <a:normAutofit/>
          </a:bodyPr>
          <a:lstStyle>
            <a:lvl1pPr marL="0" indent="0">
              <a:spcBef>
                <a:spcPts val="0"/>
              </a:spcBef>
              <a:spcAft>
                <a:spcPts val="600"/>
              </a:spcAft>
              <a:buNone/>
              <a:defRPr sz="1500">
                <a:solidFill>
                  <a:srgbClr val="FFFFFF"/>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0BA65D8-0540-4835-AE5C-25D29DBA01BE}" type="datetime1">
              <a:rPr lang="en-US" smtClean="0"/>
              <a:t>3/24/2026</a:t>
            </a:fld>
            <a:endParaRPr lang="en-US"/>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87E7843D-FF13-4365-9478-9625B70A2705}" type="slidenum">
              <a:rPr lang="en-US" smtClean="0"/>
              <a:t>‹#›</a:t>
            </a:fld>
            <a:endParaRPr lang="en-US"/>
          </a:p>
        </p:txBody>
      </p:sp>
    </p:spTree>
    <p:extLst>
      <p:ext uri="{BB962C8B-B14F-4D97-AF65-F5344CB8AC3E}">
        <p14:creationId xmlns:p14="http://schemas.microsoft.com/office/powerpoint/2010/main" val="3143938901"/>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lIns="45720" tIns="0" rIns="45720" bIns="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EC3C8B9C-477D-492A-96AD-1FC2CC997A73}" type="datetime1">
              <a:rPr lang="en-US" smtClean="0"/>
              <a:t>3/24/2026</a:t>
            </a:fld>
            <a:endParaRPr lang="en-US"/>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87E7843D-FF13-4365-9478-9625B70A2705}" type="slidenum">
              <a:rPr lang="en-US" smtClean="0"/>
              <a:t>‹#›</a:t>
            </a:fld>
            <a:endParaRPr lang="en-US"/>
          </a:p>
        </p:txBody>
      </p:sp>
    </p:spTree>
    <p:extLst>
      <p:ext uri="{BB962C8B-B14F-4D97-AF65-F5344CB8AC3E}">
        <p14:creationId xmlns:p14="http://schemas.microsoft.com/office/powerpoint/2010/main" val="3919508524"/>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sp>
        <p:nvSpPr>
          <p:cNvPr id="7" name="Rectangle 6"/>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8" name="Rectangle 7"/>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2" name="Vertical Title 1"/>
          <p:cNvSpPr>
            <a:spLocks noGrp="1"/>
          </p:cNvSpPr>
          <p:nvPr>
            <p:ph type="title" orient="vert"/>
          </p:nvPr>
        </p:nvSpPr>
        <p:spPr>
          <a:xfrm>
            <a:off x="8724900" y="412302"/>
            <a:ext cx="2628900" cy="5759898"/>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838200" y="412302"/>
            <a:ext cx="7734300" cy="5759898"/>
          </a:xfrm>
        </p:spPr>
        <p:txBody>
          <a:bodyPr vert="eaVert" lIns="45720" tIns="0" rIns="45720" bIns="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42D3AED5-E26D-4E29-B1B3-7847B6779594}" type="datetime1">
              <a:rPr lang="en-US" smtClean="0"/>
              <a:t>3/24/2026</a:t>
            </a:fld>
            <a:endParaRPr lang="en-US"/>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87E7843D-FF13-4365-9478-9625B70A2705}" type="slidenum">
              <a:rPr lang="en-US" smtClean="0"/>
              <a:t>‹#›</a:t>
            </a:fld>
            <a:endParaRPr lang="en-US"/>
          </a:p>
        </p:txBody>
      </p:sp>
    </p:spTree>
    <p:extLst>
      <p:ext uri="{BB962C8B-B14F-4D97-AF65-F5344CB8AC3E}">
        <p14:creationId xmlns:p14="http://schemas.microsoft.com/office/powerpoint/2010/main" val="428236547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24.xml"/><Relationship Id="rId3" Type="http://schemas.openxmlformats.org/officeDocument/2006/relationships/slideLayout" Target="../slideLayouts/slideLayout19.xml"/><Relationship Id="rId7" Type="http://schemas.openxmlformats.org/officeDocument/2006/relationships/slideLayout" Target="../slideLayouts/slideLayout23.xml"/><Relationship Id="rId12" Type="http://schemas.openxmlformats.org/officeDocument/2006/relationships/theme" Target="../theme/theme2.xml"/><Relationship Id="rId2" Type="http://schemas.openxmlformats.org/officeDocument/2006/relationships/slideLayout" Target="../slideLayouts/slideLayout18.xml"/><Relationship Id="rId1" Type="http://schemas.openxmlformats.org/officeDocument/2006/relationships/slideLayout" Target="../slideLayouts/slideLayout17.xml"/><Relationship Id="rId6" Type="http://schemas.openxmlformats.org/officeDocument/2006/relationships/slideLayout" Target="../slideLayouts/slideLayout22.xml"/><Relationship Id="rId11" Type="http://schemas.openxmlformats.org/officeDocument/2006/relationships/slideLayout" Target="../slideLayouts/slideLayout27.xml"/><Relationship Id="rId5" Type="http://schemas.openxmlformats.org/officeDocument/2006/relationships/slideLayout" Target="../slideLayouts/slideLayout21.xml"/><Relationship Id="rId10" Type="http://schemas.openxmlformats.org/officeDocument/2006/relationships/slideLayout" Target="../slideLayouts/slideLayout26.xml"/><Relationship Id="rId4" Type="http://schemas.openxmlformats.org/officeDocument/2006/relationships/slideLayout" Target="../slideLayouts/slideLayout20.xml"/><Relationship Id="rId9" Type="http://schemas.openxmlformats.org/officeDocument/2006/relationships/slideLayout" Target="../slideLayouts/slideLayout25.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pSp>
        <p:nvGrpSpPr>
          <p:cNvPr id="7" name="Group 6"/>
          <p:cNvGrpSpPr/>
          <p:nvPr/>
        </p:nvGrpSpPr>
        <p:grpSpPr>
          <a:xfrm>
            <a:off x="0" y="-8467"/>
            <a:ext cx="12192000" cy="6866467"/>
            <a:chOff x="0" y="-8467"/>
            <a:chExt cx="12192000" cy="6866467"/>
          </a:xfrm>
        </p:grpSpPr>
        <p:cxnSp>
          <p:nvCxnSpPr>
            <p:cNvPr id="20" name="Straight Connector 19"/>
            <p:cNvCxnSpPr/>
            <p:nvPr/>
          </p:nvCxnSpPr>
          <p:spPr>
            <a:xfrm>
              <a:off x="9371012" y="0"/>
              <a:ext cx="1219200" cy="6858000"/>
            </a:xfrm>
            <a:prstGeom prst="line">
              <a:avLst/>
            </a:prstGeom>
            <a:ln w="9525">
              <a:solidFill>
                <a:schemeClr val="bg1">
                  <a:lumMod val="75000"/>
                </a:schemeClr>
              </a:solidFill>
            </a:ln>
          </p:spPr>
          <p:style>
            <a:lnRef idx="2">
              <a:schemeClr val="accent1"/>
            </a:lnRef>
            <a:fillRef idx="0">
              <a:schemeClr val="accent1"/>
            </a:fillRef>
            <a:effectRef idx="1">
              <a:schemeClr val="accent1"/>
            </a:effectRef>
            <a:fontRef idx="minor">
              <a:schemeClr val="tx1"/>
            </a:fontRef>
          </p:style>
        </p:cxnSp>
        <p:cxnSp>
          <p:nvCxnSpPr>
            <p:cNvPr id="21" name="Straight Connector 20"/>
            <p:cNvCxnSpPr/>
            <p:nvPr/>
          </p:nvCxnSpPr>
          <p:spPr>
            <a:xfrm flipH="1">
              <a:off x="7425267" y="3681413"/>
              <a:ext cx="4763558" cy="3176587"/>
            </a:xfrm>
            <a:prstGeom prst="line">
              <a:avLst/>
            </a:prstGeom>
            <a:ln w="9525">
              <a:solidFill>
                <a:schemeClr val="bg1">
                  <a:lumMod val="85000"/>
                </a:schemeClr>
              </a:solidFill>
            </a:ln>
          </p:spPr>
          <p:style>
            <a:lnRef idx="2">
              <a:schemeClr val="accent1"/>
            </a:lnRef>
            <a:fillRef idx="0">
              <a:schemeClr val="accent1"/>
            </a:fillRef>
            <a:effectRef idx="1">
              <a:schemeClr val="accent1"/>
            </a:effectRef>
            <a:fontRef idx="minor">
              <a:schemeClr val="tx1"/>
            </a:fontRef>
          </p:style>
        </p:cxnSp>
        <p:sp>
          <p:nvSpPr>
            <p:cNvPr id="22"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23"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24" name="Isosceles Triangle 23"/>
            <p:cNvSpPr/>
            <p:nvPr/>
          </p:nvSpPr>
          <p:spPr>
            <a:xfrm>
              <a:off x="8932333" y="3048000"/>
              <a:ext cx="3259667" cy="3810000"/>
            </a:xfrm>
            <a:prstGeom prst="triangle">
              <a:avLst>
                <a:gd name="adj" fmla="val 100000"/>
              </a:avLst>
            </a:prstGeom>
            <a:solidFill>
              <a:schemeClr val="accent2">
                <a:alpha val="72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25"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26"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1">
                <a:lumMod val="60000"/>
                <a:lumOff val="40000"/>
                <a:alpha val="7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27"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1">
                <a:alpha val="65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28" name="Isosceles Triangle 27"/>
            <p:cNvSpPr/>
            <p:nvPr/>
          </p:nvSpPr>
          <p:spPr>
            <a:xfrm>
              <a:off x="10371666" y="3589867"/>
              <a:ext cx="1817159" cy="3268133"/>
            </a:xfrm>
            <a:prstGeom prst="triangle">
              <a:avLst>
                <a:gd name="adj" fmla="val 100000"/>
              </a:avLst>
            </a:prstGeom>
            <a:solidFill>
              <a:schemeClr val="accent1">
                <a:alpha val="8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29" name="Isosceles Triangle 28"/>
            <p:cNvSpPr/>
            <p:nvPr/>
          </p:nvSpPr>
          <p:spPr>
            <a:xfrm>
              <a:off x="0" y="4013200"/>
              <a:ext cx="448733" cy="2844800"/>
            </a:xfrm>
            <a:prstGeom prst="triangle">
              <a:avLst>
                <a:gd name="adj" fmla="val 0"/>
              </a:avLst>
            </a:pr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grpSp>
      <p:sp>
        <p:nvSpPr>
          <p:cNvPr id="2" name="Title Placeholder 1"/>
          <p:cNvSpPr>
            <a:spLocks noGrp="1"/>
          </p:cNvSpPr>
          <p:nvPr>
            <p:ph type="title"/>
          </p:nvPr>
        </p:nvSpPr>
        <p:spPr>
          <a:xfrm>
            <a:off x="677334" y="609600"/>
            <a:ext cx="8596668" cy="1320800"/>
          </a:xfrm>
          <a:prstGeom prst="rect">
            <a:avLst/>
          </a:prstGeom>
        </p:spPr>
        <p:txBody>
          <a:bodyPr vert="horz" lIns="91440" tIns="45720" rIns="91440" bIns="45720" rtlCol="0" anchor="t">
            <a:normAutofit/>
          </a:bodyPr>
          <a:lstStyle/>
          <a:p>
            <a:r>
              <a:rPr lang="en-US"/>
              <a:t>Click to edit Master title style</a:t>
            </a:r>
            <a:endParaRPr lang="en-US" dirty="0"/>
          </a:p>
        </p:txBody>
      </p:sp>
      <p:sp>
        <p:nvSpPr>
          <p:cNvPr id="3" name="Text Placeholder 2"/>
          <p:cNvSpPr>
            <a:spLocks noGrp="1"/>
          </p:cNvSpPr>
          <p:nvPr>
            <p:ph type="body" idx="1"/>
          </p:nvPr>
        </p:nvSpPr>
        <p:spPr>
          <a:xfrm>
            <a:off x="677334" y="2160589"/>
            <a:ext cx="8596668" cy="388077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205133" y="6041362"/>
            <a:ext cx="911939" cy="365125"/>
          </a:xfrm>
          <a:prstGeom prst="rect">
            <a:avLst/>
          </a:prstGeom>
        </p:spPr>
        <p:txBody>
          <a:bodyPr vert="horz" lIns="91440" tIns="45720" rIns="91440" bIns="45720" rtlCol="0" anchor="ctr"/>
          <a:lstStyle>
            <a:lvl1pPr algn="r">
              <a:defRPr sz="900">
                <a:solidFill>
                  <a:schemeClr val="tx1">
                    <a:tint val="75000"/>
                  </a:schemeClr>
                </a:solidFill>
              </a:defRPr>
            </a:lvl1pPr>
          </a:lstStyle>
          <a:p>
            <a:fld id="{E31BA835-12AC-4E8F-955A-EA3F4DE2791F}" type="datetime1">
              <a:rPr lang="en-US" smtClean="0"/>
              <a:t>3/24/2026</a:t>
            </a:fld>
            <a:endParaRPr lang="en-US"/>
          </a:p>
        </p:txBody>
      </p:sp>
      <p:sp>
        <p:nvSpPr>
          <p:cNvPr id="5" name="Footer Placeholder 4"/>
          <p:cNvSpPr>
            <a:spLocks noGrp="1"/>
          </p:cNvSpPr>
          <p:nvPr>
            <p:ph type="ftr" sz="quarter" idx="3"/>
          </p:nvPr>
        </p:nvSpPr>
        <p:spPr>
          <a:xfrm>
            <a:off x="677334" y="6041362"/>
            <a:ext cx="6297612" cy="365125"/>
          </a:xfrm>
          <a:prstGeom prst="rect">
            <a:avLst/>
          </a:prstGeom>
        </p:spPr>
        <p:txBody>
          <a:bodyPr vert="horz" lIns="91440" tIns="45720" rIns="91440" bIns="45720" rtlCol="0" anchor="ctr"/>
          <a:lstStyle>
            <a:lvl1pPr algn="l">
              <a:defRPr sz="900">
                <a:solidFill>
                  <a:schemeClr val="tx1">
                    <a:tint val="75000"/>
                  </a:schemeClr>
                </a:solidFill>
              </a:defRPr>
            </a:lvl1pPr>
          </a:lstStyle>
          <a:p>
            <a:endParaRPr lang="en-US" dirty="0"/>
          </a:p>
        </p:txBody>
      </p:sp>
      <p:sp>
        <p:nvSpPr>
          <p:cNvPr id="6" name="Slide Number Placeholder 5"/>
          <p:cNvSpPr>
            <a:spLocks noGrp="1"/>
          </p:cNvSpPr>
          <p:nvPr>
            <p:ph type="sldNum" sz="quarter" idx="4"/>
          </p:nvPr>
        </p:nvSpPr>
        <p:spPr>
          <a:xfrm>
            <a:off x="8590663" y="6041362"/>
            <a:ext cx="683339" cy="365125"/>
          </a:xfrm>
          <a:prstGeom prst="rect">
            <a:avLst/>
          </a:prstGeom>
        </p:spPr>
        <p:txBody>
          <a:bodyPr vert="horz" lIns="91440" tIns="45720" rIns="91440" bIns="45720" rtlCol="0" anchor="ctr"/>
          <a:lstStyle>
            <a:lvl1pPr algn="r">
              <a:defRPr sz="900">
                <a:solidFill>
                  <a:schemeClr val="accent1"/>
                </a:solidFill>
              </a:defRPr>
            </a:lvl1pPr>
          </a:lstStyle>
          <a:p>
            <a:fld id="{87E7843D-FF13-4365-9478-9625B70A2705}" type="slidenum">
              <a:rPr lang="en-US" smtClean="0"/>
              <a:t>‹#›</a:t>
            </a:fld>
            <a:endParaRPr lang="en-US"/>
          </a:p>
        </p:txBody>
      </p:sp>
    </p:spTree>
    <p:extLst>
      <p:ext uri="{BB962C8B-B14F-4D97-AF65-F5344CB8AC3E}">
        <p14:creationId xmlns:p14="http://schemas.microsoft.com/office/powerpoint/2010/main" val="1369458357"/>
      </p:ext>
    </p:extLst>
  </p:cSld>
  <p:clrMap bg1="lt1" tx1="dk1" bg2="lt2" tx2="dk2" accent1="accent1" accent2="accent2" accent3="accent3" accent4="accent4" accent5="accent5" accent6="accent6" hlink="hlink" folHlink="folHlink"/>
  <p:sldLayoutIdLst>
    <p:sldLayoutId id="2147483748" r:id="rId1"/>
    <p:sldLayoutId id="2147483749" r:id="rId2"/>
    <p:sldLayoutId id="2147483750" r:id="rId3"/>
    <p:sldLayoutId id="2147483751" r:id="rId4"/>
    <p:sldLayoutId id="2147483752" r:id="rId5"/>
    <p:sldLayoutId id="2147483753" r:id="rId6"/>
    <p:sldLayoutId id="2147483754" r:id="rId7"/>
    <p:sldLayoutId id="2147483755" r:id="rId8"/>
    <p:sldLayoutId id="2147483756" r:id="rId9"/>
    <p:sldLayoutId id="2147483757" r:id="rId10"/>
    <p:sldLayoutId id="2147483758" r:id="rId11"/>
    <p:sldLayoutId id="2147483759" r:id="rId12"/>
    <p:sldLayoutId id="2147483760" r:id="rId13"/>
    <p:sldLayoutId id="2147483761" r:id="rId14"/>
    <p:sldLayoutId id="2147483762" r:id="rId15"/>
    <p:sldLayoutId id="2147483763" r:id="rId16"/>
  </p:sldLayoutIdLst>
  <p:hf sldNum="0" hdr="0" ftr="0" dt="0"/>
  <p:txStyles>
    <p:titleStyle>
      <a:lvl1pPr algn="l" defTabSz="457200" rtl="0" eaLnBrk="1" latinLnBrk="0" hangingPunct="1">
        <a:spcBef>
          <a:spcPct val="0"/>
        </a:spcBef>
        <a:buNone/>
        <a:defRPr sz="3600" kern="1200">
          <a:solidFill>
            <a:schemeClr val="accent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accent1"/>
        </a:buClr>
        <a:buSzPct val="80000"/>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7" name="Rectangle 6"/>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9" name="Rectangle 8"/>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2" name="Title Placeholder 1"/>
          <p:cNvSpPr>
            <a:spLocks noGrp="1"/>
          </p:cNvSpPr>
          <p:nvPr>
            <p:ph type="title"/>
          </p:nvPr>
        </p:nvSpPr>
        <p:spPr>
          <a:xfrm>
            <a:off x="1097280" y="286603"/>
            <a:ext cx="10058400" cy="1450757"/>
          </a:xfrm>
          <a:prstGeom prst="rect">
            <a:avLst/>
          </a:prstGeom>
        </p:spPr>
        <p:txBody>
          <a:bodyPr vert="horz" lIns="91440" tIns="45720" rIns="91440" bIns="45720" rtlCol="0" anchor="b">
            <a:normAutofit/>
          </a:bodyPr>
          <a:lstStyle/>
          <a:p>
            <a:r>
              <a:rPr lang="en-US"/>
              <a:t>Click to edit Master title style</a:t>
            </a:r>
            <a:endParaRPr lang="en-US" dirty="0"/>
          </a:p>
        </p:txBody>
      </p:sp>
      <p:sp>
        <p:nvSpPr>
          <p:cNvPr id="3" name="Text Placeholder 2"/>
          <p:cNvSpPr>
            <a:spLocks noGrp="1"/>
          </p:cNvSpPr>
          <p:nvPr>
            <p:ph type="body" idx="1"/>
          </p:nvPr>
        </p:nvSpPr>
        <p:spPr>
          <a:xfrm>
            <a:off x="1097280" y="1845734"/>
            <a:ext cx="10058400" cy="4023360"/>
          </a:xfrm>
          <a:prstGeom prst="rect">
            <a:avLst/>
          </a:prstGeom>
        </p:spPr>
        <p:txBody>
          <a:bodyPr vert="horz" lIns="0" tIns="45720" rIns="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1097280" y="6459785"/>
            <a:ext cx="2472271" cy="365125"/>
          </a:xfrm>
          <a:prstGeom prst="rect">
            <a:avLst/>
          </a:prstGeom>
        </p:spPr>
        <p:txBody>
          <a:bodyPr vert="horz" lIns="91440" tIns="45720" rIns="91440" bIns="45720" rtlCol="0" anchor="ctr"/>
          <a:lstStyle>
            <a:lvl1pPr algn="l">
              <a:defRPr sz="900">
                <a:solidFill>
                  <a:srgbClr val="FFFFFF"/>
                </a:solidFill>
              </a:defRPr>
            </a:lvl1pPr>
          </a:lstStyle>
          <a:p>
            <a:fld id="{E31BA835-12AC-4E8F-955A-EA3F4DE2791F}" type="datetime1">
              <a:rPr lang="en-US" smtClean="0"/>
              <a:t>3/24/2026</a:t>
            </a:fld>
            <a:endParaRPr lang="en-US"/>
          </a:p>
        </p:txBody>
      </p:sp>
      <p:sp>
        <p:nvSpPr>
          <p:cNvPr id="5" name="Footer Placeholder 4"/>
          <p:cNvSpPr>
            <a:spLocks noGrp="1"/>
          </p:cNvSpPr>
          <p:nvPr>
            <p:ph type="ftr" sz="quarter" idx="3"/>
          </p:nvPr>
        </p:nvSpPr>
        <p:spPr>
          <a:xfrm>
            <a:off x="3686185" y="6459785"/>
            <a:ext cx="4822804" cy="365125"/>
          </a:xfrm>
          <a:prstGeom prst="rect">
            <a:avLst/>
          </a:prstGeom>
        </p:spPr>
        <p:txBody>
          <a:bodyPr vert="horz" lIns="91440" tIns="45720" rIns="91440" bIns="45720" rtlCol="0" anchor="ctr"/>
          <a:lstStyle>
            <a:lvl1pPr algn="ctr">
              <a:defRPr sz="900" cap="all" baseline="0">
                <a:solidFill>
                  <a:srgbClr val="FFFFFF"/>
                </a:solidFill>
              </a:defRPr>
            </a:lvl1pPr>
          </a:lstStyle>
          <a:p>
            <a:endParaRPr lang="en-US" dirty="0"/>
          </a:p>
        </p:txBody>
      </p:sp>
      <p:sp>
        <p:nvSpPr>
          <p:cNvPr id="6" name="Slide Number Placeholder 5"/>
          <p:cNvSpPr>
            <a:spLocks noGrp="1"/>
          </p:cNvSpPr>
          <p:nvPr>
            <p:ph type="sldNum" sz="quarter" idx="4"/>
          </p:nvPr>
        </p:nvSpPr>
        <p:spPr>
          <a:xfrm>
            <a:off x="9900458" y="6459785"/>
            <a:ext cx="1312025" cy="365125"/>
          </a:xfrm>
          <a:prstGeom prst="rect">
            <a:avLst/>
          </a:prstGeom>
        </p:spPr>
        <p:txBody>
          <a:bodyPr vert="horz" lIns="91440" tIns="45720" rIns="91440" bIns="45720" rtlCol="0" anchor="ctr"/>
          <a:lstStyle>
            <a:lvl1pPr algn="r">
              <a:defRPr sz="1050">
                <a:solidFill>
                  <a:srgbClr val="FFFFFF"/>
                </a:solidFill>
              </a:defRPr>
            </a:lvl1pPr>
          </a:lstStyle>
          <a:p>
            <a:fld id="{87E7843D-FF13-4365-9478-9625B70A2705}" type="slidenum">
              <a:rPr lang="en-US" smtClean="0"/>
              <a:t>‹#›</a:t>
            </a:fld>
            <a:endParaRPr lang="en-US"/>
          </a:p>
        </p:txBody>
      </p:sp>
      <p:cxnSp>
        <p:nvCxnSpPr>
          <p:cNvPr id="10" name="Straight Connector 9"/>
          <p:cNvCxnSpPr/>
          <p:nvPr/>
        </p:nvCxnSpPr>
        <p:spPr>
          <a:xfrm>
            <a:off x="1193532" y="1737845"/>
            <a:ext cx="996696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064160050"/>
      </p:ext>
    </p:extLst>
  </p:cSld>
  <p:clrMap bg1="lt1" tx1="dk1" bg2="lt2" tx2="dk2" accent1="accent1" accent2="accent2" accent3="accent3" accent4="accent4" accent5="accent5" accent6="accent6" hlink="hlink" folHlink="folHlink"/>
  <p:sldLayoutIdLst>
    <p:sldLayoutId id="2147483777" r:id="rId1"/>
    <p:sldLayoutId id="2147483778" r:id="rId2"/>
    <p:sldLayoutId id="2147483779" r:id="rId3"/>
    <p:sldLayoutId id="2147483780" r:id="rId4"/>
    <p:sldLayoutId id="2147483781" r:id="rId5"/>
    <p:sldLayoutId id="2147483782" r:id="rId6"/>
    <p:sldLayoutId id="2147483783" r:id="rId7"/>
    <p:sldLayoutId id="2147483784" r:id="rId8"/>
    <p:sldLayoutId id="2147483785" r:id="rId9"/>
    <p:sldLayoutId id="2147483786" r:id="rId10"/>
    <p:sldLayoutId id="2147483787" r:id="rId11"/>
  </p:sldLayoutIdLst>
  <p:hf sldNum="0" hdr="0" ftr="0" dt="0"/>
  <p:txStyles>
    <p:titleStyle>
      <a:lvl1pPr algn="l" defTabSz="914400" rtl="0" eaLnBrk="1" latinLnBrk="0" hangingPunct="1">
        <a:lnSpc>
          <a:spcPct val="85000"/>
        </a:lnSpc>
        <a:spcBef>
          <a:spcPct val="0"/>
        </a:spcBef>
        <a:buNone/>
        <a:defRPr sz="4800" kern="1200" spc="-50" baseline="0">
          <a:solidFill>
            <a:schemeClr val="tx1">
              <a:lumMod val="75000"/>
              <a:lumOff val="25000"/>
            </a:schemeClr>
          </a:solidFill>
          <a:latin typeface="+mj-lt"/>
          <a:ea typeface="+mj-ea"/>
          <a:cs typeface="+mj-cs"/>
        </a:defRPr>
      </a:lvl1pPr>
    </p:titleStyle>
    <p:bodyStyle>
      <a:lvl1pPr marL="91440" indent="-91440" algn="l" defTabSz="914400" rtl="0" eaLnBrk="1" latinLnBrk="0" hangingPunct="1">
        <a:lnSpc>
          <a:spcPct val="90000"/>
        </a:lnSpc>
        <a:spcBef>
          <a:spcPts val="1200"/>
        </a:spcBef>
        <a:spcAft>
          <a:spcPts val="200"/>
        </a:spcAft>
        <a:buClr>
          <a:schemeClr val="accent1"/>
        </a:buClr>
        <a:buSzPct val="100000"/>
        <a:buFont typeface="Calibri" panose="020F0502020204030204" pitchFamily="34" charset="0"/>
        <a:buChar char=" "/>
        <a:defRPr sz="2000" kern="1200">
          <a:solidFill>
            <a:schemeClr val="tx1">
              <a:lumMod val="75000"/>
              <a:lumOff val="25000"/>
            </a:schemeClr>
          </a:solidFill>
          <a:latin typeface="+mn-lt"/>
          <a:ea typeface="+mn-ea"/>
          <a:cs typeface="+mn-cs"/>
        </a:defRPr>
      </a:lvl1pPr>
      <a:lvl2pPr marL="384048" indent="-182880" algn="l" defTabSz="914400" rtl="0" eaLnBrk="1" latinLnBrk="0" hangingPunct="1">
        <a:lnSpc>
          <a:spcPct val="90000"/>
        </a:lnSpc>
        <a:spcBef>
          <a:spcPts val="200"/>
        </a:spcBef>
        <a:spcAft>
          <a:spcPts val="400"/>
        </a:spcAft>
        <a:buClr>
          <a:schemeClr val="accent1"/>
        </a:buClr>
        <a:buFont typeface="Calibri" pitchFamily="34" charset="0"/>
        <a:buChar char="◦"/>
        <a:defRPr sz="1800" kern="1200">
          <a:solidFill>
            <a:schemeClr val="tx1">
              <a:lumMod val="75000"/>
              <a:lumOff val="25000"/>
            </a:schemeClr>
          </a:solidFill>
          <a:latin typeface="+mn-lt"/>
          <a:ea typeface="+mn-ea"/>
          <a:cs typeface="+mn-cs"/>
        </a:defRPr>
      </a:lvl2pPr>
      <a:lvl3pPr marL="56692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3pPr>
      <a:lvl4pPr marL="74980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4pPr>
      <a:lvl5pPr marL="93268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5pPr>
      <a:lvl6pPr marL="11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6pPr>
      <a:lvl7pPr marL="13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7pPr>
      <a:lvl8pPr marL="15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8pPr>
      <a:lvl9pPr marL="17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17.xml"/></Relationships>
</file>

<file path=ppt/slides/_rels/slide2.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8" Type="http://schemas.openxmlformats.org/officeDocument/2006/relationships/tags" Target="../tags/tag8.xml"/><Relationship Id="rId3" Type="http://schemas.openxmlformats.org/officeDocument/2006/relationships/tags" Target="../tags/tag3.xml"/><Relationship Id="rId7" Type="http://schemas.openxmlformats.org/officeDocument/2006/relationships/tags" Target="../tags/tag7.xml"/><Relationship Id="rId2" Type="http://schemas.openxmlformats.org/officeDocument/2006/relationships/tags" Target="../tags/tag2.xml"/><Relationship Id="rId1" Type="http://schemas.openxmlformats.org/officeDocument/2006/relationships/tags" Target="../tags/tag1.xml"/><Relationship Id="rId6" Type="http://schemas.openxmlformats.org/officeDocument/2006/relationships/tags" Target="../tags/tag6.xml"/><Relationship Id="rId5" Type="http://schemas.openxmlformats.org/officeDocument/2006/relationships/tags" Target="../tags/tag5.xml"/><Relationship Id="rId4" Type="http://schemas.openxmlformats.org/officeDocument/2006/relationships/tags" Target="../tags/tag4.xml"/><Relationship Id="rId9"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8" Type="http://schemas.openxmlformats.org/officeDocument/2006/relationships/image" Target="../media/image3.png"/><Relationship Id="rId13" Type="http://schemas.openxmlformats.org/officeDocument/2006/relationships/image" Target="../media/image8.svg"/><Relationship Id="rId3" Type="http://schemas.openxmlformats.org/officeDocument/2006/relationships/tags" Target="../tags/tag11.xml"/><Relationship Id="rId7" Type="http://schemas.openxmlformats.org/officeDocument/2006/relationships/slideLayout" Target="../slideLayouts/slideLayout2.xml"/><Relationship Id="rId12" Type="http://schemas.openxmlformats.org/officeDocument/2006/relationships/image" Target="../media/image7.svg"/><Relationship Id="rId2" Type="http://schemas.openxmlformats.org/officeDocument/2006/relationships/tags" Target="../tags/tag10.xml"/><Relationship Id="rId1" Type="http://schemas.openxmlformats.org/officeDocument/2006/relationships/tags" Target="../tags/tag9.xml"/><Relationship Id="rId6" Type="http://schemas.openxmlformats.org/officeDocument/2006/relationships/tags" Target="../tags/tag14.xml"/><Relationship Id="rId11" Type="http://schemas.openxmlformats.org/officeDocument/2006/relationships/image" Target="../media/image6.svg"/><Relationship Id="rId5" Type="http://schemas.openxmlformats.org/officeDocument/2006/relationships/tags" Target="../tags/tag13.xml"/><Relationship Id="rId10" Type="http://schemas.openxmlformats.org/officeDocument/2006/relationships/image" Target="../media/image5.png"/><Relationship Id="rId4" Type="http://schemas.openxmlformats.org/officeDocument/2006/relationships/tags" Target="../tags/tag12.xml"/><Relationship Id="rId9" Type="http://schemas.openxmlformats.org/officeDocument/2006/relationships/image" Target="../media/image4.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8" Type="http://schemas.openxmlformats.org/officeDocument/2006/relationships/image" Target="../media/image11.jpeg"/><Relationship Id="rId3" Type="http://schemas.openxmlformats.org/officeDocument/2006/relationships/tags" Target="../tags/tag17.xml"/><Relationship Id="rId7" Type="http://schemas.openxmlformats.org/officeDocument/2006/relationships/image" Target="../media/image10.jpeg"/><Relationship Id="rId2" Type="http://schemas.openxmlformats.org/officeDocument/2006/relationships/tags" Target="../tags/tag16.xml"/><Relationship Id="rId1" Type="http://schemas.openxmlformats.org/officeDocument/2006/relationships/tags" Target="../tags/tag15.xml"/><Relationship Id="rId6" Type="http://schemas.openxmlformats.org/officeDocument/2006/relationships/slideLayout" Target="../slideLayouts/slideLayout2.xml"/><Relationship Id="rId5" Type="http://schemas.openxmlformats.org/officeDocument/2006/relationships/tags" Target="../tags/tag19.xml"/><Relationship Id="rId4" Type="http://schemas.openxmlformats.org/officeDocument/2006/relationships/tags" Target="../tags/tag18.xml"/></Relationships>
</file>

<file path=ppt/slides/_rels/slide12.xml.rels><?xml version="1.0" encoding="UTF-8" standalone="yes"?>
<Relationships xmlns="http://schemas.openxmlformats.org/package/2006/relationships"><Relationship Id="rId2" Type="http://schemas.openxmlformats.org/officeDocument/2006/relationships/image" Target="../media/image12.sv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8" Type="http://schemas.openxmlformats.org/officeDocument/2006/relationships/tags" Target="../tags/tag27.xml"/><Relationship Id="rId13" Type="http://schemas.openxmlformats.org/officeDocument/2006/relationships/slideLayout" Target="../slideLayouts/slideLayout2.xml"/><Relationship Id="rId18" Type="http://schemas.openxmlformats.org/officeDocument/2006/relationships/image" Target="../media/image17.svg"/><Relationship Id="rId3" Type="http://schemas.openxmlformats.org/officeDocument/2006/relationships/tags" Target="../tags/tag22.xml"/><Relationship Id="rId21" Type="http://schemas.openxmlformats.org/officeDocument/2006/relationships/image" Target="../media/image20.svg"/><Relationship Id="rId7" Type="http://schemas.openxmlformats.org/officeDocument/2006/relationships/tags" Target="../tags/tag26.xml"/><Relationship Id="rId12" Type="http://schemas.openxmlformats.org/officeDocument/2006/relationships/tags" Target="../tags/tag31.xml"/><Relationship Id="rId17" Type="http://schemas.openxmlformats.org/officeDocument/2006/relationships/image" Target="../media/image16.png"/><Relationship Id="rId2" Type="http://schemas.openxmlformats.org/officeDocument/2006/relationships/tags" Target="../tags/tag21.xml"/><Relationship Id="rId16" Type="http://schemas.openxmlformats.org/officeDocument/2006/relationships/image" Target="../media/image15.png"/><Relationship Id="rId20" Type="http://schemas.openxmlformats.org/officeDocument/2006/relationships/image" Target="../media/image19.svg"/><Relationship Id="rId1" Type="http://schemas.openxmlformats.org/officeDocument/2006/relationships/tags" Target="../tags/tag20.xml"/><Relationship Id="rId6" Type="http://schemas.openxmlformats.org/officeDocument/2006/relationships/tags" Target="../tags/tag25.xml"/><Relationship Id="rId11" Type="http://schemas.openxmlformats.org/officeDocument/2006/relationships/tags" Target="../tags/tag30.xml"/><Relationship Id="rId5" Type="http://schemas.openxmlformats.org/officeDocument/2006/relationships/tags" Target="../tags/tag24.xml"/><Relationship Id="rId15" Type="http://schemas.openxmlformats.org/officeDocument/2006/relationships/image" Target="../media/image14.png"/><Relationship Id="rId10" Type="http://schemas.openxmlformats.org/officeDocument/2006/relationships/tags" Target="../tags/tag29.xml"/><Relationship Id="rId19" Type="http://schemas.openxmlformats.org/officeDocument/2006/relationships/image" Target="../media/image18.svg"/><Relationship Id="rId4" Type="http://schemas.openxmlformats.org/officeDocument/2006/relationships/tags" Target="../tags/tag23.xml"/><Relationship Id="rId9" Type="http://schemas.openxmlformats.org/officeDocument/2006/relationships/tags" Target="../tags/tag28.xml"/><Relationship Id="rId14" Type="http://schemas.openxmlformats.org/officeDocument/2006/relationships/image" Target="../media/image13.png"/></Relationships>
</file>

<file path=ppt/slides/_rels/slide14.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8" Type="http://schemas.openxmlformats.org/officeDocument/2006/relationships/image" Target="../media/image3.png"/><Relationship Id="rId13" Type="http://schemas.openxmlformats.org/officeDocument/2006/relationships/image" Target="../media/image25.svg"/><Relationship Id="rId3" Type="http://schemas.openxmlformats.org/officeDocument/2006/relationships/tags" Target="../tags/tag34.xml"/><Relationship Id="rId7" Type="http://schemas.openxmlformats.org/officeDocument/2006/relationships/slideLayout" Target="../slideLayouts/slideLayout2.xml"/><Relationship Id="rId12" Type="http://schemas.openxmlformats.org/officeDocument/2006/relationships/image" Target="../media/image19.svg"/><Relationship Id="rId2" Type="http://schemas.openxmlformats.org/officeDocument/2006/relationships/tags" Target="../tags/tag33.xml"/><Relationship Id="rId1" Type="http://schemas.openxmlformats.org/officeDocument/2006/relationships/tags" Target="../tags/tag32.xml"/><Relationship Id="rId6" Type="http://schemas.openxmlformats.org/officeDocument/2006/relationships/tags" Target="../tags/tag37.xml"/><Relationship Id="rId11" Type="http://schemas.openxmlformats.org/officeDocument/2006/relationships/image" Target="../media/image24.svg"/><Relationship Id="rId5" Type="http://schemas.openxmlformats.org/officeDocument/2006/relationships/tags" Target="../tags/tag36.xml"/><Relationship Id="rId10" Type="http://schemas.openxmlformats.org/officeDocument/2006/relationships/image" Target="../media/image23.png"/><Relationship Id="rId4" Type="http://schemas.openxmlformats.org/officeDocument/2006/relationships/tags" Target="../tags/tag35.xml"/><Relationship Id="rId9" Type="http://schemas.openxmlformats.org/officeDocument/2006/relationships/image" Target="../media/image22.png"/></Relationships>
</file>

<file path=ppt/slides/_rels/slide16.xml.rels><?xml version="1.0" encoding="UTF-8" standalone="yes"?>
<Relationships xmlns="http://schemas.openxmlformats.org/package/2006/relationships"><Relationship Id="rId3" Type="http://schemas.openxmlformats.org/officeDocument/2006/relationships/tags" Target="../tags/tag40.xml"/><Relationship Id="rId7" Type="http://schemas.openxmlformats.org/officeDocument/2006/relationships/slideLayout" Target="../slideLayouts/slideLayout18.xml"/><Relationship Id="rId2" Type="http://schemas.openxmlformats.org/officeDocument/2006/relationships/tags" Target="../tags/tag39.xml"/><Relationship Id="rId1" Type="http://schemas.openxmlformats.org/officeDocument/2006/relationships/tags" Target="../tags/tag38.xml"/><Relationship Id="rId6" Type="http://schemas.openxmlformats.org/officeDocument/2006/relationships/tags" Target="../tags/tag43.xml"/><Relationship Id="rId5" Type="http://schemas.openxmlformats.org/officeDocument/2006/relationships/tags" Target="../tags/tag42.xml"/><Relationship Id="rId4" Type="http://schemas.openxmlformats.org/officeDocument/2006/relationships/tags" Target="../tags/tag41.xml"/></Relationships>
</file>

<file path=ppt/slides/_rels/slide17.xml.rels><?xml version="1.0" encoding="UTF-8" standalone="yes"?>
<Relationships xmlns="http://schemas.openxmlformats.org/package/2006/relationships"><Relationship Id="rId8" Type="http://schemas.openxmlformats.org/officeDocument/2006/relationships/tags" Target="../tags/tag51.xml"/><Relationship Id="rId13" Type="http://schemas.openxmlformats.org/officeDocument/2006/relationships/slideLayout" Target="../slideLayouts/slideLayout18.xml"/><Relationship Id="rId18" Type="http://schemas.openxmlformats.org/officeDocument/2006/relationships/image" Target="../media/image27.svg"/><Relationship Id="rId3" Type="http://schemas.openxmlformats.org/officeDocument/2006/relationships/tags" Target="../tags/tag46.xml"/><Relationship Id="rId7" Type="http://schemas.openxmlformats.org/officeDocument/2006/relationships/tags" Target="../tags/tag50.xml"/><Relationship Id="rId12" Type="http://schemas.openxmlformats.org/officeDocument/2006/relationships/tags" Target="../tags/tag55.xml"/><Relationship Id="rId17" Type="http://schemas.openxmlformats.org/officeDocument/2006/relationships/image" Target="../media/image6.svg"/><Relationship Id="rId2" Type="http://schemas.openxmlformats.org/officeDocument/2006/relationships/tags" Target="../tags/tag45.xml"/><Relationship Id="rId16" Type="http://schemas.openxmlformats.org/officeDocument/2006/relationships/image" Target="../media/image4.png"/><Relationship Id="rId1" Type="http://schemas.openxmlformats.org/officeDocument/2006/relationships/tags" Target="../tags/tag44.xml"/><Relationship Id="rId6" Type="http://schemas.openxmlformats.org/officeDocument/2006/relationships/tags" Target="../tags/tag49.xml"/><Relationship Id="rId11" Type="http://schemas.openxmlformats.org/officeDocument/2006/relationships/tags" Target="../tags/tag54.xml"/><Relationship Id="rId5" Type="http://schemas.openxmlformats.org/officeDocument/2006/relationships/tags" Target="../tags/tag48.xml"/><Relationship Id="rId15" Type="http://schemas.openxmlformats.org/officeDocument/2006/relationships/image" Target="../media/image26.png"/><Relationship Id="rId10" Type="http://schemas.openxmlformats.org/officeDocument/2006/relationships/tags" Target="../tags/tag53.xml"/><Relationship Id="rId19" Type="http://schemas.openxmlformats.org/officeDocument/2006/relationships/image" Target="../media/image28.svg"/><Relationship Id="rId4" Type="http://schemas.openxmlformats.org/officeDocument/2006/relationships/tags" Target="../tags/tag47.xml"/><Relationship Id="rId9" Type="http://schemas.openxmlformats.org/officeDocument/2006/relationships/tags" Target="../tags/tag52.xml"/><Relationship Id="rId14" Type="http://schemas.openxmlformats.org/officeDocument/2006/relationships/image" Target="../media/image23.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image" Target="../media/image29.pn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image" Target="../media/image30.png"/><Relationship Id="rId1" Type="http://schemas.openxmlformats.org/officeDocument/2006/relationships/slideLayout" Target="../slideLayouts/slideLayout4.xml"/></Relationships>
</file>

<file path=ppt/slides/_rels/slide25.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image" Target="../media/image32.png"/><Relationship Id="rId1" Type="http://schemas.openxmlformats.org/officeDocument/2006/relationships/slideLayout" Target="../slideLayouts/slideLayout20.xml"/></Relationships>
</file>

<file path=ppt/slides/_rels/slide26.xml.rels><?xml version="1.0" encoding="UTF-8" standalone="yes"?>
<Relationships xmlns="http://schemas.openxmlformats.org/package/2006/relationships"><Relationship Id="rId2" Type="http://schemas.openxmlformats.org/officeDocument/2006/relationships/image" Target="../media/image34.pn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image" Target="../media/image35.png"/><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image" Target="../media/image36.png"/><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3" Type="http://schemas.openxmlformats.org/officeDocument/2006/relationships/image" Target="../media/image37.jpeg"/><Relationship Id="rId2" Type="http://schemas.openxmlformats.org/officeDocument/2006/relationships/notesSlide" Target="../notesSlides/notesSlide2.xml"/><Relationship Id="rId1" Type="http://schemas.openxmlformats.org/officeDocument/2006/relationships/slideLayout" Target="../slideLayouts/slideLayout2.xml"/><Relationship Id="rId4" Type="http://schemas.openxmlformats.org/officeDocument/2006/relationships/image" Target="../media/image38.jpeg"/></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C0DAFD9-E192-2A9A-36B6-5B2ABD164265}"/>
              </a:ext>
            </a:extLst>
          </p:cNvPr>
          <p:cNvSpPr>
            <a:spLocks noGrp="1"/>
          </p:cNvSpPr>
          <p:nvPr>
            <p:ph type="ctrTitle"/>
          </p:nvPr>
        </p:nvSpPr>
        <p:spPr>
          <a:xfrm>
            <a:off x="5069305" y="558979"/>
            <a:ext cx="7122694" cy="1855858"/>
          </a:xfrm>
        </p:spPr>
        <p:txBody>
          <a:bodyPr>
            <a:normAutofit/>
          </a:bodyPr>
          <a:lstStyle/>
          <a:p>
            <a:r>
              <a:rPr lang="en-US" sz="4000" b="1" dirty="0"/>
              <a:t>ProComp: A Problem-Driven Multi-Agent Framework for Comparative Paper Ranking</a:t>
            </a:r>
          </a:p>
        </p:txBody>
      </p:sp>
      <p:sp>
        <p:nvSpPr>
          <p:cNvPr id="3" name="Subtitle 2">
            <a:extLst>
              <a:ext uri="{FF2B5EF4-FFF2-40B4-BE49-F238E27FC236}">
                <a16:creationId xmlns:a16="http://schemas.microsoft.com/office/drawing/2014/main" id="{30F95EB9-E6F5-0E5E-FEC0-02F8EEC6769E}"/>
              </a:ext>
            </a:extLst>
          </p:cNvPr>
          <p:cNvSpPr>
            <a:spLocks noGrp="1"/>
          </p:cNvSpPr>
          <p:nvPr>
            <p:ph type="subTitle" idx="1"/>
          </p:nvPr>
        </p:nvSpPr>
        <p:spPr>
          <a:xfrm>
            <a:off x="4908885" y="2967790"/>
            <a:ext cx="7122693" cy="2950232"/>
          </a:xfrm>
        </p:spPr>
        <p:txBody>
          <a:bodyPr>
            <a:normAutofit fontScale="92500"/>
          </a:bodyPr>
          <a:lstStyle/>
          <a:p>
            <a:r>
              <a:rPr lang="en-US" dirty="0">
                <a:solidFill>
                  <a:schemeClr val="tx1"/>
                </a:solidFill>
              </a:rPr>
              <a:t>Master’s Thesis by </a:t>
            </a:r>
            <a:r>
              <a:rPr lang="en-US" b="1" dirty="0">
                <a:solidFill>
                  <a:schemeClr val="tx1"/>
                </a:solidFill>
              </a:rPr>
              <a:t>Laxmi Shravani Mamidala</a:t>
            </a:r>
          </a:p>
          <a:p>
            <a:pPr algn="r"/>
            <a:endParaRPr lang="en-US" b="1" dirty="0">
              <a:solidFill>
                <a:schemeClr val="tx1"/>
              </a:solidFill>
            </a:endParaRPr>
          </a:p>
          <a:p>
            <a:pPr algn="r"/>
            <a:r>
              <a:rPr lang="en-US" b="1" dirty="0">
                <a:solidFill>
                  <a:schemeClr val="tx1"/>
                </a:solidFill>
              </a:rPr>
              <a:t>Committee Members</a:t>
            </a:r>
          </a:p>
          <a:p>
            <a:pPr algn="r"/>
            <a:r>
              <a:rPr lang="en-US" dirty="0">
                <a:solidFill>
                  <a:schemeClr val="tx1"/>
                </a:solidFill>
              </a:rPr>
              <a:t>Dr. Ting Xiao, Major Professor </a:t>
            </a:r>
          </a:p>
          <a:p>
            <a:pPr algn="r"/>
            <a:r>
              <a:rPr lang="en-US" dirty="0">
                <a:solidFill>
                  <a:schemeClr val="tx1"/>
                </a:solidFill>
              </a:rPr>
              <a:t>Dr. Jing Yuan, Committee Member</a:t>
            </a:r>
          </a:p>
          <a:p>
            <a:pPr algn="r"/>
            <a:r>
              <a:rPr lang="en-US" dirty="0">
                <a:solidFill>
                  <a:schemeClr val="tx1"/>
                </a:solidFill>
              </a:rPr>
              <a:t> Dr. Yuan Li, Committee Member </a:t>
            </a:r>
            <a:endParaRPr lang="en-US" b="1" dirty="0">
              <a:solidFill>
                <a:schemeClr val="tx1"/>
              </a:solidFill>
            </a:endParaRPr>
          </a:p>
        </p:txBody>
      </p:sp>
      <p:pic>
        <p:nvPicPr>
          <p:cNvPr id="4" name="Picture 3" descr="Robot operating a machine">
            <a:extLst>
              <a:ext uri="{FF2B5EF4-FFF2-40B4-BE49-F238E27FC236}">
                <a16:creationId xmlns:a16="http://schemas.microsoft.com/office/drawing/2014/main" id="{11841875-F96E-5637-182F-983AE974BA20}"/>
              </a:ext>
            </a:extLst>
          </p:cNvPr>
          <p:cNvPicPr>
            <a:picLocks noChangeAspect="1"/>
          </p:cNvPicPr>
          <p:nvPr/>
        </p:nvPicPr>
        <p:blipFill>
          <a:blip r:embed="rId2"/>
          <a:srcRect l="23672" r="21751" b="1"/>
          <a:stretch>
            <a:fillRect/>
          </a:stretch>
        </p:blipFill>
        <p:spPr>
          <a:xfrm>
            <a:off x="1" y="10"/>
            <a:ext cx="4876799" cy="6857989"/>
          </a:xfrm>
          <a:prstGeom prst="rect">
            <a:avLst/>
          </a:prstGeom>
        </p:spPr>
      </p:pic>
    </p:spTree>
    <p:extLst>
      <p:ext uri="{BB962C8B-B14F-4D97-AF65-F5344CB8AC3E}">
        <p14:creationId xmlns:p14="http://schemas.microsoft.com/office/powerpoint/2010/main" val="169386961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1000"/>
                                  </p:stCondLst>
                                  <p:iterate>
                                    <p:tmPct val="10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7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97DABD5-4B7F-736B-DC10-3DD76DC6EC18}"/>
              </a:ext>
            </a:extLst>
          </p:cNvPr>
          <p:cNvSpPr>
            <a:spLocks noGrp="1"/>
          </p:cNvSpPr>
          <p:nvPr>
            <p:ph type="title"/>
          </p:nvPr>
        </p:nvSpPr>
        <p:spPr>
          <a:xfrm>
            <a:off x="1111539" y="-1741332"/>
            <a:ext cx="3497565" cy="3002662"/>
          </a:xfrm>
        </p:spPr>
        <p:txBody>
          <a:bodyPr vert="horz" lIns="91440" tIns="45720" rIns="91440" bIns="45720" rtlCol="0" anchor="b">
            <a:normAutofit/>
          </a:bodyPr>
          <a:lstStyle/>
          <a:p>
            <a:r>
              <a:rPr lang="en-US" sz="4400" kern="1200" dirty="0">
                <a:solidFill>
                  <a:schemeClr val="accent1"/>
                </a:solidFill>
                <a:latin typeface="+mj-lt"/>
                <a:ea typeface="+mj-ea"/>
                <a:cs typeface="+mj-cs"/>
              </a:rPr>
              <a:t>AGENDA</a:t>
            </a:r>
          </a:p>
        </p:txBody>
      </p:sp>
      <p:pic>
        <p:nvPicPr>
          <p:cNvPr id="7" name="Graphic 6" descr="Check List">
            <a:extLst>
              <a:ext uri="{FF2B5EF4-FFF2-40B4-BE49-F238E27FC236}">
                <a16:creationId xmlns:a16="http://schemas.microsoft.com/office/drawing/2014/main" id="{631FFE6D-1501-07A1-156B-15259A3BDC27}"/>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181993" y="1693130"/>
            <a:ext cx="4335340" cy="4335340"/>
          </a:xfrm>
          <a:prstGeom prst="rect">
            <a:avLst/>
          </a:prstGeom>
        </p:spPr>
      </p:pic>
      <p:sp>
        <p:nvSpPr>
          <p:cNvPr id="4" name="TextBox 3">
            <a:extLst>
              <a:ext uri="{FF2B5EF4-FFF2-40B4-BE49-F238E27FC236}">
                <a16:creationId xmlns:a16="http://schemas.microsoft.com/office/drawing/2014/main" id="{27A5E53D-A73F-3E66-12AD-A55A75BB16DF}"/>
              </a:ext>
            </a:extLst>
          </p:cNvPr>
          <p:cNvSpPr txBox="1"/>
          <p:nvPr/>
        </p:nvSpPr>
        <p:spPr>
          <a:xfrm>
            <a:off x="4378273" y="281208"/>
            <a:ext cx="5364604" cy="5632311"/>
          </a:xfrm>
          <a:prstGeom prst="rect">
            <a:avLst/>
          </a:prstGeom>
          <a:noFill/>
        </p:spPr>
        <p:txBody>
          <a:bodyPr wrap="square" rtlCol="0">
            <a:spAutoFit/>
          </a:bodyPr>
          <a:lstStyle/>
          <a:p>
            <a:pPr marL="285750" indent="-285750">
              <a:buClr>
                <a:schemeClr val="accent1"/>
              </a:buClr>
              <a:buFont typeface="Arial" panose="020B0604020202020204" pitchFamily="34" charset="0"/>
              <a:buChar char="•"/>
            </a:pPr>
            <a:r>
              <a:rPr lang="en-US" sz="2000" noProof="1"/>
              <a:t>Background</a:t>
            </a:r>
          </a:p>
          <a:p>
            <a:pPr marL="285750" indent="-285750">
              <a:buClr>
                <a:schemeClr val="accent1"/>
              </a:buClr>
              <a:buFont typeface="Arial" panose="020B0604020202020204" pitchFamily="34" charset="0"/>
              <a:buChar char="•"/>
            </a:pPr>
            <a:r>
              <a:rPr lang="en-US" sz="2000" noProof="1"/>
              <a:t>Problem Statement</a:t>
            </a:r>
          </a:p>
          <a:p>
            <a:pPr marL="285750" indent="-285750">
              <a:buClr>
                <a:schemeClr val="accent1"/>
              </a:buClr>
              <a:buFont typeface="Arial" panose="020B0604020202020204" pitchFamily="34" charset="0"/>
              <a:buChar char="•"/>
            </a:pPr>
            <a:r>
              <a:rPr lang="en-US" sz="2000" noProof="1"/>
              <a:t>Limitations of Peer Review</a:t>
            </a:r>
          </a:p>
          <a:p>
            <a:pPr marL="285750" indent="-285750">
              <a:buClr>
                <a:schemeClr val="accent1"/>
              </a:buClr>
              <a:buFont typeface="Arial" panose="020B0604020202020204" pitchFamily="34" charset="0"/>
              <a:buChar char="•"/>
            </a:pPr>
            <a:r>
              <a:rPr lang="en-US" sz="2000" noProof="1"/>
              <a:t>Role of AI in Evaluation</a:t>
            </a:r>
          </a:p>
          <a:p>
            <a:pPr marL="285750" indent="-285750">
              <a:buClr>
                <a:schemeClr val="accent1"/>
              </a:buClr>
              <a:buFont typeface="Arial" panose="020B0604020202020204" pitchFamily="34" charset="0"/>
              <a:buChar char="•"/>
            </a:pPr>
            <a:r>
              <a:rPr lang="en-US" sz="2000" noProof="1"/>
              <a:t>Motivation for ProComp</a:t>
            </a:r>
          </a:p>
          <a:p>
            <a:pPr marL="285750" indent="-285750">
              <a:buClr>
                <a:schemeClr val="accent1"/>
              </a:buClr>
              <a:buFont typeface="Arial" panose="020B0604020202020204" pitchFamily="34" charset="0"/>
              <a:buChar char="•"/>
            </a:pPr>
            <a:r>
              <a:rPr lang="en-US" sz="2000" noProof="1"/>
              <a:t>Objectives of ProComp Framework</a:t>
            </a:r>
          </a:p>
          <a:p>
            <a:pPr marL="285750" indent="-285750">
              <a:buClr>
                <a:schemeClr val="accent1"/>
              </a:buClr>
              <a:buFont typeface="Arial" panose="020B0604020202020204" pitchFamily="34" charset="0"/>
              <a:buChar char="•"/>
            </a:pPr>
            <a:r>
              <a:rPr lang="en-US" sz="2000" noProof="1"/>
              <a:t>Overview of ProComp Framework</a:t>
            </a:r>
          </a:p>
          <a:p>
            <a:pPr marL="285750" indent="-285750">
              <a:buClr>
                <a:schemeClr val="accent1"/>
              </a:buClr>
              <a:buFont typeface="Arial" panose="020B0604020202020204" pitchFamily="34" charset="0"/>
              <a:buChar char="•"/>
            </a:pPr>
            <a:r>
              <a:rPr lang="en-US" sz="2000" noProof="1"/>
              <a:t>Multi-Agent Architecture</a:t>
            </a:r>
          </a:p>
          <a:p>
            <a:pPr marL="285750" indent="-285750">
              <a:buClr>
                <a:schemeClr val="accent1"/>
              </a:buClr>
              <a:buFont typeface="Arial" panose="020B0604020202020204" pitchFamily="34" charset="0"/>
              <a:buChar char="•"/>
            </a:pPr>
            <a:r>
              <a:rPr lang="en-US" sz="2000" noProof="1"/>
              <a:t>Retrieval-Augmented Generation</a:t>
            </a:r>
          </a:p>
          <a:p>
            <a:pPr marL="285750" indent="-285750">
              <a:buClr>
                <a:schemeClr val="accent1"/>
              </a:buClr>
              <a:buFont typeface="Arial" panose="020B0604020202020204" pitchFamily="34" charset="0"/>
              <a:buChar char="•"/>
            </a:pPr>
            <a:r>
              <a:rPr lang="en-US" sz="2000" noProof="1"/>
              <a:t>Prompt Engineering Strategy</a:t>
            </a:r>
          </a:p>
          <a:p>
            <a:pPr marL="285750" indent="-285750">
              <a:buClr>
                <a:schemeClr val="accent1"/>
              </a:buClr>
              <a:buFont typeface="Arial" panose="020B0604020202020204" pitchFamily="34" charset="0"/>
              <a:buChar char="•"/>
            </a:pPr>
            <a:r>
              <a:rPr lang="en-US" sz="2000" noProof="1"/>
              <a:t>Experimental Dataset</a:t>
            </a:r>
          </a:p>
          <a:p>
            <a:pPr marL="285750" indent="-285750">
              <a:buClr>
                <a:schemeClr val="accent1"/>
              </a:buClr>
              <a:buFont typeface="Arial" panose="020B0604020202020204" pitchFamily="34" charset="0"/>
              <a:buChar char="•"/>
            </a:pPr>
            <a:r>
              <a:rPr lang="en-US" sz="2000" noProof="1"/>
              <a:t>Model Configurations</a:t>
            </a:r>
          </a:p>
          <a:p>
            <a:pPr marL="285750" indent="-285750">
              <a:buClr>
                <a:schemeClr val="accent1"/>
              </a:buClr>
              <a:buFont typeface="Arial" panose="020B0604020202020204" pitchFamily="34" charset="0"/>
              <a:buChar char="•"/>
            </a:pPr>
            <a:r>
              <a:rPr lang="en-US" sz="2000" noProof="1"/>
              <a:t>Evaluation Metrics</a:t>
            </a:r>
          </a:p>
          <a:p>
            <a:pPr marL="285750" indent="-285750">
              <a:buClr>
                <a:schemeClr val="accent1"/>
              </a:buClr>
              <a:buFont typeface="Arial" panose="020B0604020202020204" pitchFamily="34" charset="0"/>
              <a:buChar char="•"/>
            </a:pPr>
            <a:r>
              <a:rPr lang="en-US" sz="2000" noProof="1"/>
              <a:t>Baseline Frameworks Analysis</a:t>
            </a:r>
          </a:p>
          <a:p>
            <a:pPr marL="285750" indent="-285750">
              <a:buClr>
                <a:schemeClr val="accent1"/>
              </a:buClr>
              <a:buFont typeface="Arial" panose="020B0604020202020204" pitchFamily="34" charset="0"/>
              <a:buChar char="•"/>
            </a:pPr>
            <a:r>
              <a:rPr lang="en-US" sz="2000" noProof="1"/>
              <a:t>Evaluation Metric Performance Comparison</a:t>
            </a:r>
          </a:p>
          <a:p>
            <a:pPr marL="285750" indent="-285750">
              <a:buClr>
                <a:schemeClr val="accent1"/>
              </a:buClr>
              <a:buFont typeface="Arial" panose="020B0604020202020204" pitchFamily="34" charset="0"/>
              <a:buChar char="•"/>
            </a:pPr>
            <a:r>
              <a:rPr lang="en-US" sz="2000" noProof="1"/>
              <a:t>Ablation Study Results</a:t>
            </a:r>
          </a:p>
          <a:p>
            <a:pPr marL="285750" indent="-285750">
              <a:buClr>
                <a:schemeClr val="accent1"/>
              </a:buClr>
              <a:buFont typeface="Arial" panose="020B0604020202020204" pitchFamily="34" charset="0"/>
              <a:buChar char="•"/>
            </a:pPr>
            <a:r>
              <a:rPr lang="en-US" sz="2000" noProof="1"/>
              <a:t>Conclusions, Future Work &amp; Challenges</a:t>
            </a:r>
          </a:p>
        </p:txBody>
      </p:sp>
    </p:spTree>
    <p:extLst>
      <p:ext uri="{BB962C8B-B14F-4D97-AF65-F5344CB8AC3E}">
        <p14:creationId xmlns:p14="http://schemas.microsoft.com/office/powerpoint/2010/main" val="289245954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0E9FB83-0005-7B2F-7B88-143C4276C56F}"/>
              </a:ext>
            </a:extLst>
          </p:cNvPr>
          <p:cNvSpPr>
            <a:spLocks noGrp="1"/>
          </p:cNvSpPr>
          <p:nvPr>
            <p:ph type="title"/>
          </p:nvPr>
        </p:nvSpPr>
        <p:spPr/>
        <p:txBody>
          <a:bodyPr/>
          <a:lstStyle/>
          <a:p>
            <a:r>
              <a:rPr lang="en-US" dirty="0"/>
              <a:t>Background	</a:t>
            </a:r>
          </a:p>
        </p:txBody>
      </p:sp>
      <p:sp>
        <p:nvSpPr>
          <p:cNvPr id="4" name="Text Placeholder 3">
            <a:extLst>
              <a:ext uri="{FF2B5EF4-FFF2-40B4-BE49-F238E27FC236}">
                <a16:creationId xmlns:a16="http://schemas.microsoft.com/office/drawing/2014/main" id="{5EF41580-8552-7786-F85C-7CC4D20BEAA6}"/>
              </a:ext>
            </a:extLst>
          </p:cNvPr>
          <p:cNvSpPr txBox="1">
            <a:spLocks/>
          </p:cNvSpPr>
          <p:nvPr>
            <p:custDataLst>
              <p:tags r:id="rId1"/>
            </p:custDataLst>
          </p:nvPr>
        </p:nvSpPr>
        <p:spPr>
          <a:xfrm>
            <a:off x="470783" y="1425828"/>
            <a:ext cx="4245597" cy="418166"/>
          </a:xfrm>
          <a:prstGeom prst="rect">
            <a:avLst/>
          </a:prstGeom>
        </p:spPr>
        <p:txBody>
          <a:bodyPr vert="horz" lIns="91440" tIns="45720" rIns="91440" bIns="45720" rtlCol="0">
            <a:normAutofit/>
          </a:bodyPr>
          <a:lstStyle>
            <a:lvl1pPr marL="342900" indent="-342900" algn="l" defTabSz="457200" rtl="0" eaLnBrk="1" latinLnBrk="0" hangingPunct="1">
              <a:spcBef>
                <a:spcPts val="1000"/>
              </a:spcBef>
              <a:spcAft>
                <a:spcPts val="0"/>
              </a:spcAft>
              <a:buClr>
                <a:schemeClr val="accent1"/>
              </a:buClr>
              <a:buSzPct val="80000"/>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r>
              <a:rPr lang="en-US" b="1" noProof="1"/>
              <a:t>Evolution of Peer Review</a:t>
            </a:r>
          </a:p>
        </p:txBody>
      </p:sp>
      <p:sp>
        <p:nvSpPr>
          <p:cNvPr id="5" name="Content Placeholder 10">
            <a:extLst>
              <a:ext uri="{FF2B5EF4-FFF2-40B4-BE49-F238E27FC236}">
                <a16:creationId xmlns:a16="http://schemas.microsoft.com/office/drawing/2014/main" id="{90EA7DFE-B864-120D-3548-3495B1D3DFF3}"/>
              </a:ext>
            </a:extLst>
          </p:cNvPr>
          <p:cNvSpPr txBox="1">
            <a:spLocks/>
          </p:cNvSpPr>
          <p:nvPr>
            <p:custDataLst>
              <p:tags r:id="rId2"/>
            </p:custDataLst>
          </p:nvPr>
        </p:nvSpPr>
        <p:spPr>
          <a:xfrm>
            <a:off x="454740" y="1924518"/>
            <a:ext cx="4261639" cy="1892878"/>
          </a:xfrm>
          <a:prstGeom prst="rect">
            <a:avLst/>
          </a:prstGeom>
        </p:spPr>
        <p:txBody>
          <a:bodyPr lIns="91440">
            <a:noAutofit/>
          </a:bodyPr>
          <a:lstStyle>
            <a:lvl1pPr marL="342900" indent="-342900" algn="l" defTabSz="457200" rtl="0" eaLnBrk="1" latinLnBrk="0" hangingPunct="1">
              <a:spcBef>
                <a:spcPts val="1000"/>
              </a:spcBef>
              <a:spcAft>
                <a:spcPts val="0"/>
              </a:spcAft>
              <a:buClr>
                <a:schemeClr val="accent1"/>
              </a:buClr>
              <a:buSzPct val="80000"/>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pPr marL="11113" indent="0" algn="just">
              <a:buFont typeface="Wingdings 3" charset="2"/>
              <a:buNone/>
            </a:pPr>
            <a:r>
              <a:rPr lang="en-US" sz="1600" noProof="1">
                <a:solidFill>
                  <a:schemeClr val="tx2"/>
                </a:solidFill>
              </a:rPr>
              <a:t>The concept of peer review began in the 17th century as an informal mechanism for assessing academic research findings. It has developed to a complex regulatory system involving more than one layer of responsibility. With this framework in mind, scientific peers have a means of checking whether research at the academic level meets the highest standards.</a:t>
            </a:r>
          </a:p>
        </p:txBody>
      </p:sp>
      <p:sp>
        <p:nvSpPr>
          <p:cNvPr id="6" name="Text Placeholder 31">
            <a:extLst>
              <a:ext uri="{FF2B5EF4-FFF2-40B4-BE49-F238E27FC236}">
                <a16:creationId xmlns:a16="http://schemas.microsoft.com/office/drawing/2014/main" id="{07F89DA9-20EC-B191-F0C4-B05C8FD380C7}"/>
              </a:ext>
            </a:extLst>
          </p:cNvPr>
          <p:cNvSpPr txBox="1">
            <a:spLocks/>
          </p:cNvSpPr>
          <p:nvPr>
            <p:custDataLst>
              <p:tags r:id="rId3"/>
            </p:custDataLst>
          </p:nvPr>
        </p:nvSpPr>
        <p:spPr>
          <a:xfrm>
            <a:off x="5028404" y="1318036"/>
            <a:ext cx="4245597" cy="418166"/>
          </a:xfrm>
          <a:prstGeom prst="rect">
            <a:avLst/>
          </a:prstGeom>
        </p:spPr>
        <p:txBody>
          <a:bodyPr>
            <a:normAutofit/>
          </a:bodyPr>
          <a:lstStyle>
            <a:lvl1pPr marL="342900" indent="-342900" algn="l" defTabSz="457200" rtl="0" eaLnBrk="1" latinLnBrk="0" hangingPunct="1">
              <a:spcBef>
                <a:spcPts val="1000"/>
              </a:spcBef>
              <a:spcAft>
                <a:spcPts val="0"/>
              </a:spcAft>
              <a:buClr>
                <a:schemeClr val="accent1"/>
              </a:buClr>
              <a:buSzPct val="80000"/>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r>
              <a:rPr lang="en-US" b="1" noProof="1"/>
              <a:t>Scalability Challenges</a:t>
            </a:r>
          </a:p>
        </p:txBody>
      </p:sp>
      <p:sp>
        <p:nvSpPr>
          <p:cNvPr id="7" name="Content Placeholder 11">
            <a:extLst>
              <a:ext uri="{FF2B5EF4-FFF2-40B4-BE49-F238E27FC236}">
                <a16:creationId xmlns:a16="http://schemas.microsoft.com/office/drawing/2014/main" id="{E6042C64-453D-6196-1262-A1D1C0692332}"/>
              </a:ext>
            </a:extLst>
          </p:cNvPr>
          <p:cNvSpPr txBox="1">
            <a:spLocks/>
          </p:cNvSpPr>
          <p:nvPr>
            <p:custDataLst>
              <p:tags r:id="rId4"/>
            </p:custDataLst>
          </p:nvPr>
        </p:nvSpPr>
        <p:spPr>
          <a:xfrm>
            <a:off x="5028403" y="1837492"/>
            <a:ext cx="4245598" cy="1550512"/>
          </a:xfrm>
          <a:prstGeom prst="rect">
            <a:avLst/>
          </a:prstGeom>
        </p:spPr>
        <p:txBody>
          <a:bodyPr lIns="91440">
            <a:noAutofit/>
          </a:bodyPr>
          <a:lstStyle>
            <a:lvl1pPr marL="342900" indent="-342900" algn="l" defTabSz="457200" rtl="0" eaLnBrk="1" latinLnBrk="0" hangingPunct="1">
              <a:spcBef>
                <a:spcPts val="1000"/>
              </a:spcBef>
              <a:spcAft>
                <a:spcPts val="0"/>
              </a:spcAft>
              <a:buClr>
                <a:schemeClr val="accent1"/>
              </a:buClr>
              <a:buSzPct val="80000"/>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pPr marL="0" indent="0" algn="just">
              <a:buNone/>
            </a:pPr>
            <a:r>
              <a:rPr lang="en-US" sz="1600" dirty="0">
                <a:solidFill>
                  <a:schemeClr val="tx2"/>
                </a:solidFill>
              </a:rPr>
              <a:t>As scientific publishing has exploded, the peer review system hasn’t kept up. Most reviewers are simply burned out and falling behind on their deadlines for too long. As peer review is often an add-on from the authors, with no extra time for them to get proper attention to their research, and no time for them to check it out as well.</a:t>
            </a:r>
          </a:p>
        </p:txBody>
      </p:sp>
      <p:sp>
        <p:nvSpPr>
          <p:cNvPr id="8" name="Text Placeholder 33">
            <a:extLst>
              <a:ext uri="{FF2B5EF4-FFF2-40B4-BE49-F238E27FC236}">
                <a16:creationId xmlns:a16="http://schemas.microsoft.com/office/drawing/2014/main" id="{329DF8BC-1BC5-88FE-100D-9A0A1460FE49}"/>
              </a:ext>
            </a:extLst>
          </p:cNvPr>
          <p:cNvSpPr txBox="1">
            <a:spLocks/>
          </p:cNvSpPr>
          <p:nvPr>
            <p:custDataLst>
              <p:tags r:id="rId5"/>
            </p:custDataLst>
          </p:nvPr>
        </p:nvSpPr>
        <p:spPr>
          <a:xfrm>
            <a:off x="470782" y="4293138"/>
            <a:ext cx="4245597" cy="418166"/>
          </a:xfrm>
          <a:prstGeom prst="rect">
            <a:avLst/>
          </a:prstGeom>
        </p:spPr>
        <p:txBody>
          <a:bodyPr>
            <a:normAutofit/>
          </a:bodyPr>
          <a:lstStyle>
            <a:lvl1pPr marL="342900" indent="-342900" algn="l" defTabSz="457200" rtl="0" eaLnBrk="1" latinLnBrk="0" hangingPunct="1">
              <a:spcBef>
                <a:spcPts val="1000"/>
              </a:spcBef>
              <a:spcAft>
                <a:spcPts val="0"/>
              </a:spcAft>
              <a:buClr>
                <a:schemeClr val="accent1"/>
              </a:buClr>
              <a:buSzPct val="80000"/>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r>
              <a:rPr lang="en-US" b="1" noProof="1"/>
              <a:t>Bias and Subjectivity</a:t>
            </a:r>
          </a:p>
        </p:txBody>
      </p:sp>
      <p:sp>
        <p:nvSpPr>
          <p:cNvPr id="9" name="Content Placeholder 12">
            <a:extLst>
              <a:ext uri="{FF2B5EF4-FFF2-40B4-BE49-F238E27FC236}">
                <a16:creationId xmlns:a16="http://schemas.microsoft.com/office/drawing/2014/main" id="{DBA55E4C-1316-3250-833A-E99666BF3907}"/>
              </a:ext>
            </a:extLst>
          </p:cNvPr>
          <p:cNvSpPr txBox="1">
            <a:spLocks/>
          </p:cNvSpPr>
          <p:nvPr>
            <p:custDataLst>
              <p:tags r:id="rId6"/>
            </p:custDataLst>
          </p:nvPr>
        </p:nvSpPr>
        <p:spPr>
          <a:xfrm>
            <a:off x="470782" y="4806712"/>
            <a:ext cx="4245597" cy="1550512"/>
          </a:xfrm>
          <a:prstGeom prst="rect">
            <a:avLst/>
          </a:prstGeom>
        </p:spPr>
        <p:txBody>
          <a:bodyPr lIns="91440">
            <a:noAutofit/>
          </a:bodyPr>
          <a:lstStyle>
            <a:lvl1pPr marL="342900" indent="-342900" algn="l" defTabSz="457200" rtl="0" eaLnBrk="1" latinLnBrk="0" hangingPunct="1">
              <a:spcBef>
                <a:spcPts val="1000"/>
              </a:spcBef>
              <a:spcAft>
                <a:spcPts val="0"/>
              </a:spcAft>
              <a:buClr>
                <a:schemeClr val="accent1"/>
              </a:buClr>
              <a:buSzPct val="80000"/>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pPr marL="0" indent="0" algn="just">
              <a:buNone/>
            </a:pPr>
            <a:r>
              <a:rPr lang="en-US" sz="1600" dirty="0">
                <a:solidFill>
                  <a:schemeClr val="tx2"/>
                </a:solidFill>
              </a:rPr>
              <a:t>Despite anonymity, the reviewer's evaluation is affected by subjective factors such as language, perceived innovation, or the institute's status. Many of these factors influence the review process and can lead to bias.</a:t>
            </a:r>
          </a:p>
        </p:txBody>
      </p:sp>
      <p:sp>
        <p:nvSpPr>
          <p:cNvPr id="10" name="Text Placeholder 34">
            <a:extLst>
              <a:ext uri="{FF2B5EF4-FFF2-40B4-BE49-F238E27FC236}">
                <a16:creationId xmlns:a16="http://schemas.microsoft.com/office/drawing/2014/main" id="{E314800C-AF22-E4B8-5F7A-D93B76414416}"/>
              </a:ext>
            </a:extLst>
          </p:cNvPr>
          <p:cNvSpPr txBox="1">
            <a:spLocks/>
          </p:cNvSpPr>
          <p:nvPr>
            <p:custDataLst>
              <p:tags r:id="rId7"/>
            </p:custDataLst>
          </p:nvPr>
        </p:nvSpPr>
        <p:spPr>
          <a:xfrm>
            <a:off x="5146272" y="4197730"/>
            <a:ext cx="4245597" cy="418166"/>
          </a:xfrm>
          <a:prstGeom prst="rect">
            <a:avLst/>
          </a:prstGeom>
        </p:spPr>
        <p:txBody>
          <a:bodyPr>
            <a:normAutofit/>
          </a:bodyPr>
          <a:lstStyle>
            <a:lvl1pPr marL="342900" indent="-342900" algn="l" defTabSz="457200" rtl="0" eaLnBrk="1" latinLnBrk="0" hangingPunct="1">
              <a:spcBef>
                <a:spcPts val="1000"/>
              </a:spcBef>
              <a:spcAft>
                <a:spcPts val="0"/>
              </a:spcAft>
              <a:buClr>
                <a:schemeClr val="accent1"/>
              </a:buClr>
              <a:buSzPct val="80000"/>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r>
              <a:rPr lang="en-US" b="1" noProof="1"/>
              <a:t>Inconsistency in Evaluations</a:t>
            </a:r>
          </a:p>
        </p:txBody>
      </p:sp>
      <p:sp>
        <p:nvSpPr>
          <p:cNvPr id="11" name="Content Placeholder 13">
            <a:extLst>
              <a:ext uri="{FF2B5EF4-FFF2-40B4-BE49-F238E27FC236}">
                <a16:creationId xmlns:a16="http://schemas.microsoft.com/office/drawing/2014/main" id="{3655E905-D1AC-B620-4A02-CB7BD3DAE4D6}"/>
              </a:ext>
            </a:extLst>
          </p:cNvPr>
          <p:cNvSpPr txBox="1">
            <a:spLocks/>
          </p:cNvSpPr>
          <p:nvPr>
            <p:custDataLst>
              <p:tags r:id="rId8"/>
            </p:custDataLst>
          </p:nvPr>
        </p:nvSpPr>
        <p:spPr>
          <a:xfrm>
            <a:off x="5146272" y="4711304"/>
            <a:ext cx="4245598" cy="1550512"/>
          </a:xfrm>
          <a:prstGeom prst="rect">
            <a:avLst/>
          </a:prstGeom>
        </p:spPr>
        <p:txBody>
          <a:bodyPr lIns="91440">
            <a:noAutofit/>
          </a:bodyPr>
          <a:lstStyle>
            <a:lvl1pPr marL="342900" indent="-342900" algn="l" defTabSz="457200" rtl="0" eaLnBrk="1" latinLnBrk="0" hangingPunct="1">
              <a:spcBef>
                <a:spcPts val="1000"/>
              </a:spcBef>
              <a:spcAft>
                <a:spcPts val="0"/>
              </a:spcAft>
              <a:buClr>
                <a:schemeClr val="accent1"/>
              </a:buClr>
              <a:buSzPct val="80000"/>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pPr marL="0" indent="0" algn="just">
              <a:buNone/>
            </a:pPr>
            <a:r>
              <a:rPr lang="en-US" sz="1600" dirty="0">
                <a:solidFill>
                  <a:schemeClr val="tx2"/>
                </a:solidFill>
              </a:rPr>
              <a:t>Such low inter-reviewer reliability suggests that the validity and reliability of the evaluation criteria may be subjective rather than objective. This is undermining the independence and authority of a peer review system.</a:t>
            </a:r>
          </a:p>
        </p:txBody>
      </p:sp>
    </p:spTree>
    <p:extLst>
      <p:ext uri="{BB962C8B-B14F-4D97-AF65-F5344CB8AC3E}">
        <p14:creationId xmlns:p14="http://schemas.microsoft.com/office/powerpoint/2010/main" val="270303918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909D4E0-4835-2E82-3000-74E5C71776B9}"/>
              </a:ext>
            </a:extLst>
          </p:cNvPr>
          <p:cNvSpPr>
            <a:spLocks noGrp="1"/>
          </p:cNvSpPr>
          <p:nvPr>
            <p:ph type="title"/>
          </p:nvPr>
        </p:nvSpPr>
        <p:spPr/>
        <p:txBody>
          <a:bodyPr/>
          <a:lstStyle/>
          <a:p>
            <a:r>
              <a:rPr lang="en-US" dirty="0"/>
              <a:t>Limitations of Peer Review Systems</a:t>
            </a:r>
          </a:p>
        </p:txBody>
      </p:sp>
      <p:sp>
        <p:nvSpPr>
          <p:cNvPr id="8" name="Rectangle 7">
            <a:extLst>
              <a:ext uri="{FF2B5EF4-FFF2-40B4-BE49-F238E27FC236}">
                <a16:creationId xmlns:a16="http://schemas.microsoft.com/office/drawing/2014/main" id="{510FF8C0-43E2-844D-DAB2-D7E2B429A142}"/>
              </a:ext>
            </a:extLst>
          </p:cNvPr>
          <p:cNvSpPr/>
          <p:nvPr/>
        </p:nvSpPr>
        <p:spPr>
          <a:xfrm>
            <a:off x="1363578" y="1315453"/>
            <a:ext cx="8390020" cy="1906336"/>
          </a:xfrm>
          <a:prstGeom prst="rect">
            <a:avLst/>
          </a:prstGeom>
        </p:spPr>
        <p:style>
          <a:lnRef idx="2">
            <a:schemeClr val="accent2"/>
          </a:lnRef>
          <a:fillRef idx="1">
            <a:schemeClr val="lt1"/>
          </a:fillRef>
          <a:effectRef idx="0">
            <a:schemeClr val="accent2"/>
          </a:effectRef>
          <a:fontRef idx="minor">
            <a:schemeClr val="dk1"/>
          </a:fontRef>
        </p:style>
        <p:txBody>
          <a:bodyPr rtlCol="0" anchor="ctr"/>
          <a:lstStyle/>
          <a:p>
            <a:pPr algn="just"/>
            <a:r>
              <a:rPr lang="en-US" b="1" dirty="0"/>
              <a:t>Reviewer Fatigue</a:t>
            </a:r>
            <a:endParaRPr lang="en-US" dirty="0"/>
          </a:p>
          <a:p>
            <a:pPr algn="just"/>
            <a:r>
              <a:rPr lang="en-US" dirty="0"/>
              <a:t>The exponential increase in manuscript submissions has resulted in many reviewers facing mental and time constraints in their review process, leading to much longer evaluation times, much less investigation time, and therefore a lower-quality peer-review process.</a:t>
            </a:r>
          </a:p>
          <a:p>
            <a:pPr algn="just"/>
            <a:endParaRPr lang="en-US" dirty="0"/>
          </a:p>
        </p:txBody>
      </p:sp>
      <p:sp>
        <p:nvSpPr>
          <p:cNvPr id="9" name="Rectangle 8">
            <a:extLst>
              <a:ext uri="{FF2B5EF4-FFF2-40B4-BE49-F238E27FC236}">
                <a16:creationId xmlns:a16="http://schemas.microsoft.com/office/drawing/2014/main" id="{009CDDAD-A662-9B43-F583-3C5A770314CE}"/>
              </a:ext>
            </a:extLst>
          </p:cNvPr>
          <p:cNvSpPr/>
          <p:nvPr/>
        </p:nvSpPr>
        <p:spPr>
          <a:xfrm>
            <a:off x="1363578" y="3371516"/>
            <a:ext cx="8390020" cy="1406357"/>
          </a:xfrm>
          <a:prstGeom prst="rect">
            <a:avLst/>
          </a:prstGeom>
        </p:spPr>
        <p:style>
          <a:lnRef idx="2">
            <a:schemeClr val="accent2"/>
          </a:lnRef>
          <a:fillRef idx="1">
            <a:schemeClr val="lt1"/>
          </a:fillRef>
          <a:effectRef idx="0">
            <a:schemeClr val="accent2"/>
          </a:effectRef>
          <a:fontRef idx="minor">
            <a:schemeClr val="dk1"/>
          </a:fontRef>
        </p:style>
        <p:txBody>
          <a:bodyPr rtlCol="0" anchor="ctr"/>
          <a:lstStyle/>
          <a:p>
            <a:pPr algn="just"/>
            <a:endParaRPr lang="en-US" b="1" dirty="0"/>
          </a:p>
          <a:p>
            <a:pPr algn="just"/>
            <a:r>
              <a:rPr lang="en-US" b="1" dirty="0"/>
              <a:t>Inconsistency in Evaluation</a:t>
            </a:r>
            <a:endParaRPr lang="en-US" dirty="0"/>
          </a:p>
          <a:p>
            <a:pPr algn="just"/>
            <a:r>
              <a:rPr lang="en-US" dirty="0"/>
              <a:t>Variability in reviewer skill levels and subjective interpretation in the analysis can lead to different review scores and feedback for similar papers, resulting in inconsistencies and limited reliability across peer-review scores</a:t>
            </a:r>
          </a:p>
          <a:p>
            <a:pPr algn="just"/>
            <a:endParaRPr lang="en-US" dirty="0"/>
          </a:p>
        </p:txBody>
      </p:sp>
      <p:sp>
        <p:nvSpPr>
          <p:cNvPr id="10" name="Rectangle 9">
            <a:extLst>
              <a:ext uri="{FF2B5EF4-FFF2-40B4-BE49-F238E27FC236}">
                <a16:creationId xmlns:a16="http://schemas.microsoft.com/office/drawing/2014/main" id="{066CA485-85F9-6FA8-18D2-A26E87107179}"/>
              </a:ext>
            </a:extLst>
          </p:cNvPr>
          <p:cNvSpPr/>
          <p:nvPr/>
        </p:nvSpPr>
        <p:spPr>
          <a:xfrm>
            <a:off x="1363578" y="4927601"/>
            <a:ext cx="8390021" cy="1617578"/>
          </a:xfrm>
          <a:prstGeom prst="rect">
            <a:avLst/>
          </a:prstGeom>
        </p:spPr>
        <p:style>
          <a:lnRef idx="2">
            <a:schemeClr val="accent2"/>
          </a:lnRef>
          <a:fillRef idx="1">
            <a:schemeClr val="lt1"/>
          </a:fillRef>
          <a:effectRef idx="0">
            <a:schemeClr val="accent2"/>
          </a:effectRef>
          <a:fontRef idx="minor">
            <a:schemeClr val="dk1"/>
          </a:fontRef>
        </p:style>
        <p:txBody>
          <a:bodyPr rtlCol="0" anchor="ctr"/>
          <a:lstStyle/>
          <a:p>
            <a:r>
              <a:rPr lang="en-US" b="1" dirty="0"/>
              <a:t>Subjectivity and Bias</a:t>
            </a:r>
            <a:br>
              <a:rPr lang="en-US" b="1" dirty="0"/>
            </a:br>
            <a:r>
              <a:rPr lang="en-US" dirty="0"/>
              <a:t>Writing style, perceived novelty, and institutional affiliation are two aspects of reviewers that can bias them (resulting in biased decisions) in the peer-review process.</a:t>
            </a:r>
          </a:p>
          <a:p>
            <a:pPr algn="ctr"/>
            <a:endParaRPr lang="en-US" dirty="0"/>
          </a:p>
        </p:txBody>
      </p:sp>
    </p:spTree>
    <p:extLst>
      <p:ext uri="{BB962C8B-B14F-4D97-AF65-F5344CB8AC3E}">
        <p14:creationId xmlns:p14="http://schemas.microsoft.com/office/powerpoint/2010/main" val="271886631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B2ED91A-2027-B402-556B-FF00F0AE2AEC}"/>
              </a:ext>
            </a:extLst>
          </p:cNvPr>
          <p:cNvSpPr>
            <a:spLocks noGrp="1"/>
          </p:cNvSpPr>
          <p:nvPr>
            <p:ph type="title"/>
          </p:nvPr>
        </p:nvSpPr>
        <p:spPr>
          <a:xfrm>
            <a:off x="934008" y="1213853"/>
            <a:ext cx="8596668" cy="1320800"/>
          </a:xfrm>
        </p:spPr>
        <p:txBody>
          <a:bodyPr/>
          <a:lstStyle/>
          <a:p>
            <a:r>
              <a:rPr lang="en-US" dirty="0"/>
              <a:t>Research problem	</a:t>
            </a:r>
          </a:p>
        </p:txBody>
      </p:sp>
      <p:sp>
        <p:nvSpPr>
          <p:cNvPr id="3" name="Content Placeholder 2">
            <a:extLst>
              <a:ext uri="{FF2B5EF4-FFF2-40B4-BE49-F238E27FC236}">
                <a16:creationId xmlns:a16="http://schemas.microsoft.com/office/drawing/2014/main" id="{096C87CE-7D65-49C5-09A6-2D86B3C09603}"/>
              </a:ext>
            </a:extLst>
          </p:cNvPr>
          <p:cNvSpPr>
            <a:spLocks noGrp="1"/>
          </p:cNvSpPr>
          <p:nvPr>
            <p:ph idx="1"/>
          </p:nvPr>
        </p:nvSpPr>
        <p:spPr>
          <a:xfrm>
            <a:off x="677334" y="2534653"/>
            <a:ext cx="9365024" cy="3506710"/>
          </a:xfrm>
        </p:spPr>
        <p:txBody>
          <a:bodyPr>
            <a:normAutofit/>
          </a:bodyPr>
          <a:lstStyle/>
          <a:p>
            <a:r>
              <a:rPr lang="en-US" sz="2000" dirty="0"/>
              <a:t>The current peer-review system is constrained by limited scalability, inherent subjectivity, and a lack of standardized evaluation protocols, leading to inconsistent, biased, and non-reproducible assessment outcomes, thereby impeding the fairness, reliability, and efficiency of scientific manuscript evaluation.</a:t>
            </a:r>
          </a:p>
        </p:txBody>
      </p:sp>
    </p:spTree>
    <p:extLst>
      <p:ext uri="{BB962C8B-B14F-4D97-AF65-F5344CB8AC3E}">
        <p14:creationId xmlns:p14="http://schemas.microsoft.com/office/powerpoint/2010/main" val="240383024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D41ED09-F336-8D4C-9892-C4F32079266C}"/>
              </a:ext>
            </a:extLst>
          </p:cNvPr>
          <p:cNvSpPr>
            <a:spLocks noGrp="1"/>
          </p:cNvSpPr>
          <p:nvPr>
            <p:ph type="title"/>
          </p:nvPr>
        </p:nvSpPr>
        <p:spPr/>
        <p:txBody>
          <a:bodyPr/>
          <a:lstStyle/>
          <a:p>
            <a:r>
              <a:rPr lang="en-US" noProof="1"/>
              <a:t>Role of AI in Scientific Evaluation</a:t>
            </a:r>
            <a:endParaRPr lang="en-US" dirty="0"/>
          </a:p>
        </p:txBody>
      </p:sp>
      <p:pic>
        <p:nvPicPr>
          <p:cNvPr id="7" name="Google Shape;869;p100">
            <a:extLst>
              <a:ext uri="{FF2B5EF4-FFF2-40B4-BE49-F238E27FC236}">
                <a16:creationId xmlns:a16="http://schemas.microsoft.com/office/drawing/2014/main" id="{0FC05AD1-7864-D4B3-952C-3993CBE320B4}"/>
              </a:ext>
            </a:extLst>
          </p:cNvPr>
          <p:cNvPicPr preferRelativeResize="0"/>
          <p:nvPr>
            <p:custDataLst>
              <p:tags r:id="rId1"/>
            </p:custDataLst>
          </p:nvPr>
        </p:nvPicPr>
        <p:blipFill rotWithShape="1">
          <a:blip r:embed="rId8" cstate="screen">
            <a:alphaModFix amt="50000"/>
            <a:extLst>
              <a:ext uri="{28A0092B-C50C-407E-A947-70E740481C1C}">
                <a14:useLocalDpi xmlns:a14="http://schemas.microsoft.com/office/drawing/2010/main"/>
              </a:ext>
            </a:extLst>
          </a:blip>
          <a:srcRect/>
          <a:stretch/>
        </p:blipFill>
        <p:spPr>
          <a:xfrm>
            <a:off x="517313" y="3429000"/>
            <a:ext cx="822960" cy="822960"/>
          </a:xfrm>
          <a:prstGeom prst="ellipse">
            <a:avLst/>
          </a:prstGeom>
          <a:noFill/>
          <a:ln>
            <a:noFill/>
          </a:ln>
        </p:spPr>
      </p:pic>
      <p:pic>
        <p:nvPicPr>
          <p:cNvPr id="8" name="Google Shape;873;p100">
            <a:extLst>
              <a:ext uri="{FF2B5EF4-FFF2-40B4-BE49-F238E27FC236}">
                <a16:creationId xmlns:a16="http://schemas.microsoft.com/office/drawing/2014/main" id="{13F906A8-0142-8A9D-3255-37A825722B48}"/>
              </a:ext>
            </a:extLst>
          </p:cNvPr>
          <p:cNvPicPr preferRelativeResize="0"/>
          <p:nvPr>
            <p:custDataLst>
              <p:tags r:id="rId2"/>
            </p:custDataLst>
          </p:nvPr>
        </p:nvPicPr>
        <p:blipFill rotWithShape="1">
          <a:blip r:embed="rId9" cstate="screen">
            <a:alphaModFix amt="65000"/>
            <a:extLst>
              <a:ext uri="{28A0092B-C50C-407E-A947-70E740481C1C}">
                <a14:useLocalDpi xmlns:a14="http://schemas.microsoft.com/office/drawing/2010/main"/>
              </a:ext>
            </a:extLst>
          </a:blip>
          <a:srcRect/>
          <a:stretch/>
        </p:blipFill>
        <p:spPr>
          <a:xfrm>
            <a:off x="517313" y="4927601"/>
            <a:ext cx="822960" cy="822960"/>
          </a:xfrm>
          <a:prstGeom prst="ellipse">
            <a:avLst/>
          </a:prstGeom>
          <a:noFill/>
          <a:ln>
            <a:noFill/>
          </a:ln>
        </p:spPr>
      </p:pic>
      <p:pic>
        <p:nvPicPr>
          <p:cNvPr id="9" name="Google Shape;874;p100">
            <a:extLst>
              <a:ext uri="{FF2B5EF4-FFF2-40B4-BE49-F238E27FC236}">
                <a16:creationId xmlns:a16="http://schemas.microsoft.com/office/drawing/2014/main" id="{A673F088-6F66-D655-2952-0D1A6628D7A2}"/>
              </a:ext>
            </a:extLst>
          </p:cNvPr>
          <p:cNvPicPr preferRelativeResize="0"/>
          <p:nvPr>
            <p:custDataLst>
              <p:tags r:id="rId3"/>
            </p:custDataLst>
          </p:nvPr>
        </p:nvPicPr>
        <p:blipFill rotWithShape="1">
          <a:blip r:embed="rId10" cstate="screen">
            <a:alphaModFix amt="87000"/>
            <a:extLst>
              <a:ext uri="{28A0092B-C50C-407E-A947-70E740481C1C}">
                <a14:useLocalDpi xmlns:a14="http://schemas.microsoft.com/office/drawing/2010/main"/>
              </a:ext>
            </a:extLst>
          </a:blip>
          <a:srcRect/>
          <a:stretch/>
        </p:blipFill>
        <p:spPr>
          <a:xfrm>
            <a:off x="517313" y="1930399"/>
            <a:ext cx="822960" cy="822960"/>
          </a:xfrm>
          <a:prstGeom prst="ellipse">
            <a:avLst/>
          </a:prstGeom>
          <a:noFill/>
          <a:ln>
            <a:noFill/>
          </a:ln>
        </p:spPr>
      </p:pic>
      <p:pic>
        <p:nvPicPr>
          <p:cNvPr id="10" name="Graphic 9">
            <a:extLst>
              <a:ext uri="{FF2B5EF4-FFF2-40B4-BE49-F238E27FC236}">
                <a16:creationId xmlns:a16="http://schemas.microsoft.com/office/drawing/2014/main" id="{CBEC14A6-F4DE-17FE-C4E4-F5A8AAA122F2}"/>
              </a:ext>
            </a:extLst>
          </p:cNvPr>
          <p:cNvPicPr>
            <a:picLocks noChangeAspect="1"/>
          </p:cNvPicPr>
          <p:nvPr>
            <p:custDataLst>
              <p:tags r:id="rId4"/>
            </p:custDataLst>
          </p:nvPr>
        </p:nvPicPr>
        <p:blipFill>
          <a:blip>
            <a:extLst>
              <a:ext uri="{96DAC541-7B7A-43D3-8B79-37D633B846F1}">
                <asvg:svgBlip xmlns:asvg="http://schemas.microsoft.com/office/drawing/2016/SVG/main" r:embed="rId11"/>
              </a:ext>
            </a:extLst>
          </a:blip>
          <a:stretch>
            <a:fillRect/>
          </a:stretch>
        </p:blipFill>
        <p:spPr>
          <a:xfrm>
            <a:off x="768774" y="2181859"/>
            <a:ext cx="320040" cy="320040"/>
          </a:xfrm>
          <a:prstGeom prst="rect">
            <a:avLst/>
          </a:prstGeom>
        </p:spPr>
      </p:pic>
      <p:pic>
        <p:nvPicPr>
          <p:cNvPr id="11" name="Graphic 10">
            <a:extLst>
              <a:ext uri="{FF2B5EF4-FFF2-40B4-BE49-F238E27FC236}">
                <a16:creationId xmlns:a16="http://schemas.microsoft.com/office/drawing/2014/main" id="{6E668A74-DE24-B08F-5745-35914C7A6656}"/>
              </a:ext>
            </a:extLst>
          </p:cNvPr>
          <p:cNvPicPr>
            <a:picLocks noChangeAspect="1"/>
          </p:cNvPicPr>
          <p:nvPr>
            <p:custDataLst>
              <p:tags r:id="rId5"/>
            </p:custDataLst>
          </p:nvPr>
        </p:nvPicPr>
        <p:blipFill>
          <a:blip>
            <a:extLst>
              <a:ext uri="{96DAC541-7B7A-43D3-8B79-37D633B846F1}">
                <asvg:svgBlip xmlns:asvg="http://schemas.microsoft.com/office/drawing/2016/SVG/main" r:embed="rId12"/>
              </a:ext>
            </a:extLst>
          </a:blip>
          <a:stretch>
            <a:fillRect/>
          </a:stretch>
        </p:blipFill>
        <p:spPr>
          <a:xfrm>
            <a:off x="768772" y="3680460"/>
            <a:ext cx="320040" cy="320040"/>
          </a:xfrm>
          <a:prstGeom prst="rect">
            <a:avLst/>
          </a:prstGeom>
        </p:spPr>
      </p:pic>
      <p:pic>
        <p:nvPicPr>
          <p:cNvPr id="12" name="Graphic 11">
            <a:extLst>
              <a:ext uri="{FF2B5EF4-FFF2-40B4-BE49-F238E27FC236}">
                <a16:creationId xmlns:a16="http://schemas.microsoft.com/office/drawing/2014/main" id="{5255E53C-9748-A0FF-D784-6291A68B688F}"/>
              </a:ext>
            </a:extLst>
          </p:cNvPr>
          <p:cNvPicPr>
            <a:picLocks noChangeAspect="1"/>
          </p:cNvPicPr>
          <p:nvPr>
            <p:custDataLst>
              <p:tags r:id="rId6"/>
            </p:custDataLst>
          </p:nvPr>
        </p:nvPicPr>
        <p:blipFill>
          <a:blip>
            <a:extLst>
              <a:ext uri="{96DAC541-7B7A-43D3-8B79-37D633B846F1}">
                <asvg:svgBlip xmlns:asvg="http://schemas.microsoft.com/office/drawing/2016/SVG/main" r:embed="rId13"/>
              </a:ext>
            </a:extLst>
          </a:blip>
          <a:stretch>
            <a:fillRect/>
          </a:stretch>
        </p:blipFill>
        <p:spPr>
          <a:xfrm>
            <a:off x="768773" y="5179061"/>
            <a:ext cx="320040" cy="320040"/>
          </a:xfrm>
          <a:prstGeom prst="rect">
            <a:avLst/>
          </a:prstGeom>
        </p:spPr>
      </p:pic>
      <p:sp>
        <p:nvSpPr>
          <p:cNvPr id="13" name="Rectangle 12">
            <a:extLst>
              <a:ext uri="{FF2B5EF4-FFF2-40B4-BE49-F238E27FC236}">
                <a16:creationId xmlns:a16="http://schemas.microsoft.com/office/drawing/2014/main" id="{9887EF4F-29A6-B2BF-5C21-89302D9995D4}"/>
              </a:ext>
            </a:extLst>
          </p:cNvPr>
          <p:cNvSpPr/>
          <p:nvPr/>
        </p:nvSpPr>
        <p:spPr>
          <a:xfrm>
            <a:off x="1524001" y="1411705"/>
            <a:ext cx="8596668" cy="1507958"/>
          </a:xfrm>
          <a:prstGeom prst="rect">
            <a:avLst/>
          </a:prstGeom>
        </p:spPr>
        <p:style>
          <a:lnRef idx="2">
            <a:schemeClr val="accent2"/>
          </a:lnRef>
          <a:fillRef idx="1">
            <a:schemeClr val="lt1"/>
          </a:fillRef>
          <a:effectRef idx="0">
            <a:schemeClr val="accent2"/>
          </a:effectRef>
          <a:fontRef idx="minor">
            <a:schemeClr val="dk1"/>
          </a:fontRef>
        </p:style>
        <p:txBody>
          <a:bodyPr rtlCol="0" anchor="ctr"/>
          <a:lstStyle/>
          <a:p>
            <a:endParaRPr lang="en-US" sz="1600" b="1" dirty="0"/>
          </a:p>
          <a:p>
            <a:r>
              <a:rPr lang="en-US" sz="1600" b="1" dirty="0"/>
              <a:t>Introduction to LLMs</a:t>
            </a:r>
            <a:br>
              <a:rPr lang="en-US" sz="1600" b="1" dirty="0"/>
            </a:br>
            <a:r>
              <a:rPr lang="en-US" sz="1600" dirty="0"/>
              <a:t>Large language models (LLMs) like GPT and </a:t>
            </a:r>
            <a:r>
              <a:rPr lang="en-US" sz="1600" dirty="0" err="1"/>
              <a:t>LLaMA</a:t>
            </a:r>
            <a:r>
              <a:rPr lang="en-US" sz="1600" dirty="0"/>
              <a:t> are deep neural models, trained on high-level scientific corpora so that they perform semantic comprehension, contextual summarization and reasoning over challenging research.</a:t>
            </a:r>
          </a:p>
          <a:p>
            <a:pPr algn="just"/>
            <a:endParaRPr lang="en-US" sz="1600" dirty="0"/>
          </a:p>
        </p:txBody>
      </p:sp>
      <p:sp>
        <p:nvSpPr>
          <p:cNvPr id="14" name="Rectangle 13">
            <a:extLst>
              <a:ext uri="{FF2B5EF4-FFF2-40B4-BE49-F238E27FC236}">
                <a16:creationId xmlns:a16="http://schemas.microsoft.com/office/drawing/2014/main" id="{F0C06277-DAF0-DDCB-F2E6-B398B1A62E17}"/>
              </a:ext>
            </a:extLst>
          </p:cNvPr>
          <p:cNvSpPr/>
          <p:nvPr/>
        </p:nvSpPr>
        <p:spPr>
          <a:xfrm>
            <a:off x="1523999" y="3096126"/>
            <a:ext cx="8596669" cy="1650733"/>
          </a:xfrm>
          <a:prstGeom prst="rect">
            <a:avLst/>
          </a:prstGeom>
        </p:spPr>
        <p:style>
          <a:lnRef idx="2">
            <a:schemeClr val="accent2"/>
          </a:lnRef>
          <a:fillRef idx="1">
            <a:schemeClr val="lt1"/>
          </a:fillRef>
          <a:effectRef idx="0">
            <a:schemeClr val="accent2"/>
          </a:effectRef>
          <a:fontRef idx="minor">
            <a:schemeClr val="dk1"/>
          </a:fontRef>
        </p:style>
        <p:txBody>
          <a:bodyPr rtlCol="0" anchor="ctr"/>
          <a:lstStyle/>
          <a:p>
            <a:endParaRPr lang="en-US" sz="1600" b="1" dirty="0"/>
          </a:p>
          <a:p>
            <a:r>
              <a:rPr lang="en-US" sz="1600" b="1" dirty="0"/>
              <a:t>Applications in Scientific Analysis</a:t>
            </a:r>
            <a:br>
              <a:rPr lang="en-US" sz="1600" dirty="0"/>
            </a:br>
            <a:r>
              <a:rPr lang="en-US" sz="1600" dirty="0"/>
              <a:t>Large Language Models (LLMs) empower automated literature analysis: the study of literature can not only extract key insights but discover its methodological limitations and construct structured evaluations and thereby reduce reviewers’ workload and enhance the quality of their assessment to better demonstrate the reliability of its insights as well.</a:t>
            </a:r>
          </a:p>
          <a:p>
            <a:pPr algn="just"/>
            <a:endParaRPr lang="en-US" sz="1600" dirty="0"/>
          </a:p>
        </p:txBody>
      </p:sp>
      <p:sp>
        <p:nvSpPr>
          <p:cNvPr id="15" name="Rectangle 14">
            <a:extLst>
              <a:ext uri="{FF2B5EF4-FFF2-40B4-BE49-F238E27FC236}">
                <a16:creationId xmlns:a16="http://schemas.microsoft.com/office/drawing/2014/main" id="{6395A76D-2EF0-C6B2-DD3A-F5AD851B1273}"/>
              </a:ext>
            </a:extLst>
          </p:cNvPr>
          <p:cNvSpPr/>
          <p:nvPr/>
        </p:nvSpPr>
        <p:spPr>
          <a:xfrm>
            <a:off x="1523998" y="5045242"/>
            <a:ext cx="8596669" cy="1203158"/>
          </a:xfrm>
          <a:prstGeom prst="rect">
            <a:avLst/>
          </a:prstGeom>
        </p:spPr>
        <p:style>
          <a:lnRef idx="2">
            <a:schemeClr val="accent2"/>
          </a:lnRef>
          <a:fillRef idx="1">
            <a:schemeClr val="lt1"/>
          </a:fillRef>
          <a:effectRef idx="0">
            <a:schemeClr val="accent2"/>
          </a:effectRef>
          <a:fontRef idx="minor">
            <a:schemeClr val="dk1"/>
          </a:fontRef>
        </p:style>
        <p:txBody>
          <a:bodyPr rtlCol="0" anchor="ctr"/>
          <a:lstStyle/>
          <a:p>
            <a:endParaRPr lang="en-US" sz="1600" b="1" dirty="0"/>
          </a:p>
          <a:p>
            <a:r>
              <a:rPr lang="en-US" sz="1600" b="1" dirty="0"/>
              <a:t>Enhancing Peer Review</a:t>
            </a:r>
            <a:br>
              <a:rPr lang="en-US" sz="1600" dirty="0"/>
            </a:br>
            <a:r>
              <a:rPr lang="en-US" sz="1600" dirty="0"/>
              <a:t>With the help of such experts as expert reviewers, LLMs are able to generate rapid, standardized feedback with both quantitative and qualitative evaluations, which facilitates the way data is processed and peer-review is robust.</a:t>
            </a:r>
          </a:p>
          <a:p>
            <a:pPr algn="just"/>
            <a:endParaRPr lang="en-US" sz="1600" dirty="0"/>
          </a:p>
        </p:txBody>
      </p:sp>
    </p:spTree>
    <p:extLst>
      <p:ext uri="{BB962C8B-B14F-4D97-AF65-F5344CB8AC3E}">
        <p14:creationId xmlns:p14="http://schemas.microsoft.com/office/powerpoint/2010/main" val="145762507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AA18859-BFF6-218A-BEDB-5BFEA0D0F48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F0C9AD3-883B-54D7-57BE-1908FBC248E7}"/>
              </a:ext>
            </a:extLst>
          </p:cNvPr>
          <p:cNvSpPr>
            <a:spLocks noGrp="1"/>
          </p:cNvSpPr>
          <p:nvPr>
            <p:ph type="title"/>
          </p:nvPr>
        </p:nvSpPr>
        <p:spPr>
          <a:xfrm>
            <a:off x="0" y="312821"/>
            <a:ext cx="10504714" cy="1320800"/>
          </a:xfrm>
        </p:spPr>
        <p:txBody>
          <a:bodyPr/>
          <a:lstStyle/>
          <a:p>
            <a:r>
              <a:rPr lang="en-US" dirty="0"/>
              <a:t>Challenges in Traditional LLM Peer Review Systems</a:t>
            </a:r>
          </a:p>
        </p:txBody>
      </p:sp>
      <p:sp>
        <p:nvSpPr>
          <p:cNvPr id="8" name="Rectangle 7">
            <a:extLst>
              <a:ext uri="{FF2B5EF4-FFF2-40B4-BE49-F238E27FC236}">
                <a16:creationId xmlns:a16="http://schemas.microsoft.com/office/drawing/2014/main" id="{B5DBBF8E-1DA6-750D-1F44-F7665967D9E1}"/>
              </a:ext>
            </a:extLst>
          </p:cNvPr>
          <p:cNvSpPr/>
          <p:nvPr/>
        </p:nvSpPr>
        <p:spPr>
          <a:xfrm>
            <a:off x="802104" y="1604211"/>
            <a:ext cx="8758992" cy="1617578"/>
          </a:xfrm>
          <a:prstGeom prst="rect">
            <a:avLst/>
          </a:prstGeom>
        </p:spPr>
        <p:style>
          <a:lnRef idx="2">
            <a:schemeClr val="accent2"/>
          </a:lnRef>
          <a:fillRef idx="1">
            <a:schemeClr val="lt1"/>
          </a:fillRef>
          <a:effectRef idx="0">
            <a:schemeClr val="accent2"/>
          </a:effectRef>
          <a:fontRef idx="minor">
            <a:schemeClr val="dk1"/>
          </a:fontRef>
        </p:style>
        <p:txBody>
          <a:bodyPr rtlCol="0" anchor="ctr"/>
          <a:lstStyle/>
          <a:p>
            <a:r>
              <a:rPr lang="en-US" b="1" dirty="0"/>
              <a:t>Lack of Structural Decomposition</a:t>
            </a:r>
            <a:br>
              <a:rPr lang="en-US" dirty="0"/>
            </a:br>
            <a:r>
              <a:rPr lang="en-US" dirty="0"/>
              <a:t>In single-agent models, all aspects of a manuscript are evaluated under one’s own evaluation simultaneously, and shallow and general assessments are made. Without the need for task decomposition to form special parts, analysis and understanding of a manuscript are much less simple, interpretable, and thorough.</a:t>
            </a:r>
          </a:p>
        </p:txBody>
      </p:sp>
      <p:sp>
        <p:nvSpPr>
          <p:cNvPr id="9" name="Rectangle 8">
            <a:extLst>
              <a:ext uri="{FF2B5EF4-FFF2-40B4-BE49-F238E27FC236}">
                <a16:creationId xmlns:a16="http://schemas.microsoft.com/office/drawing/2014/main" id="{4296B577-1DED-B649-AD5D-288612A545DE}"/>
              </a:ext>
            </a:extLst>
          </p:cNvPr>
          <p:cNvSpPr/>
          <p:nvPr/>
        </p:nvSpPr>
        <p:spPr>
          <a:xfrm>
            <a:off x="802104" y="3371516"/>
            <a:ext cx="8758991" cy="1406357"/>
          </a:xfrm>
          <a:prstGeom prst="rect">
            <a:avLst/>
          </a:prstGeom>
        </p:spPr>
        <p:style>
          <a:lnRef idx="2">
            <a:schemeClr val="accent2"/>
          </a:lnRef>
          <a:fillRef idx="1">
            <a:schemeClr val="lt1"/>
          </a:fillRef>
          <a:effectRef idx="0">
            <a:schemeClr val="accent2"/>
          </a:effectRef>
          <a:fontRef idx="minor">
            <a:schemeClr val="dk1"/>
          </a:fontRef>
        </p:style>
        <p:txBody>
          <a:bodyPr rtlCol="0" anchor="ctr"/>
          <a:lstStyle/>
          <a:p>
            <a:r>
              <a:rPr lang="en-US" b="1" dirty="0"/>
              <a:t>Hallucination and Limited Context</a:t>
            </a:r>
            <a:br>
              <a:rPr lang="en-US" dirty="0"/>
            </a:br>
            <a:r>
              <a:rPr lang="en-US" dirty="0"/>
              <a:t>Such models may produce plausible but factually incorrect outputs due to poor domain grounding and inadequate integration of external knowledge, resulting in low assessment accuracy.</a:t>
            </a:r>
          </a:p>
        </p:txBody>
      </p:sp>
      <p:sp>
        <p:nvSpPr>
          <p:cNvPr id="10" name="Rectangle 9">
            <a:extLst>
              <a:ext uri="{FF2B5EF4-FFF2-40B4-BE49-F238E27FC236}">
                <a16:creationId xmlns:a16="http://schemas.microsoft.com/office/drawing/2014/main" id="{34BFC2B7-87DE-C775-06E2-86F5177E5D68}"/>
              </a:ext>
            </a:extLst>
          </p:cNvPr>
          <p:cNvSpPr/>
          <p:nvPr/>
        </p:nvSpPr>
        <p:spPr>
          <a:xfrm>
            <a:off x="802104" y="4927601"/>
            <a:ext cx="8758992" cy="1617578"/>
          </a:xfrm>
          <a:prstGeom prst="rect">
            <a:avLst/>
          </a:prstGeom>
        </p:spPr>
        <p:style>
          <a:lnRef idx="2">
            <a:schemeClr val="accent2"/>
          </a:lnRef>
          <a:fillRef idx="1">
            <a:schemeClr val="lt1"/>
          </a:fillRef>
          <a:effectRef idx="0">
            <a:schemeClr val="accent2"/>
          </a:effectRef>
          <a:fontRef idx="minor">
            <a:schemeClr val="dk1"/>
          </a:fontRef>
        </p:style>
        <p:txBody>
          <a:bodyPr rtlCol="0" anchor="ctr"/>
          <a:lstStyle/>
          <a:p>
            <a:r>
              <a:rPr lang="en-US" b="1" dirty="0"/>
              <a:t>Poor Ranking and Discrimination</a:t>
            </a:r>
            <a:br>
              <a:rPr lang="en-US" dirty="0"/>
            </a:br>
            <a:r>
              <a:rPr lang="en-US" dirty="0"/>
              <a:t>However, in the absence of structured scoring mechanisms and a joint evaluation system or other mechanisms (from peer-review methods), single-agent systems lack the capability to objectively evaluate research findings, leading to biased ranking and limited effectiveness for peer-review purposes.</a:t>
            </a:r>
          </a:p>
        </p:txBody>
      </p:sp>
    </p:spTree>
    <p:extLst>
      <p:ext uri="{BB962C8B-B14F-4D97-AF65-F5344CB8AC3E}">
        <p14:creationId xmlns:p14="http://schemas.microsoft.com/office/powerpoint/2010/main" val="46188937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52B043-A689-C7E8-1A3E-79053CA1326E}"/>
              </a:ext>
            </a:extLst>
          </p:cNvPr>
          <p:cNvSpPr>
            <a:spLocks noGrp="1"/>
          </p:cNvSpPr>
          <p:nvPr>
            <p:ph type="title"/>
          </p:nvPr>
        </p:nvSpPr>
        <p:spPr>
          <a:xfrm>
            <a:off x="593558" y="0"/>
            <a:ext cx="8680443" cy="1930400"/>
          </a:xfrm>
        </p:spPr>
        <p:txBody>
          <a:bodyPr anchor="ctr">
            <a:normAutofit/>
          </a:bodyPr>
          <a:lstStyle/>
          <a:p>
            <a:r>
              <a:rPr lang="en-US" dirty="0"/>
              <a:t>Motivation for PROCOMP Framework</a:t>
            </a:r>
          </a:p>
        </p:txBody>
      </p:sp>
      <p:pic>
        <p:nvPicPr>
          <p:cNvPr id="8" name="Picture 7">
            <a:extLst>
              <a:ext uri="{FF2B5EF4-FFF2-40B4-BE49-F238E27FC236}">
                <a16:creationId xmlns:a16="http://schemas.microsoft.com/office/drawing/2014/main" id="{488FDCC3-E9B9-3B7D-6303-20B514D9649E}"/>
              </a:ext>
            </a:extLst>
          </p:cNvPr>
          <p:cNvPicPr>
            <a:picLocks noChangeAspect="1"/>
          </p:cNvPicPr>
          <p:nvPr/>
        </p:nvPicPr>
        <p:blipFill>
          <a:blip r:embed="rId2"/>
          <a:stretch>
            <a:fillRect/>
          </a:stretch>
        </p:blipFill>
        <p:spPr>
          <a:xfrm>
            <a:off x="799814" y="1511153"/>
            <a:ext cx="2986123" cy="3682648"/>
          </a:xfrm>
          <a:prstGeom prst="rect">
            <a:avLst/>
          </a:prstGeom>
        </p:spPr>
      </p:pic>
      <p:sp>
        <p:nvSpPr>
          <p:cNvPr id="3" name="Content Placeholder 2">
            <a:extLst>
              <a:ext uri="{FF2B5EF4-FFF2-40B4-BE49-F238E27FC236}">
                <a16:creationId xmlns:a16="http://schemas.microsoft.com/office/drawing/2014/main" id="{8DA11DE9-B74C-7653-0C90-06DEA3FF5B36}"/>
              </a:ext>
            </a:extLst>
          </p:cNvPr>
          <p:cNvSpPr>
            <a:spLocks noGrp="1"/>
          </p:cNvSpPr>
          <p:nvPr>
            <p:ph idx="1"/>
          </p:nvPr>
        </p:nvSpPr>
        <p:spPr>
          <a:xfrm>
            <a:off x="4092425" y="1636296"/>
            <a:ext cx="5580964" cy="4169078"/>
          </a:xfrm>
        </p:spPr>
        <p:txBody>
          <a:bodyPr>
            <a:normAutofit/>
          </a:bodyPr>
          <a:lstStyle/>
          <a:p>
            <a:pPr algn="just">
              <a:lnSpc>
                <a:spcPct val="90000"/>
              </a:lnSpc>
            </a:pPr>
            <a:r>
              <a:rPr lang="en-US" sz="1700" dirty="0"/>
              <a:t>The growth in the number of scientific publications has pushed peer review systems to the brink, with reviewers feeling fatigued and unreliable. </a:t>
            </a:r>
          </a:p>
          <a:p>
            <a:pPr algn="just">
              <a:lnSpc>
                <a:spcPct val="90000"/>
              </a:lnSpc>
            </a:pPr>
            <a:r>
              <a:rPr lang="en-US" sz="1700" dirty="0"/>
              <a:t>We established ProComp because we need a system that serves as a framework for high-volume, science-written reviews with ethical, robust evaluation. ProComp uses expert professionals to test diverse aspects of the research, thereby minimizing bias and variation. </a:t>
            </a:r>
          </a:p>
          <a:p>
            <a:pPr algn="just">
              <a:lnSpc>
                <a:spcPct val="90000"/>
              </a:lnSpc>
            </a:pPr>
            <a:r>
              <a:rPr lang="en-US" sz="1700" dirty="0"/>
              <a:t>ProComp provides a structured results system that lets readers compare relevant information and make quick decisions, making science processes more manageable and reliable. In practice, human reviewers have time to make accurate decisions.</a:t>
            </a:r>
          </a:p>
          <a:p>
            <a:pPr algn="just">
              <a:lnSpc>
                <a:spcPct val="90000"/>
              </a:lnSpc>
            </a:pPr>
            <a:endParaRPr lang="en-US" sz="1700" dirty="0"/>
          </a:p>
        </p:txBody>
      </p:sp>
    </p:spTree>
    <p:extLst>
      <p:ext uri="{BB962C8B-B14F-4D97-AF65-F5344CB8AC3E}">
        <p14:creationId xmlns:p14="http://schemas.microsoft.com/office/powerpoint/2010/main" val="326926502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2C3E8A0-4ACE-95BE-28F3-95A12A95E13F}"/>
              </a:ext>
            </a:extLst>
          </p:cNvPr>
          <p:cNvSpPr>
            <a:spLocks noGrp="1"/>
          </p:cNvSpPr>
          <p:nvPr>
            <p:ph type="title"/>
          </p:nvPr>
        </p:nvSpPr>
        <p:spPr/>
        <p:txBody>
          <a:bodyPr/>
          <a:lstStyle/>
          <a:p>
            <a:r>
              <a:rPr lang="en-US" dirty="0"/>
              <a:t>Objectives</a:t>
            </a:r>
          </a:p>
        </p:txBody>
      </p:sp>
      <p:sp>
        <p:nvSpPr>
          <p:cNvPr id="3" name="Content Placeholder 2">
            <a:extLst>
              <a:ext uri="{FF2B5EF4-FFF2-40B4-BE49-F238E27FC236}">
                <a16:creationId xmlns:a16="http://schemas.microsoft.com/office/drawing/2014/main" id="{FD1ADD91-37A4-93E5-9AD1-98BDF5A9F4A6}"/>
              </a:ext>
            </a:extLst>
          </p:cNvPr>
          <p:cNvSpPr>
            <a:spLocks noGrp="1"/>
          </p:cNvSpPr>
          <p:nvPr>
            <p:ph idx="1"/>
          </p:nvPr>
        </p:nvSpPr>
        <p:spPr>
          <a:xfrm>
            <a:off x="677334" y="1507959"/>
            <a:ext cx="8596668" cy="4533404"/>
          </a:xfrm>
        </p:spPr>
        <p:txBody>
          <a:bodyPr>
            <a:normAutofit/>
          </a:bodyPr>
          <a:lstStyle/>
          <a:p>
            <a:r>
              <a:rPr lang="en-US" sz="2400" noProof="1"/>
              <a:t>Multi-Agent Decomposition</a:t>
            </a:r>
          </a:p>
          <a:p>
            <a:r>
              <a:rPr lang="en-US" sz="2400" noProof="1"/>
              <a:t>Structured Review Outputs</a:t>
            </a:r>
          </a:p>
          <a:p>
            <a:r>
              <a:rPr lang="en-US" sz="2400" noProof="1"/>
              <a:t>Retrieval-Augmented Reasoning</a:t>
            </a:r>
          </a:p>
          <a:p>
            <a:r>
              <a:rPr lang="en-US" sz="2400" noProof="1"/>
              <a:t>Consistency and Robustness</a:t>
            </a:r>
          </a:p>
          <a:p>
            <a:r>
              <a:rPr lang="en-US" sz="2400" noProof="1"/>
              <a:t>Scalability and Flexibility</a:t>
            </a:r>
          </a:p>
          <a:p>
            <a:endParaRPr lang="en-US" sz="2400" dirty="0"/>
          </a:p>
        </p:txBody>
      </p:sp>
    </p:spTree>
    <p:extLst>
      <p:ext uri="{BB962C8B-B14F-4D97-AF65-F5344CB8AC3E}">
        <p14:creationId xmlns:p14="http://schemas.microsoft.com/office/powerpoint/2010/main" val="21542273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A647D87-EE04-8E5C-D1FB-56EE74FD6266}"/>
              </a:ext>
            </a:extLst>
          </p:cNvPr>
          <p:cNvSpPr>
            <a:spLocks noGrp="1"/>
          </p:cNvSpPr>
          <p:nvPr>
            <p:ph type="title"/>
          </p:nvPr>
        </p:nvSpPr>
        <p:spPr>
          <a:xfrm>
            <a:off x="734786" y="2449287"/>
            <a:ext cx="10042071" cy="1926770"/>
          </a:xfrm>
        </p:spPr>
        <p:txBody>
          <a:bodyPr>
            <a:normAutofit/>
          </a:bodyPr>
          <a:lstStyle/>
          <a:p>
            <a:r>
              <a:rPr lang="en-US" dirty="0">
                <a:solidFill>
                  <a:schemeClr val="tx1"/>
                </a:solidFill>
              </a:rPr>
              <a:t>PROPOSED PROCOMP NETWORK</a:t>
            </a:r>
            <a:br>
              <a:rPr lang="en-US" dirty="0"/>
            </a:br>
            <a:r>
              <a:rPr lang="en-US" dirty="0"/>
              <a:t>(</a:t>
            </a:r>
            <a:r>
              <a:rPr lang="en-US" b="1" dirty="0"/>
              <a:t>A Problem-Driven Multi-Agent Framework )</a:t>
            </a:r>
            <a:endParaRPr lang="en-US" dirty="0"/>
          </a:p>
        </p:txBody>
      </p:sp>
    </p:spTree>
    <p:extLst>
      <p:ext uri="{BB962C8B-B14F-4D97-AF65-F5344CB8AC3E}">
        <p14:creationId xmlns:p14="http://schemas.microsoft.com/office/powerpoint/2010/main" val="319273937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BBAF2A4F-A905-CB59-AC2D-25E4B8BEB8B0}"/>
              </a:ext>
            </a:extLst>
          </p:cNvPr>
          <p:cNvSpPr txBox="1">
            <a:spLocks/>
          </p:cNvSpPr>
          <p:nvPr>
            <p:custDataLst>
              <p:tags r:id="rId1"/>
            </p:custDataLst>
          </p:nvPr>
        </p:nvSpPr>
        <p:spPr>
          <a:xfrm>
            <a:off x="609600" y="800100"/>
            <a:ext cx="10972800" cy="685800"/>
          </a:xfrm>
          <a:prstGeom prst="rect">
            <a:avLst/>
          </a:prstGeom>
        </p:spPr>
        <p:txBody>
          <a:bodyPr vert="horz" lIns="91440" tIns="45720" rIns="91440" bIns="45720" rtlCol="0" anchor="t">
            <a:normAutofit/>
          </a:bodyPr>
          <a:lstStyle>
            <a:lvl1pPr algn="l" defTabSz="457200" rtl="0" eaLnBrk="1" latinLnBrk="0" hangingPunct="1">
              <a:spcBef>
                <a:spcPct val="0"/>
              </a:spcBef>
              <a:buNone/>
              <a:defRPr sz="3600" kern="1200">
                <a:solidFill>
                  <a:schemeClr val="accent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r>
              <a:rPr lang="en-US" noProof="1"/>
              <a:t>Overview of ProComp Framework</a:t>
            </a:r>
          </a:p>
          <a:p>
            <a:endParaRPr lang="en-US" noProof="1"/>
          </a:p>
          <a:p>
            <a:endParaRPr lang="en-US" noProof="1"/>
          </a:p>
        </p:txBody>
      </p:sp>
      <p:sp>
        <p:nvSpPr>
          <p:cNvPr id="5" name="Text Placeholder 2">
            <a:extLst>
              <a:ext uri="{FF2B5EF4-FFF2-40B4-BE49-F238E27FC236}">
                <a16:creationId xmlns:a16="http://schemas.microsoft.com/office/drawing/2014/main" id="{52537A4F-E802-A9FD-4756-9B702E314B98}"/>
              </a:ext>
            </a:extLst>
          </p:cNvPr>
          <p:cNvSpPr txBox="1">
            <a:spLocks/>
          </p:cNvSpPr>
          <p:nvPr>
            <p:custDataLst>
              <p:tags r:id="rId2"/>
            </p:custDataLst>
          </p:nvPr>
        </p:nvSpPr>
        <p:spPr>
          <a:xfrm>
            <a:off x="609600" y="4879153"/>
            <a:ext cx="5183188" cy="528065"/>
          </a:xfrm>
          <a:prstGeom prst="rect">
            <a:avLst/>
          </a:prstGeom>
        </p:spPr>
        <p:txBody>
          <a:bodyPr vert="horz" lIns="91440" tIns="45720" rIns="91440" bIns="45720" rtlCol="0">
            <a:normAutofit/>
          </a:bodyPr>
          <a:lstStyle>
            <a:lvl1pPr marL="342900" indent="-342900" algn="l" defTabSz="457200" rtl="0" eaLnBrk="1" latinLnBrk="0" hangingPunct="1">
              <a:spcBef>
                <a:spcPts val="1000"/>
              </a:spcBef>
              <a:spcAft>
                <a:spcPts val="0"/>
              </a:spcAft>
              <a:buClr>
                <a:schemeClr val="accent1"/>
              </a:buClr>
              <a:buSzPct val="80000"/>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pPr marL="0" indent="0">
              <a:buNone/>
            </a:pPr>
            <a:r>
              <a:rPr lang="en-US" noProof="1"/>
              <a:t>Modular Multi-Agent Pipeline</a:t>
            </a:r>
          </a:p>
        </p:txBody>
      </p:sp>
      <p:sp>
        <p:nvSpPr>
          <p:cNvPr id="6" name="Text Placeholder 4">
            <a:extLst>
              <a:ext uri="{FF2B5EF4-FFF2-40B4-BE49-F238E27FC236}">
                <a16:creationId xmlns:a16="http://schemas.microsoft.com/office/drawing/2014/main" id="{D998A9FB-69CD-0CD9-B2E9-3BC102723D79}"/>
              </a:ext>
            </a:extLst>
          </p:cNvPr>
          <p:cNvSpPr txBox="1">
            <a:spLocks/>
          </p:cNvSpPr>
          <p:nvPr>
            <p:custDataLst>
              <p:tags r:id="rId3"/>
            </p:custDataLst>
          </p:nvPr>
        </p:nvSpPr>
        <p:spPr>
          <a:xfrm>
            <a:off x="5792788" y="4879153"/>
            <a:ext cx="5183188" cy="535258"/>
          </a:xfrm>
          <a:prstGeom prst="rect">
            <a:avLst/>
          </a:prstGeom>
        </p:spPr>
        <p:txBody>
          <a:bodyPr>
            <a:normAutofit/>
          </a:bodyPr>
          <a:lstStyle>
            <a:lvl1pPr marL="342900" indent="-342900" algn="l" defTabSz="457200" rtl="0" eaLnBrk="1" latinLnBrk="0" hangingPunct="1">
              <a:spcBef>
                <a:spcPts val="1000"/>
              </a:spcBef>
              <a:spcAft>
                <a:spcPts val="0"/>
              </a:spcAft>
              <a:buClr>
                <a:schemeClr val="accent1"/>
              </a:buClr>
              <a:buSzPct val="80000"/>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pPr marL="0" indent="0">
              <a:buNone/>
            </a:pPr>
            <a:r>
              <a:rPr lang="en-US" noProof="1"/>
              <a:t>Retrieval and Meta-Review Integration</a:t>
            </a:r>
          </a:p>
        </p:txBody>
      </p:sp>
      <p:pic>
        <p:nvPicPr>
          <p:cNvPr id="7" name="Picture Placeholder 9" descr="A group of boats in a body of water&#10;&#10;Description automatically generated">
            <a:extLst>
              <a:ext uri="{FF2B5EF4-FFF2-40B4-BE49-F238E27FC236}">
                <a16:creationId xmlns:a16="http://schemas.microsoft.com/office/drawing/2014/main" id="{FA916A28-C2AD-31C2-6996-A79FE81B469C}"/>
              </a:ext>
            </a:extLst>
          </p:cNvPr>
          <p:cNvPicPr>
            <a:picLocks noChangeAspect="1"/>
          </p:cNvPicPr>
          <p:nvPr>
            <p:custDataLst>
              <p:tags r:id="rId4"/>
            </p:custDataLst>
          </p:nvPr>
        </p:nvPicPr>
        <p:blipFill rotWithShape="1">
          <a:blip r:embed="rId7" cstate="screen">
            <a:alphaModFix amt="75000"/>
            <a:extLst>
              <a:ext uri="{28A0092B-C50C-407E-A947-70E740481C1C}">
                <a14:useLocalDpi xmlns:a14="http://schemas.microsoft.com/office/drawing/2010/main"/>
              </a:ext>
            </a:extLst>
          </a:blip>
          <a:srcRect t="9133" b="9133"/>
          <a:stretch/>
        </p:blipFill>
        <p:spPr>
          <a:xfrm>
            <a:off x="609600" y="1978847"/>
            <a:ext cx="4490201" cy="2743200"/>
          </a:xfrm>
          <a:prstGeom prst="rect">
            <a:avLst/>
          </a:prstGeom>
        </p:spPr>
      </p:pic>
      <p:pic>
        <p:nvPicPr>
          <p:cNvPr id="8" name="Picture Placeholder 11">
            <a:extLst>
              <a:ext uri="{FF2B5EF4-FFF2-40B4-BE49-F238E27FC236}">
                <a16:creationId xmlns:a16="http://schemas.microsoft.com/office/drawing/2014/main" id="{B30F8108-A743-B019-EB29-D5CFDF496F40}"/>
              </a:ext>
            </a:extLst>
          </p:cNvPr>
          <p:cNvPicPr>
            <a:picLocks noChangeAspect="1"/>
          </p:cNvPicPr>
          <p:nvPr>
            <p:custDataLst>
              <p:tags r:id="rId5"/>
            </p:custDataLst>
          </p:nvPr>
        </p:nvPicPr>
        <p:blipFill rotWithShape="1">
          <a:blip r:embed="rId8" cstate="screen">
            <a:alphaModFix amt="75000"/>
            <a:extLst>
              <a:ext uri="{28A0092B-C50C-407E-A947-70E740481C1C}">
                <a14:useLocalDpi xmlns:a14="http://schemas.microsoft.com/office/drawing/2010/main"/>
              </a:ext>
            </a:extLst>
          </a:blip>
          <a:srcRect t="9109" b="9109"/>
          <a:stretch/>
        </p:blipFill>
        <p:spPr>
          <a:xfrm>
            <a:off x="5791200" y="1978598"/>
            <a:ext cx="4167641" cy="2743200"/>
          </a:xfrm>
          <a:prstGeom prst="rect">
            <a:avLst/>
          </a:prstGeom>
        </p:spPr>
      </p:pic>
    </p:spTree>
    <p:extLst>
      <p:ext uri="{BB962C8B-B14F-4D97-AF65-F5344CB8AC3E}">
        <p14:creationId xmlns:p14="http://schemas.microsoft.com/office/powerpoint/2010/main" val="151322684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0FCA98C-3F5E-6180-6B5B-1B78C753AB5D}"/>
              </a:ext>
            </a:extLst>
          </p:cNvPr>
          <p:cNvSpPr>
            <a:spLocks noGrp="1"/>
          </p:cNvSpPr>
          <p:nvPr>
            <p:ph type="title"/>
          </p:nvPr>
        </p:nvSpPr>
        <p:spPr/>
        <p:txBody>
          <a:bodyPr/>
          <a:lstStyle/>
          <a:p>
            <a:r>
              <a:rPr lang="en-US" dirty="0"/>
              <a:t>Multi-Agent </a:t>
            </a:r>
            <a:r>
              <a:rPr lang="en-US" dirty="0" err="1"/>
              <a:t>ProCOMP</a:t>
            </a:r>
            <a:r>
              <a:rPr lang="en-US" dirty="0"/>
              <a:t> Architecture</a:t>
            </a:r>
          </a:p>
        </p:txBody>
      </p:sp>
      <p:pic>
        <p:nvPicPr>
          <p:cNvPr id="5" name="Content Placeholder 4">
            <a:extLst>
              <a:ext uri="{FF2B5EF4-FFF2-40B4-BE49-F238E27FC236}">
                <a16:creationId xmlns:a16="http://schemas.microsoft.com/office/drawing/2014/main" id="{7ED6C2A9-EE5F-C62B-5B9A-A295C7FED8B7}"/>
              </a:ext>
            </a:extLst>
          </p:cNvPr>
          <p:cNvPicPr>
            <a:picLocks noGrp="1" noChangeAspect="1"/>
          </p:cNvPicPr>
          <p:nvPr>
            <p:ph idx="1"/>
          </p:nvPr>
        </p:nvPicPr>
        <p:blipFill>
          <a:blip>
            <a:extLst>
              <a:ext uri="{96DAC541-7B7A-43D3-8B79-37D633B846F1}">
                <asvg:svgBlip xmlns:asvg="http://schemas.microsoft.com/office/drawing/2016/SVG/main" r:embed="rId2"/>
              </a:ext>
            </a:extLst>
          </a:blip>
          <a:srcRect l="-1535" t="7246" r="-1535" b="7246"/>
          <a:stretch>
            <a:fillRect/>
          </a:stretch>
        </p:blipFill>
        <p:spPr>
          <a:xfrm>
            <a:off x="346006" y="1463040"/>
            <a:ext cx="11499987" cy="5394960"/>
          </a:xfrm>
          <a:prstGeom prst="rect">
            <a:avLst/>
          </a:prstGeom>
        </p:spPr>
      </p:pic>
      <p:sp>
        <p:nvSpPr>
          <p:cNvPr id="7" name="TextBox 6">
            <a:extLst>
              <a:ext uri="{FF2B5EF4-FFF2-40B4-BE49-F238E27FC236}">
                <a16:creationId xmlns:a16="http://schemas.microsoft.com/office/drawing/2014/main" id="{554F245E-4922-C741-C943-9F4408B8367E}"/>
              </a:ext>
            </a:extLst>
          </p:cNvPr>
          <p:cNvSpPr txBox="1"/>
          <p:nvPr/>
        </p:nvSpPr>
        <p:spPr>
          <a:xfrm>
            <a:off x="346006" y="5747887"/>
            <a:ext cx="11043889" cy="646331"/>
          </a:xfrm>
          <a:prstGeom prst="rect">
            <a:avLst/>
          </a:prstGeom>
          <a:noFill/>
        </p:spPr>
        <p:txBody>
          <a:bodyPr wrap="square">
            <a:spAutoFit/>
          </a:bodyPr>
          <a:lstStyle/>
          <a:p>
            <a:r>
              <a:rPr lang="en-US" dirty="0"/>
              <a:t>Figure: Modular Pipeline Architecture of ProComp Incorporating Structured Preprocessing, Specialized Evaluation Agents, Meta-Review Fusion, and Retrieval-Augmented Reasoning</a:t>
            </a:r>
          </a:p>
        </p:txBody>
      </p:sp>
    </p:spTree>
    <p:extLst>
      <p:ext uri="{BB962C8B-B14F-4D97-AF65-F5344CB8AC3E}">
        <p14:creationId xmlns:p14="http://schemas.microsoft.com/office/powerpoint/2010/main" val="136441298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7AE16A5-3021-F864-879E-270082186C3D}"/>
              </a:ext>
            </a:extLst>
          </p:cNvPr>
          <p:cNvSpPr>
            <a:spLocks noGrp="1"/>
          </p:cNvSpPr>
          <p:nvPr>
            <p:ph type="title"/>
          </p:nvPr>
        </p:nvSpPr>
        <p:spPr>
          <a:xfrm>
            <a:off x="147944" y="399934"/>
            <a:ext cx="8596668" cy="817118"/>
          </a:xfrm>
        </p:spPr>
        <p:txBody>
          <a:bodyPr/>
          <a:lstStyle/>
          <a:p>
            <a:r>
              <a:rPr lang="en-US" dirty="0"/>
              <a:t>Agents Architecture</a:t>
            </a:r>
          </a:p>
        </p:txBody>
      </p:sp>
      <p:pic>
        <p:nvPicPr>
          <p:cNvPr id="4" name="Google Shape;1114;p114">
            <a:extLst>
              <a:ext uri="{FF2B5EF4-FFF2-40B4-BE49-F238E27FC236}">
                <a16:creationId xmlns:a16="http://schemas.microsoft.com/office/drawing/2014/main" id="{FE3126D6-8510-FAF8-3E83-F7FFDE136C1D}"/>
              </a:ext>
            </a:extLst>
          </p:cNvPr>
          <p:cNvPicPr preferRelativeResize="0"/>
          <p:nvPr>
            <p:custDataLst>
              <p:tags r:id="rId1"/>
            </p:custDataLst>
          </p:nvPr>
        </p:nvPicPr>
        <p:blipFill rotWithShape="1">
          <a:blip r:embed="rId14" cstate="screen">
            <a:alphaModFix amt="67000"/>
            <a:extLst>
              <a:ext uri="{28A0092B-C50C-407E-A947-70E740481C1C}">
                <a14:useLocalDpi xmlns:a14="http://schemas.microsoft.com/office/drawing/2010/main"/>
              </a:ext>
            </a:extLst>
          </a:blip>
          <a:srcRect/>
          <a:stretch/>
        </p:blipFill>
        <p:spPr>
          <a:xfrm>
            <a:off x="891345" y="4938634"/>
            <a:ext cx="817118" cy="817118"/>
          </a:xfrm>
          <a:prstGeom prst="ellipse">
            <a:avLst/>
          </a:prstGeom>
          <a:noFill/>
          <a:ln>
            <a:noFill/>
          </a:ln>
        </p:spPr>
      </p:pic>
      <p:sp>
        <p:nvSpPr>
          <p:cNvPr id="5" name="Text Placeholder 12">
            <a:extLst>
              <a:ext uri="{FF2B5EF4-FFF2-40B4-BE49-F238E27FC236}">
                <a16:creationId xmlns:a16="http://schemas.microsoft.com/office/drawing/2014/main" id="{2ACBA588-099C-2319-A91C-F13AA297B434}"/>
              </a:ext>
            </a:extLst>
          </p:cNvPr>
          <p:cNvSpPr txBox="1">
            <a:spLocks/>
          </p:cNvSpPr>
          <p:nvPr>
            <p:custDataLst>
              <p:tags r:id="rId2"/>
            </p:custDataLst>
          </p:nvPr>
        </p:nvSpPr>
        <p:spPr>
          <a:xfrm>
            <a:off x="1907343" y="1376284"/>
            <a:ext cx="7316867" cy="1006475"/>
          </a:xfrm>
          <a:prstGeom prst="rect">
            <a:avLst/>
          </a:prstGeom>
        </p:spPr>
        <p:txBody>
          <a:bodyPr vert="horz" lIns="91440" tIns="45720" rIns="91440" bIns="45720" rtlCol="0">
            <a:normAutofit/>
          </a:bodyPr>
          <a:lstStyle>
            <a:lvl1pPr marL="342900" indent="-342900" algn="l" defTabSz="457200" rtl="0" eaLnBrk="1" latinLnBrk="0" hangingPunct="1">
              <a:spcBef>
                <a:spcPts val="1000"/>
              </a:spcBef>
              <a:spcAft>
                <a:spcPts val="0"/>
              </a:spcAft>
              <a:buClr>
                <a:schemeClr val="accent1"/>
              </a:buClr>
              <a:buSzPct val="80000"/>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pPr marL="0" indent="0" algn="just">
              <a:lnSpc>
                <a:spcPct val="110000"/>
              </a:lnSpc>
              <a:buNone/>
            </a:pPr>
            <a:r>
              <a:rPr lang="en-US" sz="1600" b="1" noProof="1"/>
              <a:t>Problem Analysis Agent: </a:t>
            </a:r>
            <a:r>
              <a:rPr lang="en-US" sz="1600" noProof="1">
                <a:solidFill>
                  <a:schemeClr val="tx2"/>
                </a:solidFill>
              </a:rPr>
              <a:t>Evaluates clarity, relevance, and motivation of the research problem. Focuses on how well the paper frames its scientific questions and research goals, providing numerical scores and explanations.</a:t>
            </a:r>
          </a:p>
          <a:p>
            <a:pPr marL="0" indent="0" algn="just">
              <a:lnSpc>
                <a:spcPct val="110000"/>
              </a:lnSpc>
              <a:buNone/>
            </a:pPr>
            <a:endParaRPr lang="en-US" sz="1600" b="1" noProof="1"/>
          </a:p>
        </p:txBody>
      </p:sp>
      <p:sp>
        <p:nvSpPr>
          <p:cNvPr id="6" name="Text Placeholder 14">
            <a:extLst>
              <a:ext uri="{FF2B5EF4-FFF2-40B4-BE49-F238E27FC236}">
                <a16:creationId xmlns:a16="http://schemas.microsoft.com/office/drawing/2014/main" id="{518956CF-87C9-30F2-2369-A1CA26B7733D}"/>
              </a:ext>
            </a:extLst>
          </p:cNvPr>
          <p:cNvSpPr txBox="1">
            <a:spLocks/>
          </p:cNvSpPr>
          <p:nvPr>
            <p:custDataLst>
              <p:tags r:id="rId3"/>
            </p:custDataLst>
          </p:nvPr>
        </p:nvSpPr>
        <p:spPr>
          <a:xfrm>
            <a:off x="1907344" y="2563734"/>
            <a:ext cx="7509372" cy="1006475"/>
          </a:xfrm>
          <a:prstGeom prst="rect">
            <a:avLst/>
          </a:prstGeom>
        </p:spPr>
        <p:txBody>
          <a:bodyPr>
            <a:normAutofit fontScale="92500"/>
          </a:bodyPr>
          <a:lstStyle>
            <a:lvl1pPr marL="342900" indent="-342900" algn="l" defTabSz="457200" rtl="0" eaLnBrk="1" latinLnBrk="0" hangingPunct="1">
              <a:spcBef>
                <a:spcPts val="1000"/>
              </a:spcBef>
              <a:spcAft>
                <a:spcPts val="0"/>
              </a:spcAft>
              <a:buClr>
                <a:schemeClr val="accent1"/>
              </a:buClr>
              <a:buSzPct val="80000"/>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pPr marL="0" indent="0" algn="just">
              <a:lnSpc>
                <a:spcPct val="120000"/>
              </a:lnSpc>
              <a:buNone/>
            </a:pPr>
            <a:r>
              <a:rPr lang="en-US" b="1" noProof="1"/>
              <a:t>Methodology Agent : </a:t>
            </a:r>
            <a:r>
              <a:rPr lang="en-US" noProof="1">
                <a:solidFill>
                  <a:schemeClr val="tx2"/>
                </a:solidFill>
              </a:rPr>
              <a:t>Assesses technical soundness, experimental rigor, and reproducibility of methods used. Ensures the methodology aligns with research objectives and is validated with appropriate experiments</a:t>
            </a:r>
            <a:endParaRPr lang="en-US" b="1" noProof="1"/>
          </a:p>
        </p:txBody>
      </p:sp>
      <p:sp>
        <p:nvSpPr>
          <p:cNvPr id="7" name="Text Placeholder 2">
            <a:extLst>
              <a:ext uri="{FF2B5EF4-FFF2-40B4-BE49-F238E27FC236}">
                <a16:creationId xmlns:a16="http://schemas.microsoft.com/office/drawing/2014/main" id="{4697A4CA-2B8D-5A0F-72A4-95D8C5C4CD38}"/>
              </a:ext>
            </a:extLst>
          </p:cNvPr>
          <p:cNvSpPr txBox="1">
            <a:spLocks/>
          </p:cNvSpPr>
          <p:nvPr>
            <p:custDataLst>
              <p:tags r:id="rId4"/>
            </p:custDataLst>
          </p:nvPr>
        </p:nvSpPr>
        <p:spPr>
          <a:xfrm>
            <a:off x="1907344" y="3772465"/>
            <a:ext cx="7509372" cy="817118"/>
          </a:xfrm>
          <a:prstGeom prst="rect">
            <a:avLst/>
          </a:prstGeom>
        </p:spPr>
        <p:txBody>
          <a:bodyPr vert="horz" lIns="91440" tIns="45720" rIns="91440" bIns="45720" rtlCol="0" anchor="t">
            <a:normAutofit fontScale="92500" lnSpcReduction="10000"/>
          </a:bodyPr>
          <a:lstStyle>
            <a:lvl1pPr marL="342900" indent="-342900" algn="l" defTabSz="457200" rtl="0" eaLnBrk="1" latinLnBrk="0" hangingPunct="1">
              <a:spcBef>
                <a:spcPts val="1000"/>
              </a:spcBef>
              <a:spcAft>
                <a:spcPts val="0"/>
              </a:spcAft>
              <a:buClr>
                <a:schemeClr val="accent1"/>
              </a:buClr>
              <a:buSzPct val="80000"/>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pPr marL="0" indent="0" algn="just">
              <a:buNone/>
            </a:pPr>
            <a:r>
              <a:rPr lang="en-US" b="1" noProof="1"/>
              <a:t>Contribution Agent : </a:t>
            </a:r>
            <a:r>
              <a:rPr lang="en-US" noProof="1">
                <a:solidFill>
                  <a:schemeClr val="tx2"/>
                </a:solidFill>
              </a:rPr>
              <a:t>Measures novelty, significance, and potential impact of the research. Distinguishes high-impact work by evaluating the originality and broader relevance of the contributions</a:t>
            </a:r>
            <a:endParaRPr lang="en-US" b="1" noProof="1"/>
          </a:p>
        </p:txBody>
      </p:sp>
      <p:sp>
        <p:nvSpPr>
          <p:cNvPr id="8" name="Text Placeholder 5">
            <a:extLst>
              <a:ext uri="{FF2B5EF4-FFF2-40B4-BE49-F238E27FC236}">
                <a16:creationId xmlns:a16="http://schemas.microsoft.com/office/drawing/2014/main" id="{E74C821F-E67D-F9F1-2042-293A7C39B33C}"/>
              </a:ext>
            </a:extLst>
          </p:cNvPr>
          <p:cNvSpPr txBox="1">
            <a:spLocks/>
          </p:cNvSpPr>
          <p:nvPr>
            <p:custDataLst>
              <p:tags r:id="rId5"/>
            </p:custDataLst>
          </p:nvPr>
        </p:nvSpPr>
        <p:spPr>
          <a:xfrm>
            <a:off x="1907344" y="4938634"/>
            <a:ext cx="7509372" cy="1040655"/>
          </a:xfrm>
          <a:prstGeom prst="rect">
            <a:avLst/>
          </a:prstGeom>
        </p:spPr>
        <p:txBody>
          <a:bodyPr>
            <a:normAutofit/>
          </a:bodyPr>
          <a:lstStyle>
            <a:lvl1pPr marL="342900" indent="-342900" algn="l" defTabSz="457200" rtl="0" eaLnBrk="1" latinLnBrk="0" hangingPunct="1">
              <a:spcBef>
                <a:spcPts val="1000"/>
              </a:spcBef>
              <a:spcAft>
                <a:spcPts val="0"/>
              </a:spcAft>
              <a:buClr>
                <a:schemeClr val="accent1"/>
              </a:buClr>
              <a:buSzPct val="80000"/>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pPr marL="0" indent="0" algn="just">
              <a:lnSpc>
                <a:spcPct val="120000"/>
              </a:lnSpc>
              <a:buNone/>
            </a:pPr>
            <a:r>
              <a:rPr lang="en-US" sz="1700" b="1" noProof="1"/>
              <a:t>Meta-Review Agent: </a:t>
            </a:r>
            <a:r>
              <a:rPr lang="en-US" sz="1700" noProof="1">
                <a:solidFill>
                  <a:schemeClr val="tx2"/>
                </a:solidFill>
              </a:rPr>
              <a:t>Aggregates scores and qualitative feedback from other agents to produce a final, coherent evaluation. Resolves conflicts and provides overall ranking and recommendations.</a:t>
            </a:r>
          </a:p>
          <a:p>
            <a:pPr marL="0" indent="0" algn="just">
              <a:lnSpc>
                <a:spcPct val="120000"/>
              </a:lnSpc>
              <a:buNone/>
            </a:pPr>
            <a:endParaRPr lang="en-US" sz="1700" b="1" noProof="1"/>
          </a:p>
        </p:txBody>
      </p:sp>
      <p:pic>
        <p:nvPicPr>
          <p:cNvPr id="9" name="Google Shape;1111;p114">
            <a:extLst>
              <a:ext uri="{FF2B5EF4-FFF2-40B4-BE49-F238E27FC236}">
                <a16:creationId xmlns:a16="http://schemas.microsoft.com/office/drawing/2014/main" id="{3FA37D16-C83C-14A0-8BDF-D10D5E4ED3BC}"/>
              </a:ext>
            </a:extLst>
          </p:cNvPr>
          <p:cNvPicPr preferRelativeResize="0"/>
          <p:nvPr>
            <p:custDataLst>
              <p:tags r:id="rId6"/>
            </p:custDataLst>
          </p:nvPr>
        </p:nvPicPr>
        <p:blipFill rotWithShape="1">
          <a:blip r:embed="rId15" cstate="screen">
            <a:alphaModFix amt="51000"/>
            <a:extLst>
              <a:ext uri="{28A0092B-C50C-407E-A947-70E740481C1C}">
                <a14:useLocalDpi xmlns:a14="http://schemas.microsoft.com/office/drawing/2010/main"/>
              </a:ext>
            </a:extLst>
          </a:blip>
          <a:srcRect/>
          <a:stretch/>
        </p:blipFill>
        <p:spPr>
          <a:xfrm>
            <a:off x="876867" y="1376284"/>
            <a:ext cx="817118" cy="817118"/>
          </a:xfrm>
          <a:prstGeom prst="ellipse">
            <a:avLst/>
          </a:prstGeom>
          <a:noFill/>
          <a:ln>
            <a:noFill/>
          </a:ln>
        </p:spPr>
      </p:pic>
      <p:pic>
        <p:nvPicPr>
          <p:cNvPr id="10" name="Google Shape;1112;p114">
            <a:extLst>
              <a:ext uri="{FF2B5EF4-FFF2-40B4-BE49-F238E27FC236}">
                <a16:creationId xmlns:a16="http://schemas.microsoft.com/office/drawing/2014/main" id="{2EB53F00-CAAF-158B-7446-B2A4F3812A7B}"/>
              </a:ext>
            </a:extLst>
          </p:cNvPr>
          <p:cNvPicPr preferRelativeResize="0"/>
          <p:nvPr>
            <p:custDataLst>
              <p:tags r:id="rId7"/>
            </p:custDataLst>
          </p:nvPr>
        </p:nvPicPr>
        <p:blipFill rotWithShape="1">
          <a:blip r:embed="rId16" cstate="screen">
            <a:alphaModFix amt="34000"/>
            <a:extLst>
              <a:ext uri="{28A0092B-C50C-407E-A947-70E740481C1C}">
                <a14:useLocalDpi xmlns:a14="http://schemas.microsoft.com/office/drawing/2010/main"/>
              </a:ext>
            </a:extLst>
          </a:blip>
          <a:srcRect/>
          <a:stretch/>
        </p:blipFill>
        <p:spPr>
          <a:xfrm>
            <a:off x="876867" y="2563734"/>
            <a:ext cx="817118" cy="817118"/>
          </a:xfrm>
          <a:prstGeom prst="ellipse">
            <a:avLst/>
          </a:prstGeom>
          <a:noFill/>
          <a:ln>
            <a:noFill/>
          </a:ln>
        </p:spPr>
      </p:pic>
      <p:pic>
        <p:nvPicPr>
          <p:cNvPr id="11" name="Google Shape;1113;p114">
            <a:extLst>
              <a:ext uri="{FF2B5EF4-FFF2-40B4-BE49-F238E27FC236}">
                <a16:creationId xmlns:a16="http://schemas.microsoft.com/office/drawing/2014/main" id="{56410D0F-B310-6659-A764-2BA186A26230}"/>
              </a:ext>
            </a:extLst>
          </p:cNvPr>
          <p:cNvPicPr preferRelativeResize="0"/>
          <p:nvPr>
            <p:custDataLst>
              <p:tags r:id="rId8"/>
            </p:custDataLst>
          </p:nvPr>
        </p:nvPicPr>
        <p:blipFill rotWithShape="1">
          <a:blip r:embed="rId17" cstate="screen">
            <a:alphaModFix amt="51000"/>
            <a:extLst>
              <a:ext uri="{28A0092B-C50C-407E-A947-70E740481C1C}">
                <a14:useLocalDpi xmlns:a14="http://schemas.microsoft.com/office/drawing/2010/main"/>
              </a:ext>
            </a:extLst>
          </a:blip>
          <a:srcRect/>
          <a:stretch/>
        </p:blipFill>
        <p:spPr>
          <a:xfrm>
            <a:off x="876867" y="3751184"/>
            <a:ext cx="817118" cy="817118"/>
          </a:xfrm>
          <a:prstGeom prst="ellipse">
            <a:avLst/>
          </a:prstGeom>
          <a:noFill/>
          <a:ln>
            <a:noFill/>
          </a:ln>
        </p:spPr>
      </p:pic>
      <p:pic>
        <p:nvPicPr>
          <p:cNvPr id="12" name="Graphic 11">
            <a:extLst>
              <a:ext uri="{FF2B5EF4-FFF2-40B4-BE49-F238E27FC236}">
                <a16:creationId xmlns:a16="http://schemas.microsoft.com/office/drawing/2014/main" id="{C4625B3C-86B7-9284-9E51-B42EB1D355FC}"/>
              </a:ext>
            </a:extLst>
          </p:cNvPr>
          <p:cNvPicPr>
            <a:picLocks noChangeAspect="1"/>
          </p:cNvPicPr>
          <p:nvPr>
            <p:custDataLst>
              <p:tags r:id="rId9"/>
            </p:custDataLst>
          </p:nvPr>
        </p:nvPicPr>
        <p:blipFill>
          <a:blip>
            <a:extLst>
              <a:ext uri="{96DAC541-7B7A-43D3-8B79-37D633B846F1}">
                <asvg:svgBlip xmlns:asvg="http://schemas.microsoft.com/office/drawing/2016/SVG/main" r:embed="rId18"/>
              </a:ext>
            </a:extLst>
          </a:blip>
          <a:stretch>
            <a:fillRect/>
          </a:stretch>
        </p:blipFill>
        <p:spPr>
          <a:xfrm>
            <a:off x="1125406" y="1624823"/>
            <a:ext cx="320040" cy="320040"/>
          </a:xfrm>
          <a:prstGeom prst="rect">
            <a:avLst/>
          </a:prstGeom>
        </p:spPr>
      </p:pic>
      <p:pic>
        <p:nvPicPr>
          <p:cNvPr id="13" name="Graphic 12">
            <a:extLst>
              <a:ext uri="{FF2B5EF4-FFF2-40B4-BE49-F238E27FC236}">
                <a16:creationId xmlns:a16="http://schemas.microsoft.com/office/drawing/2014/main" id="{2804BB6B-10B0-2A30-E279-2EE01D430C45}"/>
              </a:ext>
            </a:extLst>
          </p:cNvPr>
          <p:cNvPicPr>
            <a:picLocks noChangeAspect="1"/>
          </p:cNvPicPr>
          <p:nvPr>
            <p:custDataLst>
              <p:tags r:id="rId10"/>
            </p:custDataLst>
          </p:nvPr>
        </p:nvPicPr>
        <p:blipFill>
          <a:blip>
            <a:extLst>
              <a:ext uri="{96DAC541-7B7A-43D3-8B79-37D633B846F1}">
                <asvg:svgBlip xmlns:asvg="http://schemas.microsoft.com/office/drawing/2016/SVG/main" r:embed="rId19"/>
              </a:ext>
            </a:extLst>
          </a:blip>
          <a:stretch>
            <a:fillRect/>
          </a:stretch>
        </p:blipFill>
        <p:spPr>
          <a:xfrm>
            <a:off x="1125406" y="2812273"/>
            <a:ext cx="320040" cy="320040"/>
          </a:xfrm>
          <a:prstGeom prst="rect">
            <a:avLst/>
          </a:prstGeom>
        </p:spPr>
      </p:pic>
      <p:pic>
        <p:nvPicPr>
          <p:cNvPr id="14" name="Graphic 13">
            <a:extLst>
              <a:ext uri="{FF2B5EF4-FFF2-40B4-BE49-F238E27FC236}">
                <a16:creationId xmlns:a16="http://schemas.microsoft.com/office/drawing/2014/main" id="{E7885286-A2EA-0B87-6901-4A78D30B67B9}"/>
              </a:ext>
            </a:extLst>
          </p:cNvPr>
          <p:cNvPicPr>
            <a:picLocks noChangeAspect="1"/>
          </p:cNvPicPr>
          <p:nvPr>
            <p:custDataLst>
              <p:tags r:id="rId11"/>
            </p:custDataLst>
          </p:nvPr>
        </p:nvPicPr>
        <p:blipFill>
          <a:blip>
            <a:extLst>
              <a:ext uri="{96DAC541-7B7A-43D3-8B79-37D633B846F1}">
                <asvg:svgBlip xmlns:asvg="http://schemas.microsoft.com/office/drawing/2016/SVG/main" r:embed="rId20"/>
              </a:ext>
            </a:extLst>
          </a:blip>
          <a:stretch>
            <a:fillRect/>
          </a:stretch>
        </p:blipFill>
        <p:spPr>
          <a:xfrm>
            <a:off x="1125406" y="3999723"/>
            <a:ext cx="320040" cy="320040"/>
          </a:xfrm>
          <a:prstGeom prst="rect">
            <a:avLst/>
          </a:prstGeom>
        </p:spPr>
      </p:pic>
      <p:pic>
        <p:nvPicPr>
          <p:cNvPr id="15" name="Graphic 14">
            <a:extLst>
              <a:ext uri="{FF2B5EF4-FFF2-40B4-BE49-F238E27FC236}">
                <a16:creationId xmlns:a16="http://schemas.microsoft.com/office/drawing/2014/main" id="{14DDBCF1-B3CA-F34C-C253-F3C3A7894A06}"/>
              </a:ext>
            </a:extLst>
          </p:cNvPr>
          <p:cNvPicPr>
            <a:picLocks noChangeAspect="1"/>
          </p:cNvPicPr>
          <p:nvPr>
            <p:custDataLst>
              <p:tags r:id="rId12"/>
            </p:custDataLst>
          </p:nvPr>
        </p:nvPicPr>
        <p:blipFill>
          <a:blip>
            <a:extLst>
              <a:ext uri="{96DAC541-7B7A-43D3-8B79-37D633B846F1}">
                <asvg:svgBlip xmlns:asvg="http://schemas.microsoft.com/office/drawing/2016/SVG/main" r:embed="rId21"/>
              </a:ext>
            </a:extLst>
          </a:blip>
          <a:stretch>
            <a:fillRect/>
          </a:stretch>
        </p:blipFill>
        <p:spPr>
          <a:xfrm>
            <a:off x="1125406" y="5187173"/>
            <a:ext cx="320040" cy="320040"/>
          </a:xfrm>
          <a:prstGeom prst="rect">
            <a:avLst/>
          </a:prstGeom>
        </p:spPr>
      </p:pic>
    </p:spTree>
    <p:extLst>
      <p:ext uri="{BB962C8B-B14F-4D97-AF65-F5344CB8AC3E}">
        <p14:creationId xmlns:p14="http://schemas.microsoft.com/office/powerpoint/2010/main" val="182329749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7CC64C7-B2E7-0A77-C2C0-E79208E60367}"/>
              </a:ext>
            </a:extLst>
          </p:cNvPr>
          <p:cNvSpPr>
            <a:spLocks noGrp="1"/>
          </p:cNvSpPr>
          <p:nvPr>
            <p:ph type="title"/>
          </p:nvPr>
        </p:nvSpPr>
        <p:spPr/>
        <p:txBody>
          <a:bodyPr/>
          <a:lstStyle/>
          <a:p>
            <a:r>
              <a:rPr lang="en-US" dirty="0"/>
              <a:t>RAG</a:t>
            </a:r>
          </a:p>
        </p:txBody>
      </p:sp>
      <p:pic>
        <p:nvPicPr>
          <p:cNvPr id="5" name="Content Placeholder 4">
            <a:extLst>
              <a:ext uri="{FF2B5EF4-FFF2-40B4-BE49-F238E27FC236}">
                <a16:creationId xmlns:a16="http://schemas.microsoft.com/office/drawing/2014/main" id="{77E7E78D-C85C-72BC-7E6D-97CE76D6076E}"/>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2300483" y="406751"/>
            <a:ext cx="6669950" cy="5638800"/>
          </a:xfrm>
          <a:prstGeom prst="rect">
            <a:avLst/>
          </a:prstGeom>
        </p:spPr>
      </p:pic>
      <p:sp>
        <p:nvSpPr>
          <p:cNvPr id="7" name="TextBox 6">
            <a:extLst>
              <a:ext uri="{FF2B5EF4-FFF2-40B4-BE49-F238E27FC236}">
                <a16:creationId xmlns:a16="http://schemas.microsoft.com/office/drawing/2014/main" id="{25F1A559-B49F-9CAB-EB29-930406C6B388}"/>
              </a:ext>
            </a:extLst>
          </p:cNvPr>
          <p:cNvSpPr txBox="1"/>
          <p:nvPr/>
        </p:nvSpPr>
        <p:spPr>
          <a:xfrm>
            <a:off x="677334" y="6045551"/>
            <a:ext cx="9916248" cy="646331"/>
          </a:xfrm>
          <a:prstGeom prst="rect">
            <a:avLst/>
          </a:prstGeom>
          <a:noFill/>
        </p:spPr>
        <p:txBody>
          <a:bodyPr wrap="square">
            <a:spAutoFit/>
          </a:bodyPr>
          <a:lstStyle/>
          <a:p>
            <a:r>
              <a:rPr lang="en-US" dirty="0"/>
              <a:t>Figure :Integrated Retrieval-Augmented Generation Pipeline with Semantic Scholar API for Academic Query Resolution</a:t>
            </a:r>
          </a:p>
        </p:txBody>
      </p:sp>
    </p:spTree>
    <p:extLst>
      <p:ext uri="{BB962C8B-B14F-4D97-AF65-F5344CB8AC3E}">
        <p14:creationId xmlns:p14="http://schemas.microsoft.com/office/powerpoint/2010/main" val="286510449"/>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2929DB1-A59C-58B5-76AE-BF717EE22902}"/>
              </a:ext>
            </a:extLst>
          </p:cNvPr>
          <p:cNvSpPr>
            <a:spLocks noGrp="1"/>
          </p:cNvSpPr>
          <p:nvPr>
            <p:ph type="title"/>
          </p:nvPr>
        </p:nvSpPr>
        <p:spPr/>
        <p:txBody>
          <a:bodyPr/>
          <a:lstStyle/>
          <a:p>
            <a:r>
              <a:rPr lang="en-US" dirty="0"/>
              <a:t>Prompt engineering Strategy</a:t>
            </a:r>
          </a:p>
        </p:txBody>
      </p:sp>
      <p:pic>
        <p:nvPicPr>
          <p:cNvPr id="4" name="Google Shape;869;p100">
            <a:extLst>
              <a:ext uri="{FF2B5EF4-FFF2-40B4-BE49-F238E27FC236}">
                <a16:creationId xmlns:a16="http://schemas.microsoft.com/office/drawing/2014/main" id="{5C36315F-0691-892C-C564-EBBD94D6BB40}"/>
              </a:ext>
            </a:extLst>
          </p:cNvPr>
          <p:cNvPicPr preferRelativeResize="0"/>
          <p:nvPr>
            <p:custDataLst>
              <p:tags r:id="rId1"/>
            </p:custDataLst>
          </p:nvPr>
        </p:nvPicPr>
        <p:blipFill rotWithShape="1">
          <a:blip r:embed="rId8" cstate="screen">
            <a:alphaModFix amt="50000"/>
            <a:extLst>
              <a:ext uri="{28A0092B-C50C-407E-A947-70E740481C1C}">
                <a14:useLocalDpi xmlns:a14="http://schemas.microsoft.com/office/drawing/2010/main"/>
              </a:ext>
            </a:extLst>
          </a:blip>
          <a:srcRect/>
          <a:stretch/>
        </p:blipFill>
        <p:spPr>
          <a:xfrm>
            <a:off x="1512305" y="2851000"/>
            <a:ext cx="822960" cy="822960"/>
          </a:xfrm>
          <a:prstGeom prst="ellipse">
            <a:avLst/>
          </a:prstGeom>
          <a:noFill/>
          <a:ln>
            <a:noFill/>
          </a:ln>
        </p:spPr>
      </p:pic>
      <p:pic>
        <p:nvPicPr>
          <p:cNvPr id="5" name="Google Shape;873;p100">
            <a:extLst>
              <a:ext uri="{FF2B5EF4-FFF2-40B4-BE49-F238E27FC236}">
                <a16:creationId xmlns:a16="http://schemas.microsoft.com/office/drawing/2014/main" id="{18BFD504-0290-5DC1-3761-8297CFD64DD1}"/>
              </a:ext>
            </a:extLst>
          </p:cNvPr>
          <p:cNvPicPr preferRelativeResize="0"/>
          <p:nvPr>
            <p:custDataLst>
              <p:tags r:id="rId2"/>
            </p:custDataLst>
          </p:nvPr>
        </p:nvPicPr>
        <p:blipFill rotWithShape="1">
          <a:blip r:embed="rId9" cstate="screen">
            <a:alphaModFix amt="75000"/>
            <a:extLst>
              <a:ext uri="{28A0092B-C50C-407E-A947-70E740481C1C}">
                <a14:useLocalDpi xmlns:a14="http://schemas.microsoft.com/office/drawing/2010/main"/>
              </a:ext>
            </a:extLst>
          </a:blip>
          <a:srcRect/>
          <a:stretch/>
        </p:blipFill>
        <p:spPr>
          <a:xfrm>
            <a:off x="1512306" y="4065301"/>
            <a:ext cx="822960" cy="822960"/>
          </a:xfrm>
          <a:prstGeom prst="ellipse">
            <a:avLst/>
          </a:prstGeom>
          <a:noFill/>
          <a:ln>
            <a:noFill/>
          </a:ln>
        </p:spPr>
      </p:pic>
      <p:pic>
        <p:nvPicPr>
          <p:cNvPr id="6" name="Google Shape;874;p100">
            <a:extLst>
              <a:ext uri="{FF2B5EF4-FFF2-40B4-BE49-F238E27FC236}">
                <a16:creationId xmlns:a16="http://schemas.microsoft.com/office/drawing/2014/main" id="{E36D7968-073B-4DE8-A99B-C56FE7B868BB}"/>
              </a:ext>
            </a:extLst>
          </p:cNvPr>
          <p:cNvPicPr preferRelativeResize="0"/>
          <p:nvPr>
            <p:custDataLst>
              <p:tags r:id="rId3"/>
            </p:custDataLst>
          </p:nvPr>
        </p:nvPicPr>
        <p:blipFill rotWithShape="1">
          <a:blip r:embed="rId10" cstate="screen">
            <a:alphaModFix amt="50000"/>
            <a:extLst>
              <a:ext uri="{28A0092B-C50C-407E-A947-70E740481C1C}">
                <a14:useLocalDpi xmlns:a14="http://schemas.microsoft.com/office/drawing/2010/main"/>
              </a:ext>
            </a:extLst>
          </a:blip>
          <a:srcRect/>
          <a:stretch/>
        </p:blipFill>
        <p:spPr>
          <a:xfrm>
            <a:off x="1512305" y="1686611"/>
            <a:ext cx="822960" cy="822960"/>
          </a:xfrm>
          <a:prstGeom prst="ellipse">
            <a:avLst/>
          </a:prstGeom>
          <a:noFill/>
          <a:ln>
            <a:noFill/>
          </a:ln>
        </p:spPr>
      </p:pic>
      <p:pic>
        <p:nvPicPr>
          <p:cNvPr id="7" name="Graphic 6">
            <a:extLst>
              <a:ext uri="{FF2B5EF4-FFF2-40B4-BE49-F238E27FC236}">
                <a16:creationId xmlns:a16="http://schemas.microsoft.com/office/drawing/2014/main" id="{EFB1A11D-0A76-D367-CF31-8D9DED540C68}"/>
              </a:ext>
            </a:extLst>
          </p:cNvPr>
          <p:cNvPicPr>
            <a:picLocks noChangeAspect="1"/>
          </p:cNvPicPr>
          <p:nvPr>
            <p:custDataLst>
              <p:tags r:id="rId4"/>
            </p:custDataLst>
          </p:nvPr>
        </p:nvPicPr>
        <p:blipFill>
          <a:blip>
            <a:extLst>
              <a:ext uri="{96DAC541-7B7A-43D3-8B79-37D633B846F1}">
                <asvg:svgBlip xmlns:asvg="http://schemas.microsoft.com/office/drawing/2016/SVG/main" r:embed="rId11"/>
              </a:ext>
            </a:extLst>
          </a:blip>
          <a:stretch>
            <a:fillRect/>
          </a:stretch>
        </p:blipFill>
        <p:spPr>
          <a:xfrm>
            <a:off x="1763766" y="1938071"/>
            <a:ext cx="320040" cy="320040"/>
          </a:xfrm>
          <a:prstGeom prst="rect">
            <a:avLst/>
          </a:prstGeom>
        </p:spPr>
      </p:pic>
      <p:pic>
        <p:nvPicPr>
          <p:cNvPr id="8" name="Graphic 7">
            <a:extLst>
              <a:ext uri="{FF2B5EF4-FFF2-40B4-BE49-F238E27FC236}">
                <a16:creationId xmlns:a16="http://schemas.microsoft.com/office/drawing/2014/main" id="{2E7B041C-F212-7765-6543-F6CFFF8F8778}"/>
              </a:ext>
            </a:extLst>
          </p:cNvPr>
          <p:cNvPicPr>
            <a:picLocks noChangeAspect="1"/>
          </p:cNvPicPr>
          <p:nvPr>
            <p:custDataLst>
              <p:tags r:id="rId5"/>
            </p:custDataLst>
          </p:nvPr>
        </p:nvPicPr>
        <p:blipFill>
          <a:blip>
            <a:extLst>
              <a:ext uri="{96DAC541-7B7A-43D3-8B79-37D633B846F1}">
                <asvg:svgBlip xmlns:asvg="http://schemas.microsoft.com/office/drawing/2016/SVG/main" r:embed="rId12"/>
              </a:ext>
            </a:extLst>
          </a:blip>
          <a:stretch>
            <a:fillRect/>
          </a:stretch>
        </p:blipFill>
        <p:spPr>
          <a:xfrm>
            <a:off x="1763764" y="3102460"/>
            <a:ext cx="320040" cy="320040"/>
          </a:xfrm>
          <a:prstGeom prst="rect">
            <a:avLst/>
          </a:prstGeom>
        </p:spPr>
      </p:pic>
      <p:pic>
        <p:nvPicPr>
          <p:cNvPr id="9" name="Graphic 8">
            <a:extLst>
              <a:ext uri="{FF2B5EF4-FFF2-40B4-BE49-F238E27FC236}">
                <a16:creationId xmlns:a16="http://schemas.microsoft.com/office/drawing/2014/main" id="{E2789999-8D6A-71A9-7628-5282C6759652}"/>
              </a:ext>
            </a:extLst>
          </p:cNvPr>
          <p:cNvPicPr>
            <a:picLocks noChangeAspect="1"/>
          </p:cNvPicPr>
          <p:nvPr>
            <p:custDataLst>
              <p:tags r:id="rId6"/>
            </p:custDataLst>
          </p:nvPr>
        </p:nvPicPr>
        <p:blipFill>
          <a:blip>
            <a:extLst>
              <a:ext uri="{96DAC541-7B7A-43D3-8B79-37D633B846F1}">
                <asvg:svgBlip xmlns:asvg="http://schemas.microsoft.com/office/drawing/2016/SVG/main" r:embed="rId13"/>
              </a:ext>
            </a:extLst>
          </a:blip>
          <a:stretch>
            <a:fillRect/>
          </a:stretch>
        </p:blipFill>
        <p:spPr>
          <a:xfrm>
            <a:off x="1763766" y="4316761"/>
            <a:ext cx="320040" cy="320040"/>
          </a:xfrm>
          <a:prstGeom prst="rect">
            <a:avLst/>
          </a:prstGeom>
        </p:spPr>
      </p:pic>
      <p:sp>
        <p:nvSpPr>
          <p:cNvPr id="11" name="TextBox 10">
            <a:extLst>
              <a:ext uri="{FF2B5EF4-FFF2-40B4-BE49-F238E27FC236}">
                <a16:creationId xmlns:a16="http://schemas.microsoft.com/office/drawing/2014/main" id="{D293BE4B-3558-672F-5056-A5E32C9A33F2}"/>
              </a:ext>
            </a:extLst>
          </p:cNvPr>
          <p:cNvSpPr txBox="1"/>
          <p:nvPr/>
        </p:nvSpPr>
        <p:spPr>
          <a:xfrm>
            <a:off x="2586726" y="1930329"/>
            <a:ext cx="6104020" cy="406265"/>
          </a:xfrm>
          <a:prstGeom prst="rect">
            <a:avLst/>
          </a:prstGeom>
          <a:noFill/>
        </p:spPr>
        <p:txBody>
          <a:bodyPr wrap="square">
            <a:spAutoFit/>
          </a:bodyPr>
          <a:lstStyle/>
          <a:p>
            <a:pPr>
              <a:lnSpc>
                <a:spcPct val="85000"/>
              </a:lnSpc>
            </a:pPr>
            <a:r>
              <a:rPr lang="en-US" sz="2400" noProof="1"/>
              <a:t>Role-Specific Structured Prompts</a:t>
            </a:r>
          </a:p>
        </p:txBody>
      </p:sp>
      <p:sp>
        <p:nvSpPr>
          <p:cNvPr id="13" name="TextBox 12">
            <a:extLst>
              <a:ext uri="{FF2B5EF4-FFF2-40B4-BE49-F238E27FC236}">
                <a16:creationId xmlns:a16="http://schemas.microsoft.com/office/drawing/2014/main" id="{602C61A8-6693-E21C-FCA7-10F01394EE0F}"/>
              </a:ext>
            </a:extLst>
          </p:cNvPr>
          <p:cNvSpPr txBox="1"/>
          <p:nvPr/>
        </p:nvSpPr>
        <p:spPr>
          <a:xfrm>
            <a:off x="2586726" y="3007411"/>
            <a:ext cx="6104020" cy="406265"/>
          </a:xfrm>
          <a:prstGeom prst="rect">
            <a:avLst/>
          </a:prstGeom>
          <a:noFill/>
        </p:spPr>
        <p:txBody>
          <a:bodyPr wrap="square">
            <a:spAutoFit/>
          </a:bodyPr>
          <a:lstStyle/>
          <a:p>
            <a:pPr>
              <a:lnSpc>
                <a:spcPct val="85000"/>
              </a:lnSpc>
            </a:pPr>
            <a:r>
              <a:rPr lang="en-US" sz="2400" noProof="1"/>
              <a:t>Chain-of-Thought Reasoning</a:t>
            </a:r>
          </a:p>
        </p:txBody>
      </p:sp>
      <p:sp>
        <p:nvSpPr>
          <p:cNvPr id="15" name="TextBox 14">
            <a:extLst>
              <a:ext uri="{FF2B5EF4-FFF2-40B4-BE49-F238E27FC236}">
                <a16:creationId xmlns:a16="http://schemas.microsoft.com/office/drawing/2014/main" id="{3521AA65-38A8-018B-E1E8-C0F735FE7EDD}"/>
              </a:ext>
            </a:extLst>
          </p:cNvPr>
          <p:cNvSpPr txBox="1"/>
          <p:nvPr/>
        </p:nvSpPr>
        <p:spPr>
          <a:xfrm>
            <a:off x="2586726" y="4134405"/>
            <a:ext cx="6104020" cy="406265"/>
          </a:xfrm>
          <a:prstGeom prst="rect">
            <a:avLst/>
          </a:prstGeom>
          <a:noFill/>
        </p:spPr>
        <p:txBody>
          <a:bodyPr wrap="square">
            <a:spAutoFit/>
          </a:bodyPr>
          <a:lstStyle/>
          <a:p>
            <a:pPr>
              <a:lnSpc>
                <a:spcPct val="85000"/>
              </a:lnSpc>
            </a:pPr>
            <a:r>
              <a:rPr lang="en-US" sz="2400" noProof="1"/>
              <a:t>Integration of Retrieval Context</a:t>
            </a:r>
          </a:p>
        </p:txBody>
      </p:sp>
    </p:spTree>
    <p:extLst>
      <p:ext uri="{BB962C8B-B14F-4D97-AF65-F5344CB8AC3E}">
        <p14:creationId xmlns:p14="http://schemas.microsoft.com/office/powerpoint/2010/main" val="927047310"/>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54A0223-9CC0-9C94-FB88-F53D5B7F4937}"/>
              </a:ext>
            </a:extLst>
          </p:cNvPr>
          <p:cNvSpPr>
            <a:spLocks noGrp="1"/>
          </p:cNvSpPr>
          <p:nvPr>
            <p:ph type="title"/>
          </p:nvPr>
        </p:nvSpPr>
        <p:spPr>
          <a:xfrm>
            <a:off x="417095" y="224589"/>
            <a:ext cx="10738585" cy="883921"/>
          </a:xfrm>
        </p:spPr>
        <p:txBody>
          <a:bodyPr>
            <a:normAutofit/>
          </a:bodyPr>
          <a:lstStyle/>
          <a:p>
            <a:pPr defTabSz="457200"/>
            <a:r>
              <a:rPr lang="en-US" sz="4400" b="1" dirty="0">
                <a:solidFill>
                  <a:srgbClr val="4299B6"/>
                </a:solidFill>
              </a:rPr>
              <a:t>Experimental</a:t>
            </a:r>
            <a:r>
              <a:rPr lang="en-US" sz="4400" b="1" dirty="0">
                <a:solidFill>
                  <a:schemeClr val="accent1"/>
                </a:solidFill>
              </a:rPr>
              <a:t> </a:t>
            </a:r>
            <a:r>
              <a:rPr lang="en-US" sz="4400" b="1" dirty="0">
                <a:solidFill>
                  <a:srgbClr val="4299B6"/>
                </a:solidFill>
              </a:rPr>
              <a:t>setup</a:t>
            </a:r>
          </a:p>
        </p:txBody>
      </p:sp>
      <p:sp>
        <p:nvSpPr>
          <p:cNvPr id="4" name="Content Placeholder 9">
            <a:extLst>
              <a:ext uri="{FF2B5EF4-FFF2-40B4-BE49-F238E27FC236}">
                <a16:creationId xmlns:a16="http://schemas.microsoft.com/office/drawing/2014/main" id="{963EFF6D-361F-A345-840D-E08F58586D45}"/>
              </a:ext>
            </a:extLst>
          </p:cNvPr>
          <p:cNvSpPr txBox="1">
            <a:spLocks/>
          </p:cNvSpPr>
          <p:nvPr>
            <p:custDataLst>
              <p:tags r:id="rId1"/>
            </p:custDataLst>
          </p:nvPr>
        </p:nvSpPr>
        <p:spPr>
          <a:xfrm>
            <a:off x="728875" y="1739591"/>
            <a:ext cx="3565524" cy="2486259"/>
          </a:xfrm>
          <a:prstGeom prst="rect">
            <a:avLst/>
          </a:prstGeom>
        </p:spPr>
        <p:txBody>
          <a:bodyPr vert="horz" lIns="91440" tIns="45720" rIns="91440" bIns="45720" rtlCol="0">
            <a:normAutofit/>
          </a:bodyPr>
          <a:lstStyle>
            <a:lvl1pPr marL="342900" indent="-342900" algn="l" defTabSz="457200" rtl="0" eaLnBrk="1" latinLnBrk="0" hangingPunct="1">
              <a:spcBef>
                <a:spcPts val="1000"/>
              </a:spcBef>
              <a:spcAft>
                <a:spcPts val="0"/>
              </a:spcAft>
              <a:buClr>
                <a:schemeClr val="accent1"/>
              </a:buClr>
              <a:buSzPct val="80000"/>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pPr marL="11113" indent="0" algn="just">
              <a:lnSpc>
                <a:spcPct val="125000"/>
              </a:lnSpc>
              <a:buNone/>
            </a:pPr>
            <a:r>
              <a:rPr lang="en-US" sz="1600" noProof="1"/>
              <a:t>The dataset comprises 194 scientific manuscripts modeled after conference-style peer review, with structured summaries and detailed human-evaluation scores across key dimensions such as soundness, presentation, and contribution.</a:t>
            </a:r>
          </a:p>
        </p:txBody>
      </p:sp>
      <p:sp>
        <p:nvSpPr>
          <p:cNvPr id="5" name="Content Placeholder 10">
            <a:extLst>
              <a:ext uri="{FF2B5EF4-FFF2-40B4-BE49-F238E27FC236}">
                <a16:creationId xmlns:a16="http://schemas.microsoft.com/office/drawing/2014/main" id="{AFB82DDB-B61B-0F7E-CF0D-35D41C0CB797}"/>
              </a:ext>
            </a:extLst>
          </p:cNvPr>
          <p:cNvSpPr txBox="1">
            <a:spLocks/>
          </p:cNvSpPr>
          <p:nvPr>
            <p:custDataLst>
              <p:tags r:id="rId2"/>
            </p:custDataLst>
          </p:nvPr>
        </p:nvSpPr>
        <p:spPr>
          <a:xfrm>
            <a:off x="4332077" y="4005531"/>
            <a:ext cx="3565525" cy="3216274"/>
          </a:xfrm>
          <a:prstGeom prst="rect">
            <a:avLst/>
          </a:prstGeom>
        </p:spPr>
        <p:txBody>
          <a:bodyPr>
            <a:normAutofit/>
          </a:bodyPr>
          <a:lstStyle>
            <a:lvl1pPr marL="342900" indent="-342900" algn="l" defTabSz="457200" rtl="0" eaLnBrk="1" latinLnBrk="0" hangingPunct="1">
              <a:spcBef>
                <a:spcPts val="1000"/>
              </a:spcBef>
              <a:spcAft>
                <a:spcPts val="0"/>
              </a:spcAft>
              <a:buClr>
                <a:schemeClr val="accent1"/>
              </a:buClr>
              <a:buSzPct val="80000"/>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pPr marL="11113" indent="0" algn="just">
              <a:lnSpc>
                <a:spcPct val="125000"/>
              </a:lnSpc>
              <a:buFont typeface="Wingdings 3" charset="2"/>
              <a:buNone/>
            </a:pPr>
            <a:r>
              <a:rPr lang="en-US" sz="1600" noProof="1"/>
              <a:t>Each paper includes normalized human scores for various criteria, enabling fine-grained analysis of quality. Annotations cover methodological rigor, clarity, novelty, and overall impact, reflecting the complexity of academic evaluation.</a:t>
            </a:r>
          </a:p>
        </p:txBody>
      </p:sp>
      <p:sp>
        <p:nvSpPr>
          <p:cNvPr id="6" name="Content Placeholder 11">
            <a:extLst>
              <a:ext uri="{FF2B5EF4-FFF2-40B4-BE49-F238E27FC236}">
                <a16:creationId xmlns:a16="http://schemas.microsoft.com/office/drawing/2014/main" id="{7D035FDC-AC74-89A7-81EF-F4E771EDDBF2}"/>
              </a:ext>
            </a:extLst>
          </p:cNvPr>
          <p:cNvSpPr txBox="1">
            <a:spLocks/>
          </p:cNvSpPr>
          <p:nvPr>
            <p:custDataLst>
              <p:tags r:id="rId3"/>
            </p:custDataLst>
          </p:nvPr>
        </p:nvSpPr>
        <p:spPr>
          <a:xfrm>
            <a:off x="7603187" y="1671687"/>
            <a:ext cx="3787470" cy="2234586"/>
          </a:xfrm>
          <a:prstGeom prst="rect">
            <a:avLst/>
          </a:prstGeom>
        </p:spPr>
        <p:txBody>
          <a:bodyPr>
            <a:normAutofit fontScale="92500" lnSpcReduction="10000"/>
          </a:bodyPr>
          <a:lstStyle>
            <a:lvl1pPr marL="342900" indent="-342900" algn="l" defTabSz="457200" rtl="0" eaLnBrk="1" latinLnBrk="0" hangingPunct="1">
              <a:spcBef>
                <a:spcPts val="1000"/>
              </a:spcBef>
              <a:spcAft>
                <a:spcPts val="0"/>
              </a:spcAft>
              <a:buClr>
                <a:schemeClr val="accent1"/>
              </a:buClr>
              <a:buSzPct val="80000"/>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pPr marL="11113" indent="0" algn="just">
              <a:lnSpc>
                <a:spcPct val="125000"/>
              </a:lnSpc>
              <a:buNone/>
            </a:pPr>
            <a:r>
              <a:rPr lang="en-US" sz="1600" dirty="0"/>
              <a:t>Papers cover a broad spectrum of fields, including computer vision, robotics, optimization, causal inference, recommender systems, fairness, and large language model systems, ensuring the robustness and generalizability of the proposed system across diverse scientific domains and distribution shifts</a:t>
            </a:r>
            <a:endParaRPr lang="en-US" sz="1600" noProof="1"/>
          </a:p>
        </p:txBody>
      </p:sp>
      <p:sp>
        <p:nvSpPr>
          <p:cNvPr id="7" name="Text Placeholder 12">
            <a:extLst>
              <a:ext uri="{FF2B5EF4-FFF2-40B4-BE49-F238E27FC236}">
                <a16:creationId xmlns:a16="http://schemas.microsoft.com/office/drawing/2014/main" id="{DA23C7F5-A541-3161-FAD6-6996FAE3A36B}"/>
              </a:ext>
            </a:extLst>
          </p:cNvPr>
          <p:cNvSpPr txBox="1">
            <a:spLocks/>
          </p:cNvSpPr>
          <p:nvPr>
            <p:custDataLst>
              <p:tags r:id="rId4"/>
            </p:custDataLst>
          </p:nvPr>
        </p:nvSpPr>
        <p:spPr>
          <a:xfrm>
            <a:off x="728875" y="1306454"/>
            <a:ext cx="3565525" cy="883920"/>
          </a:xfrm>
          <a:prstGeom prst="rect">
            <a:avLst/>
          </a:prstGeom>
        </p:spPr>
        <p:txBody>
          <a:bodyPr>
            <a:normAutofit/>
          </a:bodyPr>
          <a:lstStyle>
            <a:lvl1pPr marL="342900" indent="-342900" algn="l" defTabSz="457200" rtl="0" eaLnBrk="1" latinLnBrk="0" hangingPunct="1">
              <a:spcBef>
                <a:spcPts val="1000"/>
              </a:spcBef>
              <a:spcAft>
                <a:spcPts val="0"/>
              </a:spcAft>
              <a:buClr>
                <a:schemeClr val="accent1"/>
              </a:buClr>
              <a:buSzPct val="80000"/>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pPr marL="0" indent="0">
              <a:buNone/>
            </a:pPr>
            <a:r>
              <a:rPr lang="en-US" b="1" noProof="1">
                <a:solidFill>
                  <a:schemeClr val="tx2"/>
                </a:solidFill>
              </a:rPr>
              <a:t>Curated Peer-Review Corpus</a:t>
            </a:r>
          </a:p>
        </p:txBody>
      </p:sp>
      <p:sp>
        <p:nvSpPr>
          <p:cNvPr id="8" name="Text Placeholder 13">
            <a:extLst>
              <a:ext uri="{FF2B5EF4-FFF2-40B4-BE49-F238E27FC236}">
                <a16:creationId xmlns:a16="http://schemas.microsoft.com/office/drawing/2014/main" id="{440F6421-5A3D-013F-C604-B227CD15529D}"/>
              </a:ext>
            </a:extLst>
          </p:cNvPr>
          <p:cNvSpPr txBox="1">
            <a:spLocks/>
          </p:cNvSpPr>
          <p:nvPr>
            <p:custDataLst>
              <p:tags r:id="rId5"/>
            </p:custDataLst>
          </p:nvPr>
        </p:nvSpPr>
        <p:spPr>
          <a:xfrm>
            <a:off x="4332078" y="3618832"/>
            <a:ext cx="3565525" cy="883920"/>
          </a:xfrm>
          <a:prstGeom prst="rect">
            <a:avLst/>
          </a:prstGeom>
        </p:spPr>
        <p:txBody>
          <a:bodyPr>
            <a:normAutofit/>
          </a:bodyPr>
          <a:lstStyle>
            <a:lvl1pPr marL="342900" indent="-342900" algn="l" defTabSz="457200" rtl="0" eaLnBrk="1" latinLnBrk="0" hangingPunct="1">
              <a:spcBef>
                <a:spcPts val="1000"/>
              </a:spcBef>
              <a:spcAft>
                <a:spcPts val="0"/>
              </a:spcAft>
              <a:buClr>
                <a:schemeClr val="accent1"/>
              </a:buClr>
              <a:buSzPct val="80000"/>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pPr marL="0" indent="0">
              <a:buNone/>
            </a:pPr>
            <a:r>
              <a:rPr lang="en-US" b="1" noProof="1">
                <a:solidFill>
                  <a:schemeClr val="tx2"/>
                </a:solidFill>
              </a:rPr>
              <a:t>Multi-Dimensional Annotations</a:t>
            </a:r>
          </a:p>
        </p:txBody>
      </p:sp>
      <p:sp>
        <p:nvSpPr>
          <p:cNvPr id="9" name="Text Placeholder 14">
            <a:extLst>
              <a:ext uri="{FF2B5EF4-FFF2-40B4-BE49-F238E27FC236}">
                <a16:creationId xmlns:a16="http://schemas.microsoft.com/office/drawing/2014/main" id="{BCF9D80A-4F37-AB1A-2255-EAF3B0525EF9}"/>
              </a:ext>
            </a:extLst>
          </p:cNvPr>
          <p:cNvSpPr txBox="1">
            <a:spLocks/>
          </p:cNvSpPr>
          <p:nvPr>
            <p:custDataLst>
              <p:tags r:id="rId6"/>
            </p:custDataLst>
          </p:nvPr>
        </p:nvSpPr>
        <p:spPr>
          <a:xfrm>
            <a:off x="7838164" y="1306453"/>
            <a:ext cx="3787470" cy="875097"/>
          </a:xfrm>
          <a:prstGeom prst="rect">
            <a:avLst/>
          </a:prstGeom>
        </p:spPr>
        <p:txBody>
          <a:bodyPr>
            <a:normAutofit/>
          </a:bodyPr>
          <a:lstStyle>
            <a:lvl1pPr marL="342900" indent="-342900" algn="l" defTabSz="457200" rtl="0" eaLnBrk="1" latinLnBrk="0" hangingPunct="1">
              <a:spcBef>
                <a:spcPts val="1000"/>
              </a:spcBef>
              <a:spcAft>
                <a:spcPts val="0"/>
              </a:spcAft>
              <a:buClr>
                <a:schemeClr val="accent1"/>
              </a:buClr>
              <a:buSzPct val="80000"/>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pPr marL="0" indent="0">
              <a:buNone/>
            </a:pPr>
            <a:r>
              <a:rPr lang="en-US" b="1" noProof="1">
                <a:solidFill>
                  <a:schemeClr val="tx2"/>
                </a:solidFill>
              </a:rPr>
              <a:t>Heterogeneous Research Domains</a:t>
            </a:r>
          </a:p>
        </p:txBody>
      </p:sp>
    </p:spTree>
    <p:extLst>
      <p:ext uri="{BB962C8B-B14F-4D97-AF65-F5344CB8AC3E}">
        <p14:creationId xmlns:p14="http://schemas.microsoft.com/office/powerpoint/2010/main" val="3563836176"/>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60F6AF1-D1DA-FA32-0E7B-31C657991829}"/>
              </a:ext>
            </a:extLst>
          </p:cNvPr>
          <p:cNvSpPr>
            <a:spLocks noGrp="1"/>
          </p:cNvSpPr>
          <p:nvPr>
            <p:ph type="title"/>
          </p:nvPr>
        </p:nvSpPr>
        <p:spPr>
          <a:xfrm>
            <a:off x="638476" y="353819"/>
            <a:ext cx="10058400" cy="1450757"/>
          </a:xfrm>
        </p:spPr>
        <p:txBody>
          <a:bodyPr/>
          <a:lstStyle/>
          <a:p>
            <a:r>
              <a:rPr lang="en-US" b="1" dirty="0">
                <a:solidFill>
                  <a:srgbClr val="4299B6"/>
                </a:solidFill>
              </a:rPr>
              <a:t>Model</a:t>
            </a:r>
            <a:r>
              <a:rPr lang="en-US" b="1" dirty="0"/>
              <a:t> </a:t>
            </a:r>
            <a:r>
              <a:rPr lang="en-US" b="1" dirty="0">
                <a:solidFill>
                  <a:srgbClr val="4299B6"/>
                </a:solidFill>
              </a:rPr>
              <a:t>Configurations</a:t>
            </a:r>
          </a:p>
        </p:txBody>
      </p:sp>
      <p:pic>
        <p:nvPicPr>
          <p:cNvPr id="4" name="Google Shape;874;p100">
            <a:extLst>
              <a:ext uri="{FF2B5EF4-FFF2-40B4-BE49-F238E27FC236}">
                <a16:creationId xmlns:a16="http://schemas.microsoft.com/office/drawing/2014/main" id="{1C62D899-F2DE-1B3E-7EB2-8D8F8E46B27A}"/>
              </a:ext>
            </a:extLst>
          </p:cNvPr>
          <p:cNvPicPr preferRelativeResize="0"/>
          <p:nvPr>
            <p:custDataLst>
              <p:tags r:id="rId1"/>
            </p:custDataLst>
          </p:nvPr>
        </p:nvPicPr>
        <p:blipFill rotWithShape="1">
          <a:blip r:embed="rId14" cstate="screen">
            <a:alphaModFix amt="50000"/>
            <a:extLst>
              <a:ext uri="{28A0092B-C50C-407E-A947-70E740481C1C}">
                <a14:useLocalDpi xmlns:a14="http://schemas.microsoft.com/office/drawing/2010/main"/>
              </a:ext>
            </a:extLst>
          </a:blip>
          <a:srcRect/>
          <a:stretch/>
        </p:blipFill>
        <p:spPr>
          <a:xfrm>
            <a:off x="1141077" y="2234231"/>
            <a:ext cx="822960" cy="822960"/>
          </a:xfrm>
          <a:prstGeom prst="ellipse">
            <a:avLst/>
          </a:prstGeom>
          <a:noFill/>
          <a:ln>
            <a:noFill/>
          </a:ln>
        </p:spPr>
      </p:pic>
      <p:sp>
        <p:nvSpPr>
          <p:cNvPr id="6" name="Content Placeholder 25">
            <a:extLst>
              <a:ext uri="{FF2B5EF4-FFF2-40B4-BE49-F238E27FC236}">
                <a16:creationId xmlns:a16="http://schemas.microsoft.com/office/drawing/2014/main" id="{5A526AB1-BB11-D44E-5A40-B6802A9D32C3}"/>
              </a:ext>
            </a:extLst>
          </p:cNvPr>
          <p:cNvSpPr txBox="1">
            <a:spLocks/>
          </p:cNvSpPr>
          <p:nvPr>
            <p:custDataLst>
              <p:tags r:id="rId2"/>
            </p:custDataLst>
          </p:nvPr>
        </p:nvSpPr>
        <p:spPr>
          <a:xfrm>
            <a:off x="912160" y="3663616"/>
            <a:ext cx="3164623" cy="2733675"/>
          </a:xfrm>
          <a:prstGeom prst="rect">
            <a:avLst/>
          </a:prstGeom>
        </p:spPr>
        <p:txBody>
          <a:bodyPr vert="horz" lIns="0" tIns="45720" rIns="91440" bIns="45720" rtlCol="0">
            <a:normAutofit/>
          </a:bodyPr>
          <a:lstStyle>
            <a:lvl1pPr marL="342900" indent="-342900" algn="l" defTabSz="457200" rtl="0" eaLnBrk="1" latinLnBrk="0" hangingPunct="1">
              <a:spcBef>
                <a:spcPts val="1000"/>
              </a:spcBef>
              <a:spcAft>
                <a:spcPts val="0"/>
              </a:spcAft>
              <a:buClr>
                <a:schemeClr val="accent1"/>
              </a:buClr>
              <a:buSzPct val="80000"/>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pPr marL="11113" indent="0" algn="just">
              <a:lnSpc>
                <a:spcPct val="125000"/>
              </a:lnSpc>
              <a:buFont typeface="Wingdings 3" charset="2"/>
              <a:buNone/>
            </a:pPr>
            <a:r>
              <a:rPr lang="en-US" sz="1600" noProof="1">
                <a:solidFill>
                  <a:schemeClr val="tx2"/>
                </a:solidFill>
              </a:rPr>
              <a:t>The framework was tested on GPT-based, LLaMA-based, NVIDIA Nemotron, and Qwen models accessed via OpenRouter API to compare capabilities across architectures.</a:t>
            </a:r>
          </a:p>
        </p:txBody>
      </p:sp>
      <p:sp>
        <p:nvSpPr>
          <p:cNvPr id="7" name="Content Placeholder 27">
            <a:extLst>
              <a:ext uri="{FF2B5EF4-FFF2-40B4-BE49-F238E27FC236}">
                <a16:creationId xmlns:a16="http://schemas.microsoft.com/office/drawing/2014/main" id="{4AF70929-286E-1C6C-761F-D7D2F598CD0B}"/>
              </a:ext>
            </a:extLst>
          </p:cNvPr>
          <p:cNvSpPr txBox="1">
            <a:spLocks/>
          </p:cNvSpPr>
          <p:nvPr>
            <p:custDataLst>
              <p:tags r:id="rId3"/>
            </p:custDataLst>
          </p:nvPr>
        </p:nvSpPr>
        <p:spPr>
          <a:xfrm>
            <a:off x="4461794" y="3618532"/>
            <a:ext cx="3474720" cy="2160270"/>
          </a:xfrm>
          <a:prstGeom prst="rect">
            <a:avLst/>
          </a:prstGeom>
        </p:spPr>
        <p:txBody>
          <a:bodyPr lIns="0">
            <a:normAutofit/>
          </a:bodyPr>
          <a:lstStyle>
            <a:lvl1pPr marL="342900" indent="-342900" algn="l" defTabSz="457200" rtl="0" eaLnBrk="1" latinLnBrk="0" hangingPunct="1">
              <a:spcBef>
                <a:spcPts val="1000"/>
              </a:spcBef>
              <a:spcAft>
                <a:spcPts val="0"/>
              </a:spcAft>
              <a:buClr>
                <a:schemeClr val="accent1"/>
              </a:buClr>
              <a:buSzPct val="80000"/>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pPr marL="11113" indent="0" algn="just">
              <a:lnSpc>
                <a:spcPct val="125000"/>
              </a:lnSpc>
              <a:buFont typeface="Wingdings 3" charset="2"/>
              <a:buNone/>
            </a:pPr>
            <a:r>
              <a:rPr lang="en-US" sz="1600" noProof="1">
                <a:solidFill>
                  <a:schemeClr val="tx2"/>
                </a:solidFill>
              </a:rPr>
              <a:t>Controlled inference with low temperature, fixed token limits, standardized sampling, and consistent request frequency ensured reproducibility and minimized output variability.</a:t>
            </a:r>
          </a:p>
        </p:txBody>
      </p:sp>
      <p:sp>
        <p:nvSpPr>
          <p:cNvPr id="8" name="Content Placeholder 29">
            <a:extLst>
              <a:ext uri="{FF2B5EF4-FFF2-40B4-BE49-F238E27FC236}">
                <a16:creationId xmlns:a16="http://schemas.microsoft.com/office/drawing/2014/main" id="{2D302513-0E60-27B2-A46E-0E4B52C1B804}"/>
              </a:ext>
            </a:extLst>
          </p:cNvPr>
          <p:cNvSpPr txBox="1">
            <a:spLocks/>
          </p:cNvSpPr>
          <p:nvPr>
            <p:custDataLst>
              <p:tags r:id="rId4"/>
            </p:custDataLst>
          </p:nvPr>
        </p:nvSpPr>
        <p:spPr>
          <a:xfrm>
            <a:off x="8316628" y="3623294"/>
            <a:ext cx="3164623" cy="2733675"/>
          </a:xfrm>
          <a:prstGeom prst="rect">
            <a:avLst/>
          </a:prstGeom>
        </p:spPr>
        <p:txBody>
          <a:bodyPr lIns="0">
            <a:normAutofit/>
          </a:bodyPr>
          <a:lstStyle>
            <a:lvl1pPr marL="342900" indent="-342900" algn="l" defTabSz="457200" rtl="0" eaLnBrk="1" latinLnBrk="0" hangingPunct="1">
              <a:spcBef>
                <a:spcPts val="1000"/>
              </a:spcBef>
              <a:spcAft>
                <a:spcPts val="0"/>
              </a:spcAft>
              <a:buClr>
                <a:schemeClr val="accent1"/>
              </a:buClr>
              <a:buSzPct val="80000"/>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pPr marL="11113" indent="0" algn="just">
              <a:lnSpc>
                <a:spcPct val="125000"/>
              </a:lnSpc>
              <a:buFont typeface="Wingdings 3" charset="2"/>
              <a:buNone/>
            </a:pPr>
            <a:r>
              <a:rPr lang="en-US" sz="1600" noProof="1">
                <a:solidFill>
                  <a:schemeClr val="tx2"/>
                </a:solidFill>
              </a:rPr>
              <a:t>Pipeline orchestration and evaluation metrics ran locally while model inference leveraged cloud-based OpenRouter API, enabling efficient large-scale testing.</a:t>
            </a:r>
          </a:p>
        </p:txBody>
      </p:sp>
      <p:sp>
        <p:nvSpPr>
          <p:cNvPr id="9" name="Text Placeholder 12">
            <a:extLst>
              <a:ext uri="{FF2B5EF4-FFF2-40B4-BE49-F238E27FC236}">
                <a16:creationId xmlns:a16="http://schemas.microsoft.com/office/drawing/2014/main" id="{FAD98E0B-BD71-9BA8-1F88-884CAC91FAB7}"/>
              </a:ext>
            </a:extLst>
          </p:cNvPr>
          <p:cNvSpPr txBox="1">
            <a:spLocks/>
          </p:cNvSpPr>
          <p:nvPr>
            <p:custDataLst>
              <p:tags r:id="rId5"/>
            </p:custDataLst>
          </p:nvPr>
        </p:nvSpPr>
        <p:spPr>
          <a:xfrm>
            <a:off x="951021" y="3207252"/>
            <a:ext cx="3474720" cy="685800"/>
          </a:xfrm>
          <a:prstGeom prst="rect">
            <a:avLst/>
          </a:prstGeom>
        </p:spPr>
        <p:txBody>
          <a:bodyPr lIns="0" anchor="t">
            <a:normAutofit/>
          </a:bodyPr>
          <a:lstStyle>
            <a:lvl1pPr marL="342900" indent="-342900" algn="l" defTabSz="457200" rtl="0" eaLnBrk="1" latinLnBrk="0" hangingPunct="1">
              <a:spcBef>
                <a:spcPts val="1000"/>
              </a:spcBef>
              <a:spcAft>
                <a:spcPts val="0"/>
              </a:spcAft>
              <a:buClr>
                <a:schemeClr val="accent1"/>
              </a:buClr>
              <a:buSzPct val="80000"/>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pPr marL="0" indent="0">
              <a:lnSpc>
                <a:spcPct val="85000"/>
              </a:lnSpc>
              <a:buNone/>
            </a:pPr>
            <a:r>
              <a:rPr lang="en-US" b="1" noProof="1"/>
              <a:t>LLM Models Tested</a:t>
            </a:r>
          </a:p>
        </p:txBody>
      </p:sp>
      <p:sp>
        <p:nvSpPr>
          <p:cNvPr id="10" name="Text Placeholder 13">
            <a:extLst>
              <a:ext uri="{FF2B5EF4-FFF2-40B4-BE49-F238E27FC236}">
                <a16:creationId xmlns:a16="http://schemas.microsoft.com/office/drawing/2014/main" id="{1356D85A-47A7-E047-2C66-3351E4C27EC7}"/>
              </a:ext>
            </a:extLst>
          </p:cNvPr>
          <p:cNvSpPr txBox="1">
            <a:spLocks/>
          </p:cNvSpPr>
          <p:nvPr>
            <p:custDataLst>
              <p:tags r:id="rId6"/>
            </p:custDataLst>
          </p:nvPr>
        </p:nvSpPr>
        <p:spPr>
          <a:xfrm>
            <a:off x="4615798" y="3183556"/>
            <a:ext cx="3703638" cy="822960"/>
          </a:xfrm>
          <a:prstGeom prst="rect">
            <a:avLst/>
          </a:prstGeom>
        </p:spPr>
        <p:txBody>
          <a:bodyPr lIns="0" anchor="t">
            <a:normAutofit/>
          </a:bodyPr>
          <a:lstStyle>
            <a:lvl1pPr marL="342900" indent="-342900" algn="l" defTabSz="457200" rtl="0" eaLnBrk="1" latinLnBrk="0" hangingPunct="1">
              <a:spcBef>
                <a:spcPts val="1000"/>
              </a:spcBef>
              <a:spcAft>
                <a:spcPts val="0"/>
              </a:spcAft>
              <a:buClr>
                <a:schemeClr val="accent1"/>
              </a:buClr>
              <a:buSzPct val="80000"/>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pPr marL="0" indent="0">
              <a:lnSpc>
                <a:spcPct val="85000"/>
              </a:lnSpc>
              <a:buNone/>
            </a:pPr>
            <a:r>
              <a:rPr lang="en-US" b="1" noProof="1"/>
              <a:t>Inference Settings</a:t>
            </a:r>
          </a:p>
        </p:txBody>
      </p:sp>
      <p:sp>
        <p:nvSpPr>
          <p:cNvPr id="11" name="Text Placeholder 14">
            <a:extLst>
              <a:ext uri="{FF2B5EF4-FFF2-40B4-BE49-F238E27FC236}">
                <a16:creationId xmlns:a16="http://schemas.microsoft.com/office/drawing/2014/main" id="{7BAABB35-647C-E820-DA7D-2333480275D9}"/>
              </a:ext>
            </a:extLst>
          </p:cNvPr>
          <p:cNvSpPr txBox="1">
            <a:spLocks/>
          </p:cNvSpPr>
          <p:nvPr>
            <p:custDataLst>
              <p:tags r:id="rId7"/>
            </p:custDataLst>
          </p:nvPr>
        </p:nvSpPr>
        <p:spPr>
          <a:xfrm>
            <a:off x="8388333" y="3203892"/>
            <a:ext cx="3474720" cy="685800"/>
          </a:xfrm>
          <a:prstGeom prst="rect">
            <a:avLst/>
          </a:prstGeom>
        </p:spPr>
        <p:txBody>
          <a:bodyPr lIns="0" anchor="t">
            <a:normAutofit/>
          </a:bodyPr>
          <a:lstStyle>
            <a:lvl1pPr marL="342900" indent="-342900" algn="l" defTabSz="457200" rtl="0" eaLnBrk="1" latinLnBrk="0" hangingPunct="1">
              <a:spcBef>
                <a:spcPts val="1000"/>
              </a:spcBef>
              <a:spcAft>
                <a:spcPts val="0"/>
              </a:spcAft>
              <a:buClr>
                <a:schemeClr val="accent1"/>
              </a:buClr>
              <a:buSzPct val="80000"/>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pPr marL="0" indent="0">
              <a:lnSpc>
                <a:spcPct val="85000"/>
              </a:lnSpc>
              <a:buNone/>
            </a:pPr>
            <a:r>
              <a:rPr lang="en-US" b="1" noProof="1"/>
              <a:t>Execution Environment</a:t>
            </a:r>
          </a:p>
        </p:txBody>
      </p:sp>
      <p:pic>
        <p:nvPicPr>
          <p:cNvPr id="13" name="Google Shape;869;p100">
            <a:extLst>
              <a:ext uri="{FF2B5EF4-FFF2-40B4-BE49-F238E27FC236}">
                <a16:creationId xmlns:a16="http://schemas.microsoft.com/office/drawing/2014/main" id="{797E4A23-BE94-FAAB-DB3F-98EC658347C2}"/>
              </a:ext>
            </a:extLst>
          </p:cNvPr>
          <p:cNvPicPr preferRelativeResize="0"/>
          <p:nvPr>
            <p:custDataLst>
              <p:tags r:id="rId8"/>
            </p:custDataLst>
          </p:nvPr>
        </p:nvPicPr>
        <p:blipFill rotWithShape="1">
          <a:blip r:embed="rId15" cstate="screen">
            <a:alphaModFix amt="60000"/>
            <a:extLst>
              <a:ext uri="{28A0092B-C50C-407E-A947-70E740481C1C}">
                <a14:useLocalDpi xmlns:a14="http://schemas.microsoft.com/office/drawing/2010/main"/>
              </a:ext>
            </a:extLst>
          </a:blip>
          <a:srcRect/>
          <a:stretch/>
        </p:blipFill>
        <p:spPr>
          <a:xfrm>
            <a:off x="4844716" y="2234231"/>
            <a:ext cx="822960" cy="822960"/>
          </a:xfrm>
          <a:prstGeom prst="ellipse">
            <a:avLst/>
          </a:prstGeom>
          <a:noFill/>
          <a:ln>
            <a:noFill/>
          </a:ln>
        </p:spPr>
      </p:pic>
      <p:pic>
        <p:nvPicPr>
          <p:cNvPr id="14" name="Google Shape;873;p100">
            <a:extLst>
              <a:ext uri="{FF2B5EF4-FFF2-40B4-BE49-F238E27FC236}">
                <a16:creationId xmlns:a16="http://schemas.microsoft.com/office/drawing/2014/main" id="{62D11FD9-4A8A-15F3-0C9C-D4EF3F2CEFF8}"/>
              </a:ext>
            </a:extLst>
          </p:cNvPr>
          <p:cNvPicPr preferRelativeResize="0"/>
          <p:nvPr>
            <p:custDataLst>
              <p:tags r:id="rId9"/>
            </p:custDataLst>
          </p:nvPr>
        </p:nvPicPr>
        <p:blipFill rotWithShape="1">
          <a:blip r:embed="rId16" cstate="screen">
            <a:alphaModFix amt="65000"/>
            <a:extLst>
              <a:ext uri="{28A0092B-C50C-407E-A947-70E740481C1C}">
                <a14:useLocalDpi xmlns:a14="http://schemas.microsoft.com/office/drawing/2010/main"/>
              </a:ext>
            </a:extLst>
          </a:blip>
          <a:srcRect/>
          <a:stretch/>
        </p:blipFill>
        <p:spPr>
          <a:xfrm>
            <a:off x="8388333" y="2199941"/>
            <a:ext cx="822960" cy="822960"/>
          </a:xfrm>
          <a:prstGeom prst="ellipse">
            <a:avLst/>
          </a:prstGeom>
          <a:noFill/>
          <a:ln>
            <a:noFill/>
          </a:ln>
        </p:spPr>
      </p:pic>
      <p:pic>
        <p:nvPicPr>
          <p:cNvPr id="15" name="Graphic 14">
            <a:extLst>
              <a:ext uri="{FF2B5EF4-FFF2-40B4-BE49-F238E27FC236}">
                <a16:creationId xmlns:a16="http://schemas.microsoft.com/office/drawing/2014/main" id="{C5611A4B-259B-53EF-D9D7-9A6069A8D8E0}"/>
              </a:ext>
            </a:extLst>
          </p:cNvPr>
          <p:cNvPicPr>
            <a:picLocks noChangeAspect="1"/>
          </p:cNvPicPr>
          <p:nvPr>
            <p:custDataLst>
              <p:tags r:id="rId10"/>
            </p:custDataLst>
          </p:nvPr>
        </p:nvPicPr>
        <p:blipFill>
          <a:blip>
            <a:extLst>
              <a:ext uri="{96DAC541-7B7A-43D3-8B79-37D633B846F1}">
                <asvg:svgBlip xmlns:asvg="http://schemas.microsoft.com/office/drawing/2016/SVG/main" r:embed="rId17"/>
              </a:ext>
            </a:extLst>
          </a:blip>
          <a:stretch>
            <a:fillRect/>
          </a:stretch>
        </p:blipFill>
        <p:spPr>
          <a:xfrm>
            <a:off x="1392538" y="2485691"/>
            <a:ext cx="320040" cy="320040"/>
          </a:xfrm>
          <a:prstGeom prst="rect">
            <a:avLst/>
          </a:prstGeom>
        </p:spPr>
      </p:pic>
      <p:pic>
        <p:nvPicPr>
          <p:cNvPr id="16" name="Graphic 15">
            <a:extLst>
              <a:ext uri="{FF2B5EF4-FFF2-40B4-BE49-F238E27FC236}">
                <a16:creationId xmlns:a16="http://schemas.microsoft.com/office/drawing/2014/main" id="{1E1607FA-9B7A-A131-2F28-748596070526}"/>
              </a:ext>
            </a:extLst>
          </p:cNvPr>
          <p:cNvPicPr>
            <a:picLocks noChangeAspect="1"/>
          </p:cNvPicPr>
          <p:nvPr>
            <p:custDataLst>
              <p:tags r:id="rId11"/>
            </p:custDataLst>
          </p:nvPr>
        </p:nvPicPr>
        <p:blipFill>
          <a:blip>
            <a:extLst>
              <a:ext uri="{96DAC541-7B7A-43D3-8B79-37D633B846F1}">
                <asvg:svgBlip xmlns:asvg="http://schemas.microsoft.com/office/drawing/2016/SVG/main" r:embed="rId18"/>
              </a:ext>
            </a:extLst>
          </a:blip>
          <a:stretch>
            <a:fillRect/>
          </a:stretch>
        </p:blipFill>
        <p:spPr>
          <a:xfrm>
            <a:off x="5096175" y="2485691"/>
            <a:ext cx="320040" cy="320040"/>
          </a:xfrm>
          <a:prstGeom prst="rect">
            <a:avLst/>
          </a:prstGeom>
        </p:spPr>
      </p:pic>
      <p:pic>
        <p:nvPicPr>
          <p:cNvPr id="17" name="Graphic 16">
            <a:extLst>
              <a:ext uri="{FF2B5EF4-FFF2-40B4-BE49-F238E27FC236}">
                <a16:creationId xmlns:a16="http://schemas.microsoft.com/office/drawing/2014/main" id="{09D1718A-42C5-A428-7952-E094C954712F}"/>
              </a:ext>
            </a:extLst>
          </p:cNvPr>
          <p:cNvPicPr>
            <a:picLocks noChangeAspect="1"/>
          </p:cNvPicPr>
          <p:nvPr>
            <p:custDataLst>
              <p:tags r:id="rId12"/>
            </p:custDataLst>
          </p:nvPr>
        </p:nvPicPr>
        <p:blipFill>
          <a:blip>
            <a:extLst>
              <a:ext uri="{96DAC541-7B7A-43D3-8B79-37D633B846F1}">
                <asvg:svgBlip xmlns:asvg="http://schemas.microsoft.com/office/drawing/2016/SVG/main" r:embed="rId19"/>
              </a:ext>
            </a:extLst>
          </a:blip>
          <a:stretch>
            <a:fillRect/>
          </a:stretch>
        </p:blipFill>
        <p:spPr>
          <a:xfrm>
            <a:off x="8799813" y="2485691"/>
            <a:ext cx="320040" cy="320040"/>
          </a:xfrm>
          <a:prstGeom prst="rect">
            <a:avLst/>
          </a:prstGeom>
        </p:spPr>
      </p:pic>
    </p:spTree>
    <p:extLst>
      <p:ext uri="{BB962C8B-B14F-4D97-AF65-F5344CB8AC3E}">
        <p14:creationId xmlns:p14="http://schemas.microsoft.com/office/powerpoint/2010/main" val="2701627460"/>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94323FA-E941-4279-6DB3-CE4ED29FBD4B}"/>
              </a:ext>
            </a:extLst>
          </p:cNvPr>
          <p:cNvSpPr>
            <a:spLocks noGrp="1"/>
          </p:cNvSpPr>
          <p:nvPr>
            <p:ph type="title"/>
          </p:nvPr>
        </p:nvSpPr>
        <p:spPr/>
        <p:txBody>
          <a:bodyPr/>
          <a:lstStyle/>
          <a:p>
            <a:r>
              <a:rPr lang="en-US" dirty="0"/>
              <a:t>Evaluation metrics</a:t>
            </a:r>
          </a:p>
        </p:txBody>
      </p:sp>
      <p:sp>
        <p:nvSpPr>
          <p:cNvPr id="3" name="Content Placeholder 2">
            <a:extLst>
              <a:ext uri="{FF2B5EF4-FFF2-40B4-BE49-F238E27FC236}">
                <a16:creationId xmlns:a16="http://schemas.microsoft.com/office/drawing/2014/main" id="{F66F87E1-B74D-BBB0-032D-4C66E7CC810F}"/>
              </a:ext>
            </a:extLst>
          </p:cNvPr>
          <p:cNvSpPr>
            <a:spLocks noGrp="1"/>
          </p:cNvSpPr>
          <p:nvPr>
            <p:ph sz="half" idx="1"/>
          </p:nvPr>
        </p:nvSpPr>
        <p:spPr>
          <a:xfrm>
            <a:off x="677334" y="1791621"/>
            <a:ext cx="4184035" cy="3880772"/>
          </a:xfrm>
        </p:spPr>
        <p:txBody>
          <a:bodyPr>
            <a:normAutofit/>
          </a:bodyPr>
          <a:lstStyle/>
          <a:p>
            <a:r>
              <a:rPr lang="en-US" sz="2000" dirty="0"/>
              <a:t>Error-Based Metrics</a:t>
            </a:r>
          </a:p>
          <a:p>
            <a:pPr lvl="1">
              <a:buFont typeface="Wingdings" panose="05000000000000000000" pitchFamily="2" charset="2"/>
              <a:buChar char="q"/>
            </a:pPr>
            <a:r>
              <a:rPr lang="en-US" sz="1800" dirty="0"/>
              <a:t> Mean Absolute Error (MAE)</a:t>
            </a:r>
          </a:p>
          <a:p>
            <a:pPr lvl="1">
              <a:buFont typeface="Wingdings" panose="05000000000000000000" pitchFamily="2" charset="2"/>
              <a:buChar char="q"/>
            </a:pPr>
            <a:r>
              <a:rPr lang="en-US" sz="1800" dirty="0"/>
              <a:t>Root Mean Squared Error (RMSE)</a:t>
            </a:r>
          </a:p>
          <a:p>
            <a:pPr marL="457200" lvl="1" indent="0">
              <a:buNone/>
            </a:pPr>
            <a:endParaRPr lang="en-US" sz="1800" dirty="0"/>
          </a:p>
          <a:p>
            <a:r>
              <a:rPr lang="en-US" sz="2000" dirty="0"/>
              <a:t> Correlation-Based Metrics </a:t>
            </a:r>
          </a:p>
          <a:p>
            <a:pPr lvl="1">
              <a:buFont typeface="Wingdings" panose="05000000000000000000" pitchFamily="2" charset="2"/>
              <a:buChar char="q"/>
            </a:pPr>
            <a:r>
              <a:rPr lang="en-US" sz="1800" dirty="0"/>
              <a:t>Pearson Correlation</a:t>
            </a:r>
          </a:p>
          <a:p>
            <a:pPr lvl="1">
              <a:buFont typeface="Wingdings" panose="05000000000000000000" pitchFamily="2" charset="2"/>
              <a:buChar char="q"/>
            </a:pPr>
            <a:r>
              <a:rPr lang="en-US" sz="1800" dirty="0"/>
              <a:t>Spearman Correlation</a:t>
            </a:r>
          </a:p>
        </p:txBody>
      </p:sp>
      <p:sp>
        <p:nvSpPr>
          <p:cNvPr id="6" name="Content Placeholder 5">
            <a:extLst>
              <a:ext uri="{FF2B5EF4-FFF2-40B4-BE49-F238E27FC236}">
                <a16:creationId xmlns:a16="http://schemas.microsoft.com/office/drawing/2014/main" id="{46FD8E83-8493-E2CB-3331-597895BA69DC}"/>
              </a:ext>
            </a:extLst>
          </p:cNvPr>
          <p:cNvSpPr>
            <a:spLocks noGrp="1"/>
          </p:cNvSpPr>
          <p:nvPr>
            <p:ph sz="half" idx="2"/>
          </p:nvPr>
        </p:nvSpPr>
        <p:spPr>
          <a:xfrm>
            <a:off x="5089968" y="1791620"/>
            <a:ext cx="4184034" cy="3880773"/>
          </a:xfrm>
        </p:spPr>
        <p:txBody>
          <a:bodyPr>
            <a:normAutofit/>
          </a:bodyPr>
          <a:lstStyle/>
          <a:p>
            <a:r>
              <a:rPr lang="en-US" sz="2000" dirty="0"/>
              <a:t> Ranking-Based Evaluation </a:t>
            </a:r>
          </a:p>
          <a:p>
            <a:pPr lvl="1">
              <a:buFont typeface="Wingdings" panose="05000000000000000000" pitchFamily="2" charset="2"/>
              <a:buChar char="q"/>
            </a:pPr>
            <a:r>
              <a:rPr lang="en-US" sz="1800" dirty="0"/>
              <a:t>Pairwise Ranking</a:t>
            </a:r>
          </a:p>
          <a:p>
            <a:pPr lvl="1">
              <a:buFont typeface="Wingdings" panose="05000000000000000000" pitchFamily="2" charset="2"/>
              <a:buChar char="q"/>
            </a:pPr>
            <a:r>
              <a:rPr lang="en-US" sz="1800" dirty="0"/>
              <a:t>Kendall’s Tau</a:t>
            </a:r>
          </a:p>
          <a:p>
            <a:pPr marL="457200" lvl="1" indent="0">
              <a:buNone/>
            </a:pPr>
            <a:endParaRPr lang="en-US" sz="1800" dirty="0"/>
          </a:p>
          <a:p>
            <a:r>
              <a:rPr lang="en-US" sz="2000" dirty="0"/>
              <a:t> Variance for Within-Group </a:t>
            </a:r>
          </a:p>
          <a:p>
            <a:pPr lvl="1">
              <a:buFont typeface="Wingdings" panose="05000000000000000000" pitchFamily="2" charset="2"/>
              <a:buChar char="q"/>
            </a:pPr>
            <a:r>
              <a:rPr lang="en-US" sz="1800" dirty="0"/>
              <a:t>Standard Variance</a:t>
            </a:r>
          </a:p>
          <a:p>
            <a:endParaRPr lang="en-US" dirty="0"/>
          </a:p>
        </p:txBody>
      </p:sp>
    </p:spTree>
    <p:extLst>
      <p:ext uri="{BB962C8B-B14F-4D97-AF65-F5344CB8AC3E}">
        <p14:creationId xmlns:p14="http://schemas.microsoft.com/office/powerpoint/2010/main" val="2526138188"/>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5BB5CD4-045E-E24B-2CBF-08A28F2D4DE2}"/>
              </a:ext>
            </a:extLst>
          </p:cNvPr>
          <p:cNvSpPr>
            <a:spLocks noGrp="1"/>
          </p:cNvSpPr>
          <p:nvPr>
            <p:ph type="title"/>
          </p:nvPr>
        </p:nvSpPr>
        <p:spPr/>
        <p:txBody>
          <a:bodyPr/>
          <a:lstStyle/>
          <a:p>
            <a:r>
              <a:rPr lang="en-US" dirty="0"/>
              <a:t>Comparative analysis of Muti-Agent framework</a:t>
            </a:r>
          </a:p>
        </p:txBody>
      </p:sp>
      <p:sp>
        <p:nvSpPr>
          <p:cNvPr id="3" name="Content Placeholder 2">
            <a:extLst>
              <a:ext uri="{FF2B5EF4-FFF2-40B4-BE49-F238E27FC236}">
                <a16:creationId xmlns:a16="http://schemas.microsoft.com/office/drawing/2014/main" id="{74ACEAE6-B841-AF17-B53D-1682FF561089}"/>
              </a:ext>
            </a:extLst>
          </p:cNvPr>
          <p:cNvSpPr>
            <a:spLocks noGrp="1"/>
          </p:cNvSpPr>
          <p:nvPr>
            <p:ph idx="1"/>
          </p:nvPr>
        </p:nvSpPr>
        <p:spPr/>
        <p:txBody>
          <a:bodyPr>
            <a:normAutofit/>
          </a:bodyPr>
          <a:lstStyle/>
          <a:p>
            <a:r>
              <a:rPr lang="en-US" sz="2400" dirty="0"/>
              <a:t>Baselines Frameworks</a:t>
            </a:r>
          </a:p>
          <a:p>
            <a:r>
              <a:rPr lang="en-US" sz="2400" dirty="0"/>
              <a:t>Holistic Ranking Evaluation</a:t>
            </a:r>
          </a:p>
          <a:p>
            <a:r>
              <a:rPr lang="en-US" sz="2400" dirty="0"/>
              <a:t>Correlation analysis</a:t>
            </a:r>
          </a:p>
          <a:p>
            <a:r>
              <a:rPr lang="en-US" sz="2400" dirty="0"/>
              <a:t>Ablation study</a:t>
            </a:r>
          </a:p>
        </p:txBody>
      </p:sp>
    </p:spTree>
    <p:extLst>
      <p:ext uri="{BB962C8B-B14F-4D97-AF65-F5344CB8AC3E}">
        <p14:creationId xmlns:p14="http://schemas.microsoft.com/office/powerpoint/2010/main" val="931635324"/>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CF188EF-D9F3-A65E-2321-E0210A49A819}"/>
              </a:ext>
            </a:extLst>
          </p:cNvPr>
          <p:cNvSpPr>
            <a:spLocks noGrp="1"/>
          </p:cNvSpPr>
          <p:nvPr>
            <p:ph type="title"/>
          </p:nvPr>
        </p:nvSpPr>
        <p:spPr/>
        <p:txBody>
          <a:bodyPr/>
          <a:lstStyle/>
          <a:p>
            <a:r>
              <a:rPr lang="en-US" dirty="0"/>
              <a:t>Baselines Framework</a:t>
            </a:r>
          </a:p>
        </p:txBody>
      </p:sp>
      <p:sp>
        <p:nvSpPr>
          <p:cNvPr id="3" name="Content Placeholder 2">
            <a:extLst>
              <a:ext uri="{FF2B5EF4-FFF2-40B4-BE49-F238E27FC236}">
                <a16:creationId xmlns:a16="http://schemas.microsoft.com/office/drawing/2014/main" id="{C80E40B3-6E6E-7A9A-D07A-7C55E20445A7}"/>
              </a:ext>
            </a:extLst>
          </p:cNvPr>
          <p:cNvSpPr>
            <a:spLocks noGrp="1"/>
          </p:cNvSpPr>
          <p:nvPr>
            <p:ph idx="1"/>
          </p:nvPr>
        </p:nvSpPr>
        <p:spPr>
          <a:xfrm>
            <a:off x="677334" y="1459833"/>
            <a:ext cx="9012098" cy="4581530"/>
          </a:xfrm>
        </p:spPr>
        <p:txBody>
          <a:bodyPr>
            <a:normAutofit/>
          </a:bodyPr>
          <a:lstStyle/>
          <a:p>
            <a:pPr marL="0" indent="0">
              <a:buNone/>
            </a:pPr>
            <a:r>
              <a:rPr lang="en-US" sz="2000" b="1" dirty="0"/>
              <a:t>Rule-Based Semantic Evaluation</a:t>
            </a:r>
          </a:p>
          <a:p>
            <a:pPr marL="0" indent="0">
              <a:buNone/>
            </a:pPr>
            <a:r>
              <a:rPr lang="en-US" sz="2000" noProof="1"/>
              <a:t>	</a:t>
            </a:r>
            <a:r>
              <a:rPr lang="en-US" sz="2000" u="sng" noProof="1"/>
              <a:t>SEA-E: </a:t>
            </a:r>
            <a:r>
              <a:rPr lang="en-US" sz="2000" noProof="1">
                <a:solidFill>
                  <a:schemeClr val="tx2"/>
                </a:solidFill>
              </a:rPr>
              <a:t>Uses heuristic scoring and semantic similarity to evaluate research papers based on predefined rules. It offers consistent outputs but lacks a nuanced understanding of novelty and methodology.</a:t>
            </a:r>
            <a:endParaRPr lang="en-US" sz="2000" b="1" noProof="1">
              <a:solidFill>
                <a:schemeClr val="tx2"/>
              </a:solidFill>
            </a:endParaRPr>
          </a:p>
          <a:p>
            <a:pPr marL="0" indent="0">
              <a:buNone/>
            </a:pPr>
            <a:endParaRPr lang="en-US" sz="2000" b="1" dirty="0"/>
          </a:p>
          <a:p>
            <a:pPr marL="0" indent="0">
              <a:buNone/>
            </a:pPr>
            <a:r>
              <a:rPr lang="en-US" sz="2000" b="1" dirty="0"/>
              <a:t>Structured Pre-Agentic Review Frameworks</a:t>
            </a:r>
          </a:p>
          <a:p>
            <a:pPr marL="0" indent="0">
              <a:buNone/>
            </a:pPr>
            <a:r>
              <a:rPr lang="en-US" sz="2000" b="1" dirty="0"/>
              <a:t>	</a:t>
            </a:r>
            <a:r>
              <a:rPr lang="en-US" sz="2000" noProof="1"/>
              <a:t> </a:t>
            </a:r>
            <a:r>
              <a:rPr lang="en-US" sz="2000" u="sng" noProof="1"/>
              <a:t>TreeReview </a:t>
            </a:r>
            <a:r>
              <a:rPr lang="en-US" sz="2000" noProof="1"/>
              <a:t>: </a:t>
            </a:r>
            <a:r>
              <a:rPr lang="en-US" sz="2000" noProof="1">
                <a:solidFill>
                  <a:schemeClr val="tx2"/>
                </a:solidFill>
              </a:rPr>
              <a:t>Organizes paper review as a hierarchical decision tree with clear modularity and interpretability but is limited by rigid rules and lacks advanced reasoning capabilities.</a:t>
            </a:r>
          </a:p>
          <a:p>
            <a:pPr marL="0" indent="0">
              <a:buNone/>
            </a:pPr>
            <a:endParaRPr lang="en-US" sz="2000" b="1" dirty="0"/>
          </a:p>
          <a:p>
            <a:pPr marL="0" indent="0">
              <a:buNone/>
            </a:pPr>
            <a:endParaRPr lang="en-US" sz="2000" b="1" dirty="0"/>
          </a:p>
        </p:txBody>
      </p:sp>
    </p:spTree>
    <p:extLst>
      <p:ext uri="{BB962C8B-B14F-4D97-AF65-F5344CB8AC3E}">
        <p14:creationId xmlns:p14="http://schemas.microsoft.com/office/powerpoint/2010/main" val="1097076446"/>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364864D-2248-CBD2-5FCD-28DAEE55A61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2C0C775-D630-2088-685B-C1147FF8E4BB}"/>
              </a:ext>
            </a:extLst>
          </p:cNvPr>
          <p:cNvSpPr>
            <a:spLocks noGrp="1"/>
          </p:cNvSpPr>
          <p:nvPr>
            <p:ph type="title"/>
          </p:nvPr>
        </p:nvSpPr>
        <p:spPr/>
        <p:txBody>
          <a:bodyPr/>
          <a:lstStyle/>
          <a:p>
            <a:r>
              <a:rPr lang="en-US" dirty="0"/>
              <a:t>Baselines Framework</a:t>
            </a:r>
          </a:p>
        </p:txBody>
      </p:sp>
      <p:sp>
        <p:nvSpPr>
          <p:cNvPr id="3" name="Content Placeholder 2">
            <a:extLst>
              <a:ext uri="{FF2B5EF4-FFF2-40B4-BE49-F238E27FC236}">
                <a16:creationId xmlns:a16="http://schemas.microsoft.com/office/drawing/2014/main" id="{47E1AD98-C6F2-ECF1-EAE5-627AA8464A1E}"/>
              </a:ext>
            </a:extLst>
          </p:cNvPr>
          <p:cNvSpPr>
            <a:spLocks noGrp="1"/>
          </p:cNvSpPr>
          <p:nvPr>
            <p:ph idx="1"/>
          </p:nvPr>
        </p:nvSpPr>
        <p:spPr>
          <a:xfrm>
            <a:off x="677334" y="1395663"/>
            <a:ext cx="9012098" cy="4645700"/>
          </a:xfrm>
        </p:spPr>
        <p:txBody>
          <a:bodyPr>
            <a:normAutofit/>
          </a:bodyPr>
          <a:lstStyle/>
          <a:p>
            <a:pPr marL="0" indent="0">
              <a:buNone/>
            </a:pPr>
            <a:r>
              <a:rPr lang="en-US" sz="2000" b="1" dirty="0"/>
              <a:t>Early Single-Agent LLM Reviewer</a:t>
            </a:r>
          </a:p>
          <a:p>
            <a:pPr marL="0" indent="0">
              <a:buNone/>
            </a:pPr>
            <a:r>
              <a:rPr lang="en-US" sz="2000" b="1" dirty="0"/>
              <a:t>	</a:t>
            </a:r>
            <a:r>
              <a:rPr lang="en-US" sz="2000" u="sng" dirty="0"/>
              <a:t>Zero-Shot Prompting </a:t>
            </a:r>
            <a:r>
              <a:rPr lang="en-US" sz="2000" b="1" dirty="0"/>
              <a:t>: </a:t>
            </a:r>
            <a:r>
              <a:rPr lang="en-US" sz="2000" dirty="0"/>
              <a:t>It enables a model to perform evaluation tasks without relying on task-specific training examples, instead leveraging its pre-trained knowledge and generalization capability. In the context of peer review, it generates direct assessments based solely on the input manuscript but may lack depth and consistency due to the absence of guided reasoning or structured decomposition.</a:t>
            </a:r>
          </a:p>
          <a:p>
            <a:pPr marL="0" indent="0">
              <a:buNone/>
            </a:pPr>
            <a:r>
              <a:rPr lang="en-US" sz="2000" b="1" dirty="0"/>
              <a:t>	</a:t>
            </a:r>
            <a:r>
              <a:rPr lang="en-US" sz="2000" u="sng" dirty="0"/>
              <a:t>Chain-of-Thought (</a:t>
            </a:r>
            <a:r>
              <a:rPr lang="en-US" sz="2000" u="sng" dirty="0" err="1"/>
              <a:t>CoT</a:t>
            </a:r>
            <a:r>
              <a:rPr lang="en-US" sz="2000" u="sng" dirty="0"/>
              <a:t>) Prompting: </a:t>
            </a:r>
            <a:r>
              <a:rPr lang="en-US" sz="2000" dirty="0"/>
              <a:t>It encourages the model to produce explicit intermediate reasoning steps before arriving at a final decision, thereby improving performance on complex analytical tasks. In evaluation settings, it enhances interpretability and reasoning quality; however, it can still produce inconsistent or verbose outputs without structured control mechanisms.</a:t>
            </a:r>
          </a:p>
          <a:p>
            <a:pPr marL="0" indent="0">
              <a:buNone/>
            </a:pPr>
            <a:endParaRPr lang="en-US" sz="2000" b="1" dirty="0"/>
          </a:p>
          <a:p>
            <a:pPr marL="0" indent="0">
              <a:buNone/>
            </a:pPr>
            <a:endParaRPr lang="en-US" sz="2000" b="1" dirty="0"/>
          </a:p>
        </p:txBody>
      </p:sp>
    </p:spTree>
    <p:extLst>
      <p:ext uri="{BB962C8B-B14F-4D97-AF65-F5344CB8AC3E}">
        <p14:creationId xmlns:p14="http://schemas.microsoft.com/office/powerpoint/2010/main" val="3670773769"/>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88239A3-27D5-B831-B2CD-D7950517F8E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2542429-03C2-7F6B-FBA1-0013FFD045CF}"/>
              </a:ext>
            </a:extLst>
          </p:cNvPr>
          <p:cNvSpPr>
            <a:spLocks noGrp="1"/>
          </p:cNvSpPr>
          <p:nvPr>
            <p:ph type="title"/>
          </p:nvPr>
        </p:nvSpPr>
        <p:spPr>
          <a:xfrm>
            <a:off x="548997" y="254000"/>
            <a:ext cx="8596668" cy="1320800"/>
          </a:xfrm>
        </p:spPr>
        <p:txBody>
          <a:bodyPr/>
          <a:lstStyle/>
          <a:p>
            <a:r>
              <a:rPr lang="en-US" dirty="0"/>
              <a:t>Baselines Framework</a:t>
            </a:r>
          </a:p>
        </p:txBody>
      </p:sp>
      <p:sp>
        <p:nvSpPr>
          <p:cNvPr id="3" name="Content Placeholder 2">
            <a:extLst>
              <a:ext uri="{FF2B5EF4-FFF2-40B4-BE49-F238E27FC236}">
                <a16:creationId xmlns:a16="http://schemas.microsoft.com/office/drawing/2014/main" id="{06FD932F-3803-9754-4FD1-ED235D7EB6DD}"/>
              </a:ext>
            </a:extLst>
          </p:cNvPr>
          <p:cNvSpPr>
            <a:spLocks noGrp="1"/>
          </p:cNvSpPr>
          <p:nvPr>
            <p:ph idx="1"/>
          </p:nvPr>
        </p:nvSpPr>
        <p:spPr>
          <a:xfrm>
            <a:off x="677334" y="1106905"/>
            <a:ext cx="9012098" cy="5126963"/>
          </a:xfrm>
        </p:spPr>
        <p:txBody>
          <a:bodyPr>
            <a:normAutofit/>
          </a:bodyPr>
          <a:lstStyle/>
          <a:p>
            <a:pPr marL="0" indent="0">
              <a:buNone/>
            </a:pPr>
            <a:r>
              <a:rPr lang="en-US" sz="2000" u="sng" dirty="0"/>
              <a:t>Agent Review</a:t>
            </a:r>
          </a:p>
          <a:p>
            <a:pPr marL="0" indent="0">
              <a:buNone/>
            </a:pPr>
            <a:r>
              <a:rPr lang="en-US" sz="2000" dirty="0"/>
              <a:t>Agent Review uses structured prompting to simulate multiple evaluation dimensions within a single framework, enabling a more organized, criterion-based assessment than basic prompting methods.</a:t>
            </a:r>
            <a:endParaRPr lang="en-US" sz="2000" b="1" dirty="0"/>
          </a:p>
          <a:p>
            <a:pPr marL="0" indent="0">
              <a:buNone/>
            </a:pPr>
            <a:r>
              <a:rPr lang="en-US" sz="2000" u="sng" dirty="0"/>
              <a:t>Deep Reviewer</a:t>
            </a:r>
          </a:p>
          <a:p>
            <a:pPr marL="0" indent="0">
              <a:buNone/>
            </a:pPr>
            <a:r>
              <a:rPr lang="en-US" sz="2000" dirty="0"/>
              <a:t>The reviewer focuses on generating detailed, in-depth analytical feedback by encouraging comprehensive reasoning, aiming to improve evaluation quality through richer, more elaborate review outputs</a:t>
            </a:r>
            <a:r>
              <a:rPr lang="en-US" sz="2000" b="1" dirty="0"/>
              <a:t>.</a:t>
            </a:r>
          </a:p>
          <a:p>
            <a:pPr marL="0" indent="0">
              <a:buNone/>
            </a:pPr>
            <a:r>
              <a:rPr lang="en-US" sz="2000" u="sng" dirty="0"/>
              <a:t>Cycle Reviewer</a:t>
            </a:r>
          </a:p>
          <a:p>
            <a:pPr marL="0" indent="0">
              <a:buNone/>
            </a:pPr>
            <a:r>
              <a:rPr lang="en-US" sz="2000" noProof="1">
                <a:solidFill>
                  <a:schemeClr val="tx2"/>
                </a:solidFill>
              </a:rPr>
              <a:t>Uses multiple evaluation iterations to refine outputs, improving consistency, but is limited by scalability and unable to incorporate independent agent-based cross-validation.</a:t>
            </a:r>
          </a:p>
          <a:p>
            <a:pPr marL="0" indent="0">
              <a:buNone/>
            </a:pPr>
            <a:endParaRPr lang="en-US" sz="2000" b="1" u="sng" dirty="0"/>
          </a:p>
        </p:txBody>
      </p:sp>
    </p:spTree>
    <p:extLst>
      <p:ext uri="{BB962C8B-B14F-4D97-AF65-F5344CB8AC3E}">
        <p14:creationId xmlns:p14="http://schemas.microsoft.com/office/powerpoint/2010/main" val="2030831700"/>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35E5A16-BD40-FCD4-A28F-47A28A437AD3}"/>
              </a:ext>
            </a:extLst>
          </p:cNvPr>
          <p:cNvSpPr>
            <a:spLocks noGrp="1"/>
          </p:cNvSpPr>
          <p:nvPr>
            <p:ph type="title"/>
          </p:nvPr>
        </p:nvSpPr>
        <p:spPr>
          <a:xfrm>
            <a:off x="677333" y="609600"/>
            <a:ext cx="8963971" cy="1320800"/>
          </a:xfrm>
        </p:spPr>
        <p:txBody>
          <a:bodyPr/>
          <a:lstStyle/>
          <a:p>
            <a:r>
              <a:rPr lang="en-US" dirty="0"/>
              <a:t>Interpretation of Baselines evaluated with Error-Based Metrics</a:t>
            </a:r>
          </a:p>
        </p:txBody>
      </p:sp>
      <p:pic>
        <p:nvPicPr>
          <p:cNvPr id="5" name="Picture 4">
            <a:extLst>
              <a:ext uri="{FF2B5EF4-FFF2-40B4-BE49-F238E27FC236}">
                <a16:creationId xmlns:a16="http://schemas.microsoft.com/office/drawing/2014/main" id="{F796F215-8F61-D92D-AD17-2D36C4C3BD7C}"/>
              </a:ext>
            </a:extLst>
          </p:cNvPr>
          <p:cNvPicPr>
            <a:picLocks noChangeAspect="1"/>
          </p:cNvPicPr>
          <p:nvPr/>
        </p:nvPicPr>
        <p:blipFill>
          <a:blip r:embed="rId2"/>
          <a:stretch>
            <a:fillRect/>
          </a:stretch>
        </p:blipFill>
        <p:spPr>
          <a:xfrm>
            <a:off x="2153075" y="1805254"/>
            <a:ext cx="5707556" cy="3697187"/>
          </a:xfrm>
          <a:prstGeom prst="rect">
            <a:avLst/>
          </a:prstGeom>
        </p:spPr>
      </p:pic>
      <p:sp>
        <p:nvSpPr>
          <p:cNvPr id="7" name="TextBox 6">
            <a:extLst>
              <a:ext uri="{FF2B5EF4-FFF2-40B4-BE49-F238E27FC236}">
                <a16:creationId xmlns:a16="http://schemas.microsoft.com/office/drawing/2014/main" id="{C3E15ACB-114B-AACA-E164-213D9DA61FE4}"/>
              </a:ext>
            </a:extLst>
          </p:cNvPr>
          <p:cNvSpPr txBox="1"/>
          <p:nvPr/>
        </p:nvSpPr>
        <p:spPr>
          <a:xfrm>
            <a:off x="677333" y="5743073"/>
            <a:ext cx="9397109" cy="646331"/>
          </a:xfrm>
          <a:prstGeom prst="rect">
            <a:avLst/>
          </a:prstGeom>
          <a:noFill/>
        </p:spPr>
        <p:txBody>
          <a:bodyPr wrap="square">
            <a:spAutoFit/>
          </a:bodyPr>
          <a:lstStyle/>
          <a:p>
            <a:r>
              <a:rPr lang="en-US" dirty="0"/>
              <a:t>Table : Performance metrics (MAE and RMSE) for all evaluated systems on the 194-sample review dataset.</a:t>
            </a:r>
          </a:p>
        </p:txBody>
      </p:sp>
    </p:spTree>
    <p:extLst>
      <p:ext uri="{BB962C8B-B14F-4D97-AF65-F5344CB8AC3E}">
        <p14:creationId xmlns:p14="http://schemas.microsoft.com/office/powerpoint/2010/main" val="1985895504"/>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D9104D5-723F-9C01-57DE-D39B7A5B32D2}"/>
              </a:ext>
            </a:extLst>
          </p:cNvPr>
          <p:cNvSpPr>
            <a:spLocks noGrp="1"/>
          </p:cNvSpPr>
          <p:nvPr>
            <p:ph type="title"/>
          </p:nvPr>
        </p:nvSpPr>
        <p:spPr/>
        <p:txBody>
          <a:bodyPr/>
          <a:lstStyle/>
          <a:p>
            <a:r>
              <a:rPr lang="en-US" dirty="0"/>
              <a:t>HOLISTIC RANKING EVALUATION</a:t>
            </a:r>
          </a:p>
        </p:txBody>
      </p:sp>
      <p:sp>
        <p:nvSpPr>
          <p:cNvPr id="3" name="Content Placeholder 2">
            <a:extLst>
              <a:ext uri="{FF2B5EF4-FFF2-40B4-BE49-F238E27FC236}">
                <a16:creationId xmlns:a16="http://schemas.microsoft.com/office/drawing/2014/main" id="{35A6C00E-DBD4-6916-DC23-3E245D4F2B92}"/>
              </a:ext>
            </a:extLst>
          </p:cNvPr>
          <p:cNvSpPr>
            <a:spLocks noGrp="1"/>
          </p:cNvSpPr>
          <p:nvPr>
            <p:ph sz="half" idx="1"/>
          </p:nvPr>
        </p:nvSpPr>
        <p:spPr>
          <a:xfrm>
            <a:off x="677334" y="1507958"/>
            <a:ext cx="4184035" cy="4533403"/>
          </a:xfrm>
        </p:spPr>
        <p:txBody>
          <a:bodyPr>
            <a:normAutofit/>
          </a:bodyPr>
          <a:lstStyle/>
          <a:p>
            <a:pPr marL="0" indent="0">
              <a:buNone/>
            </a:pPr>
            <a:r>
              <a:rPr lang="en-US" sz="2000" b="1" dirty="0"/>
              <a:t>Score Variance Analysis Across Group Type</a:t>
            </a:r>
          </a:p>
        </p:txBody>
      </p:sp>
      <p:sp>
        <p:nvSpPr>
          <p:cNvPr id="10" name="Content Placeholder 9">
            <a:extLst>
              <a:ext uri="{FF2B5EF4-FFF2-40B4-BE49-F238E27FC236}">
                <a16:creationId xmlns:a16="http://schemas.microsoft.com/office/drawing/2014/main" id="{B5C887B3-368C-8705-685B-B6CE24DC01A7}"/>
              </a:ext>
            </a:extLst>
          </p:cNvPr>
          <p:cNvSpPr>
            <a:spLocks noGrp="1"/>
          </p:cNvSpPr>
          <p:nvPr>
            <p:ph sz="half" idx="2"/>
          </p:nvPr>
        </p:nvSpPr>
        <p:spPr>
          <a:xfrm>
            <a:off x="5318569" y="1507958"/>
            <a:ext cx="4824051" cy="4533404"/>
          </a:xfrm>
        </p:spPr>
        <p:txBody>
          <a:bodyPr/>
          <a:lstStyle/>
          <a:p>
            <a:pPr marL="0" indent="0">
              <a:buNone/>
            </a:pPr>
            <a:r>
              <a:rPr lang="en-US" dirty="0"/>
              <a:t> </a:t>
            </a:r>
            <a:r>
              <a:rPr lang="en-US" sz="2000" b="1" dirty="0"/>
              <a:t>Ranking Correlation with Human Judgments (Kendall’s Tau)</a:t>
            </a:r>
          </a:p>
          <a:p>
            <a:endParaRPr lang="en-US" dirty="0"/>
          </a:p>
        </p:txBody>
      </p:sp>
      <p:pic>
        <p:nvPicPr>
          <p:cNvPr id="9" name="Picture 8">
            <a:extLst>
              <a:ext uri="{FF2B5EF4-FFF2-40B4-BE49-F238E27FC236}">
                <a16:creationId xmlns:a16="http://schemas.microsoft.com/office/drawing/2014/main" id="{E2565DD6-3F9F-7780-291E-7F0FD3518A93}"/>
              </a:ext>
            </a:extLst>
          </p:cNvPr>
          <p:cNvPicPr>
            <a:picLocks noChangeAspect="1"/>
          </p:cNvPicPr>
          <p:nvPr/>
        </p:nvPicPr>
        <p:blipFill>
          <a:blip r:embed="rId2"/>
          <a:stretch>
            <a:fillRect/>
          </a:stretch>
        </p:blipFill>
        <p:spPr>
          <a:xfrm>
            <a:off x="5571726" y="2431198"/>
            <a:ext cx="4086795" cy="2918843"/>
          </a:xfrm>
          <a:prstGeom prst="rect">
            <a:avLst/>
          </a:prstGeom>
        </p:spPr>
      </p:pic>
      <p:sp>
        <p:nvSpPr>
          <p:cNvPr id="12" name="TextBox 11">
            <a:extLst>
              <a:ext uri="{FF2B5EF4-FFF2-40B4-BE49-F238E27FC236}">
                <a16:creationId xmlns:a16="http://schemas.microsoft.com/office/drawing/2014/main" id="{F963F84D-6C8C-F0E5-6F45-3605FD455F0E}"/>
              </a:ext>
            </a:extLst>
          </p:cNvPr>
          <p:cNvSpPr txBox="1"/>
          <p:nvPr/>
        </p:nvSpPr>
        <p:spPr>
          <a:xfrm>
            <a:off x="5410646" y="5350041"/>
            <a:ext cx="4086795" cy="646331"/>
          </a:xfrm>
          <a:prstGeom prst="rect">
            <a:avLst/>
          </a:prstGeom>
          <a:noFill/>
        </p:spPr>
        <p:txBody>
          <a:bodyPr wrap="square">
            <a:spAutoFit/>
          </a:bodyPr>
          <a:lstStyle/>
          <a:p>
            <a:r>
              <a:rPr lang="en-US" dirty="0"/>
              <a:t>Table : Kendall’s Tau Correlation with Human Rankings</a:t>
            </a:r>
          </a:p>
        </p:txBody>
      </p:sp>
      <p:sp>
        <p:nvSpPr>
          <p:cNvPr id="14" name="TextBox 13">
            <a:extLst>
              <a:ext uri="{FF2B5EF4-FFF2-40B4-BE49-F238E27FC236}">
                <a16:creationId xmlns:a16="http://schemas.microsoft.com/office/drawing/2014/main" id="{6480A247-B696-783C-4CE7-F5D771A85FCE}"/>
              </a:ext>
            </a:extLst>
          </p:cNvPr>
          <p:cNvSpPr txBox="1"/>
          <p:nvPr/>
        </p:nvSpPr>
        <p:spPr>
          <a:xfrm>
            <a:off x="489355" y="5325070"/>
            <a:ext cx="4600614" cy="646331"/>
          </a:xfrm>
          <a:prstGeom prst="rect">
            <a:avLst/>
          </a:prstGeom>
          <a:noFill/>
        </p:spPr>
        <p:txBody>
          <a:bodyPr wrap="square">
            <a:spAutoFit/>
          </a:bodyPr>
          <a:lstStyle/>
          <a:p>
            <a:r>
              <a:rPr lang="en-US" dirty="0"/>
              <a:t>Table: Score Variance Across Homogeneous and Heterogeneous Groups</a:t>
            </a:r>
          </a:p>
        </p:txBody>
      </p:sp>
      <p:cxnSp>
        <p:nvCxnSpPr>
          <p:cNvPr id="16" name="Straight Connector 15">
            <a:extLst>
              <a:ext uri="{FF2B5EF4-FFF2-40B4-BE49-F238E27FC236}">
                <a16:creationId xmlns:a16="http://schemas.microsoft.com/office/drawing/2014/main" id="{8710E370-752B-8755-9C18-3A16E1A1453B}"/>
              </a:ext>
            </a:extLst>
          </p:cNvPr>
          <p:cNvCxnSpPr/>
          <p:nvPr/>
        </p:nvCxnSpPr>
        <p:spPr>
          <a:xfrm>
            <a:off x="5089969" y="1507958"/>
            <a:ext cx="0" cy="4652210"/>
          </a:xfrm>
          <a:prstGeom prst="line">
            <a:avLst/>
          </a:prstGeom>
        </p:spPr>
        <p:style>
          <a:lnRef idx="1">
            <a:schemeClr val="dk1"/>
          </a:lnRef>
          <a:fillRef idx="0">
            <a:schemeClr val="dk1"/>
          </a:fillRef>
          <a:effectRef idx="0">
            <a:schemeClr val="dk1"/>
          </a:effectRef>
          <a:fontRef idx="minor">
            <a:schemeClr val="tx1"/>
          </a:fontRef>
        </p:style>
      </p:cxnSp>
      <p:pic>
        <p:nvPicPr>
          <p:cNvPr id="6" name="Picture 5">
            <a:extLst>
              <a:ext uri="{FF2B5EF4-FFF2-40B4-BE49-F238E27FC236}">
                <a16:creationId xmlns:a16="http://schemas.microsoft.com/office/drawing/2014/main" id="{803E9396-7F72-69A1-6C56-AC7454BB7335}"/>
              </a:ext>
            </a:extLst>
          </p:cNvPr>
          <p:cNvPicPr>
            <a:picLocks noChangeAspect="1"/>
          </p:cNvPicPr>
          <p:nvPr/>
        </p:nvPicPr>
        <p:blipFill>
          <a:blip r:embed="rId3"/>
          <a:stretch>
            <a:fillRect/>
          </a:stretch>
        </p:blipFill>
        <p:spPr>
          <a:xfrm>
            <a:off x="677334" y="2318072"/>
            <a:ext cx="3983309" cy="2818231"/>
          </a:xfrm>
          <a:prstGeom prst="rect">
            <a:avLst/>
          </a:prstGeom>
        </p:spPr>
      </p:pic>
    </p:spTree>
    <p:extLst>
      <p:ext uri="{BB962C8B-B14F-4D97-AF65-F5344CB8AC3E}">
        <p14:creationId xmlns:p14="http://schemas.microsoft.com/office/powerpoint/2010/main" val="601084680"/>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12FE62C-DD2E-F410-5113-0DCF7EB1587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7819B8F-A35E-AF5E-184B-C531F30AD399}"/>
              </a:ext>
            </a:extLst>
          </p:cNvPr>
          <p:cNvSpPr>
            <a:spLocks noGrp="1"/>
          </p:cNvSpPr>
          <p:nvPr>
            <p:ph type="title"/>
          </p:nvPr>
        </p:nvSpPr>
        <p:spPr>
          <a:xfrm>
            <a:off x="343301" y="-27547"/>
            <a:ext cx="10058400" cy="1450757"/>
          </a:xfrm>
        </p:spPr>
        <p:txBody>
          <a:bodyPr>
            <a:normAutofit/>
          </a:bodyPr>
          <a:lstStyle/>
          <a:p>
            <a:r>
              <a:rPr lang="en-US" sz="4000" b="1" dirty="0">
                <a:solidFill>
                  <a:srgbClr val="4299B6"/>
                </a:solidFill>
              </a:rPr>
              <a:t>HOLISTIC RANKING EVALUATION</a:t>
            </a:r>
          </a:p>
        </p:txBody>
      </p:sp>
      <p:sp>
        <p:nvSpPr>
          <p:cNvPr id="3" name="Content Placeholder 2">
            <a:extLst>
              <a:ext uri="{FF2B5EF4-FFF2-40B4-BE49-F238E27FC236}">
                <a16:creationId xmlns:a16="http://schemas.microsoft.com/office/drawing/2014/main" id="{3CE6F86B-BEA2-1160-CA98-26E4634DD11D}"/>
              </a:ext>
            </a:extLst>
          </p:cNvPr>
          <p:cNvSpPr>
            <a:spLocks noGrp="1"/>
          </p:cNvSpPr>
          <p:nvPr>
            <p:ph sz="half" idx="1"/>
          </p:nvPr>
        </p:nvSpPr>
        <p:spPr>
          <a:xfrm>
            <a:off x="677334" y="1812758"/>
            <a:ext cx="4184035" cy="4228603"/>
          </a:xfrm>
        </p:spPr>
        <p:txBody>
          <a:bodyPr>
            <a:normAutofit/>
          </a:bodyPr>
          <a:lstStyle/>
          <a:p>
            <a:pPr marL="0" indent="0">
              <a:buNone/>
            </a:pPr>
            <a:r>
              <a:rPr lang="en-US" sz="2000" b="1" dirty="0"/>
              <a:t>Pairwise Ranking Accuracy</a:t>
            </a:r>
          </a:p>
        </p:txBody>
      </p:sp>
      <p:pic>
        <p:nvPicPr>
          <p:cNvPr id="13" name="Content Placeholder 12">
            <a:extLst>
              <a:ext uri="{FF2B5EF4-FFF2-40B4-BE49-F238E27FC236}">
                <a16:creationId xmlns:a16="http://schemas.microsoft.com/office/drawing/2014/main" id="{E3BD7177-60CE-C0C3-1896-FD207588FBC2}"/>
              </a:ext>
            </a:extLst>
          </p:cNvPr>
          <p:cNvPicPr>
            <a:picLocks noGrp="1" noChangeAspect="1"/>
          </p:cNvPicPr>
          <p:nvPr>
            <p:ph sz="half" idx="2"/>
          </p:nvPr>
        </p:nvPicPr>
        <p:blipFill>
          <a:blip r:embed="rId2"/>
          <a:stretch>
            <a:fillRect/>
          </a:stretch>
        </p:blipFill>
        <p:spPr>
          <a:xfrm>
            <a:off x="7454043" y="2206389"/>
            <a:ext cx="4184650" cy="3118681"/>
          </a:xfrm>
          <a:prstGeom prst="rect">
            <a:avLst/>
          </a:prstGeom>
        </p:spPr>
      </p:pic>
      <p:sp>
        <p:nvSpPr>
          <p:cNvPr id="12" name="TextBox 11">
            <a:extLst>
              <a:ext uri="{FF2B5EF4-FFF2-40B4-BE49-F238E27FC236}">
                <a16:creationId xmlns:a16="http://schemas.microsoft.com/office/drawing/2014/main" id="{8331B050-9E46-C341-141B-D0EB7CBE987A}"/>
              </a:ext>
            </a:extLst>
          </p:cNvPr>
          <p:cNvSpPr txBox="1"/>
          <p:nvPr/>
        </p:nvSpPr>
        <p:spPr>
          <a:xfrm>
            <a:off x="7454043" y="5236838"/>
            <a:ext cx="4368989" cy="923330"/>
          </a:xfrm>
          <a:prstGeom prst="rect">
            <a:avLst/>
          </a:prstGeom>
          <a:noFill/>
        </p:spPr>
        <p:txBody>
          <a:bodyPr wrap="square">
            <a:spAutoFit/>
          </a:bodyPr>
          <a:lstStyle/>
          <a:p>
            <a:r>
              <a:rPr lang="en-US" dirty="0"/>
              <a:t>Figure: Score variance across homogeneous and heterogeneous group types.</a:t>
            </a:r>
          </a:p>
        </p:txBody>
      </p:sp>
      <p:sp>
        <p:nvSpPr>
          <p:cNvPr id="14" name="TextBox 13">
            <a:extLst>
              <a:ext uri="{FF2B5EF4-FFF2-40B4-BE49-F238E27FC236}">
                <a16:creationId xmlns:a16="http://schemas.microsoft.com/office/drawing/2014/main" id="{B554026E-7912-6F75-6937-A3187AC8D754}"/>
              </a:ext>
            </a:extLst>
          </p:cNvPr>
          <p:cNvSpPr txBox="1"/>
          <p:nvPr/>
        </p:nvSpPr>
        <p:spPr>
          <a:xfrm>
            <a:off x="489355" y="5325070"/>
            <a:ext cx="4600614" cy="646331"/>
          </a:xfrm>
          <a:prstGeom prst="rect">
            <a:avLst/>
          </a:prstGeom>
          <a:noFill/>
        </p:spPr>
        <p:txBody>
          <a:bodyPr wrap="square">
            <a:spAutoFit/>
          </a:bodyPr>
          <a:lstStyle/>
          <a:p>
            <a:r>
              <a:rPr lang="en-US" dirty="0"/>
              <a:t>Table: Pairwise Ranking Accuracy Across Homogeneous and Heterogeneous Groups</a:t>
            </a:r>
          </a:p>
        </p:txBody>
      </p:sp>
      <p:cxnSp>
        <p:nvCxnSpPr>
          <p:cNvPr id="16" name="Straight Connector 15">
            <a:extLst>
              <a:ext uri="{FF2B5EF4-FFF2-40B4-BE49-F238E27FC236}">
                <a16:creationId xmlns:a16="http://schemas.microsoft.com/office/drawing/2014/main" id="{BC72B3BE-48CE-975E-CCDD-FCF0A6230F16}"/>
              </a:ext>
            </a:extLst>
          </p:cNvPr>
          <p:cNvCxnSpPr/>
          <p:nvPr/>
        </p:nvCxnSpPr>
        <p:spPr>
          <a:xfrm>
            <a:off x="7143359" y="1507958"/>
            <a:ext cx="0" cy="4652210"/>
          </a:xfrm>
          <a:prstGeom prst="line">
            <a:avLst/>
          </a:prstGeom>
        </p:spPr>
        <p:style>
          <a:lnRef idx="1">
            <a:schemeClr val="dk1"/>
          </a:lnRef>
          <a:fillRef idx="0">
            <a:schemeClr val="dk1"/>
          </a:fillRef>
          <a:effectRef idx="0">
            <a:schemeClr val="dk1"/>
          </a:effectRef>
          <a:fontRef idx="minor">
            <a:schemeClr val="tx1"/>
          </a:fontRef>
        </p:style>
      </p:cxnSp>
      <p:pic>
        <p:nvPicPr>
          <p:cNvPr id="6" name="Picture 5">
            <a:extLst>
              <a:ext uri="{FF2B5EF4-FFF2-40B4-BE49-F238E27FC236}">
                <a16:creationId xmlns:a16="http://schemas.microsoft.com/office/drawing/2014/main" id="{FB2EF82E-BFD6-B96F-2929-9B751DAB430C}"/>
              </a:ext>
            </a:extLst>
          </p:cNvPr>
          <p:cNvPicPr>
            <a:picLocks noChangeAspect="1"/>
          </p:cNvPicPr>
          <p:nvPr/>
        </p:nvPicPr>
        <p:blipFill>
          <a:blip r:embed="rId3"/>
          <a:stretch>
            <a:fillRect/>
          </a:stretch>
        </p:blipFill>
        <p:spPr>
          <a:xfrm>
            <a:off x="681956" y="2234272"/>
            <a:ext cx="6058746" cy="2553056"/>
          </a:xfrm>
          <a:prstGeom prst="rect">
            <a:avLst/>
          </a:prstGeom>
        </p:spPr>
      </p:pic>
      <p:sp>
        <p:nvSpPr>
          <p:cNvPr id="17" name="TextBox 16">
            <a:extLst>
              <a:ext uri="{FF2B5EF4-FFF2-40B4-BE49-F238E27FC236}">
                <a16:creationId xmlns:a16="http://schemas.microsoft.com/office/drawing/2014/main" id="{3D00B9E5-B394-27C7-0902-356F7E8E79B3}"/>
              </a:ext>
            </a:extLst>
          </p:cNvPr>
          <p:cNvSpPr txBox="1"/>
          <p:nvPr/>
        </p:nvSpPr>
        <p:spPr>
          <a:xfrm>
            <a:off x="7143359" y="1812758"/>
            <a:ext cx="6096000" cy="369332"/>
          </a:xfrm>
          <a:prstGeom prst="rect">
            <a:avLst/>
          </a:prstGeom>
          <a:noFill/>
        </p:spPr>
        <p:txBody>
          <a:bodyPr wrap="square">
            <a:spAutoFit/>
          </a:bodyPr>
          <a:lstStyle/>
          <a:p>
            <a:r>
              <a:rPr lang="en-US" b="1" dirty="0"/>
              <a:t>Within-Group Ranking Analysis</a:t>
            </a:r>
          </a:p>
        </p:txBody>
      </p:sp>
    </p:spTree>
    <p:extLst>
      <p:ext uri="{BB962C8B-B14F-4D97-AF65-F5344CB8AC3E}">
        <p14:creationId xmlns:p14="http://schemas.microsoft.com/office/powerpoint/2010/main" val="1760621005"/>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0932AA0-E48B-5CE1-268A-2BFA872CA8F6}"/>
              </a:ext>
            </a:extLst>
          </p:cNvPr>
          <p:cNvSpPr>
            <a:spLocks noGrp="1"/>
          </p:cNvSpPr>
          <p:nvPr>
            <p:ph type="title"/>
          </p:nvPr>
        </p:nvSpPr>
        <p:spPr/>
        <p:txBody>
          <a:bodyPr/>
          <a:lstStyle/>
          <a:p>
            <a:r>
              <a:rPr lang="en-US"/>
              <a:t>Within-Group Ranking Analysis</a:t>
            </a:r>
            <a:endParaRPr lang="en-US" dirty="0"/>
          </a:p>
        </p:txBody>
      </p:sp>
      <p:pic>
        <p:nvPicPr>
          <p:cNvPr id="5" name="Content Placeholder 4">
            <a:extLst>
              <a:ext uri="{FF2B5EF4-FFF2-40B4-BE49-F238E27FC236}">
                <a16:creationId xmlns:a16="http://schemas.microsoft.com/office/drawing/2014/main" id="{CC024862-C3CE-C4CE-5837-98F304BBB0BF}"/>
              </a:ext>
            </a:extLst>
          </p:cNvPr>
          <p:cNvPicPr>
            <a:picLocks noGrp="1" noChangeAspect="1"/>
          </p:cNvPicPr>
          <p:nvPr>
            <p:ph idx="1"/>
          </p:nvPr>
        </p:nvPicPr>
        <p:blipFill>
          <a:blip r:embed="rId2"/>
          <a:stretch>
            <a:fillRect/>
          </a:stretch>
        </p:blipFill>
        <p:spPr>
          <a:xfrm>
            <a:off x="1163954" y="1427748"/>
            <a:ext cx="7207036" cy="4384090"/>
          </a:xfrm>
          <a:prstGeom prst="rect">
            <a:avLst/>
          </a:prstGeom>
        </p:spPr>
      </p:pic>
      <p:sp>
        <p:nvSpPr>
          <p:cNvPr id="7" name="TextBox 6">
            <a:extLst>
              <a:ext uri="{FF2B5EF4-FFF2-40B4-BE49-F238E27FC236}">
                <a16:creationId xmlns:a16="http://schemas.microsoft.com/office/drawing/2014/main" id="{6AA14B77-E061-5353-50A1-A6D62DBBC858}"/>
              </a:ext>
            </a:extLst>
          </p:cNvPr>
          <p:cNvSpPr txBox="1"/>
          <p:nvPr/>
        </p:nvSpPr>
        <p:spPr>
          <a:xfrm>
            <a:off x="598178" y="6063734"/>
            <a:ext cx="8754979" cy="369332"/>
          </a:xfrm>
          <a:prstGeom prst="rect">
            <a:avLst/>
          </a:prstGeom>
          <a:noFill/>
        </p:spPr>
        <p:txBody>
          <a:bodyPr wrap="square">
            <a:spAutoFit/>
          </a:bodyPr>
          <a:lstStyle/>
          <a:p>
            <a:r>
              <a:rPr lang="en-US" dirty="0"/>
              <a:t>Comparative Group-Wise Rankings with Dimensional Scores and Justifications</a:t>
            </a:r>
          </a:p>
        </p:txBody>
      </p:sp>
    </p:spTree>
    <p:extLst>
      <p:ext uri="{BB962C8B-B14F-4D97-AF65-F5344CB8AC3E}">
        <p14:creationId xmlns:p14="http://schemas.microsoft.com/office/powerpoint/2010/main" val="2125345658"/>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86418FB-E67E-22F2-7972-FDD618995AC7}"/>
              </a:ext>
            </a:extLst>
          </p:cNvPr>
          <p:cNvSpPr>
            <a:spLocks noGrp="1"/>
          </p:cNvSpPr>
          <p:nvPr>
            <p:ph type="title"/>
          </p:nvPr>
        </p:nvSpPr>
        <p:spPr/>
        <p:txBody>
          <a:bodyPr/>
          <a:lstStyle/>
          <a:p>
            <a:r>
              <a:rPr lang="en-US" dirty="0"/>
              <a:t>CORRELATION ANALYSIS EVALUATION</a:t>
            </a:r>
          </a:p>
        </p:txBody>
      </p:sp>
      <p:pic>
        <p:nvPicPr>
          <p:cNvPr id="5" name="Content Placeholder 4">
            <a:extLst>
              <a:ext uri="{FF2B5EF4-FFF2-40B4-BE49-F238E27FC236}">
                <a16:creationId xmlns:a16="http://schemas.microsoft.com/office/drawing/2014/main" id="{B760185B-2B29-6837-BCA7-6150418D25EF}"/>
              </a:ext>
            </a:extLst>
          </p:cNvPr>
          <p:cNvPicPr>
            <a:picLocks noGrp="1" noChangeAspect="1"/>
          </p:cNvPicPr>
          <p:nvPr>
            <p:ph idx="1"/>
          </p:nvPr>
        </p:nvPicPr>
        <p:blipFill>
          <a:blip r:embed="rId2"/>
          <a:stretch>
            <a:fillRect/>
          </a:stretch>
        </p:blipFill>
        <p:spPr>
          <a:xfrm>
            <a:off x="2309626" y="1282879"/>
            <a:ext cx="5332084" cy="4572000"/>
          </a:xfrm>
          <a:prstGeom prst="rect">
            <a:avLst/>
          </a:prstGeom>
        </p:spPr>
      </p:pic>
      <p:sp>
        <p:nvSpPr>
          <p:cNvPr id="7" name="TextBox 6">
            <a:extLst>
              <a:ext uri="{FF2B5EF4-FFF2-40B4-BE49-F238E27FC236}">
                <a16:creationId xmlns:a16="http://schemas.microsoft.com/office/drawing/2014/main" id="{83FCC66B-4F58-0C95-FDE7-A6D286A671C7}"/>
              </a:ext>
            </a:extLst>
          </p:cNvPr>
          <p:cNvSpPr txBox="1"/>
          <p:nvPr/>
        </p:nvSpPr>
        <p:spPr>
          <a:xfrm>
            <a:off x="1046747" y="5925234"/>
            <a:ext cx="7984957" cy="646331"/>
          </a:xfrm>
          <a:prstGeom prst="rect">
            <a:avLst/>
          </a:prstGeom>
          <a:noFill/>
        </p:spPr>
        <p:txBody>
          <a:bodyPr wrap="square">
            <a:spAutoFit/>
          </a:bodyPr>
          <a:lstStyle/>
          <a:p>
            <a:r>
              <a:rPr lang="en-US" dirty="0"/>
              <a:t>Table: Correlation of Model Predictions with Human Scores Across Main Models and Baselines</a:t>
            </a:r>
          </a:p>
        </p:txBody>
      </p:sp>
    </p:spTree>
    <p:extLst>
      <p:ext uri="{BB962C8B-B14F-4D97-AF65-F5344CB8AC3E}">
        <p14:creationId xmlns:p14="http://schemas.microsoft.com/office/powerpoint/2010/main" val="3495085263"/>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2BEC911-8DE2-E5E4-E464-F3F876409BA5}"/>
              </a:ext>
            </a:extLst>
          </p:cNvPr>
          <p:cNvSpPr>
            <a:spLocks noGrp="1"/>
          </p:cNvSpPr>
          <p:nvPr>
            <p:ph type="title"/>
          </p:nvPr>
        </p:nvSpPr>
        <p:spPr/>
        <p:txBody>
          <a:bodyPr/>
          <a:lstStyle/>
          <a:p>
            <a:r>
              <a:rPr lang="en-US" dirty="0"/>
              <a:t>ABLATION STUDY</a:t>
            </a:r>
          </a:p>
        </p:txBody>
      </p:sp>
      <p:sp>
        <p:nvSpPr>
          <p:cNvPr id="3" name="Content Placeholder 2">
            <a:extLst>
              <a:ext uri="{FF2B5EF4-FFF2-40B4-BE49-F238E27FC236}">
                <a16:creationId xmlns:a16="http://schemas.microsoft.com/office/drawing/2014/main" id="{EA81172E-3345-18C3-8C34-5B6230039C24}"/>
              </a:ext>
            </a:extLst>
          </p:cNvPr>
          <p:cNvSpPr>
            <a:spLocks noGrp="1"/>
          </p:cNvSpPr>
          <p:nvPr>
            <p:ph idx="1"/>
          </p:nvPr>
        </p:nvSpPr>
        <p:spPr>
          <a:xfrm>
            <a:off x="677333" y="1524001"/>
            <a:ext cx="9268771" cy="4517362"/>
          </a:xfrm>
        </p:spPr>
        <p:txBody>
          <a:bodyPr>
            <a:normAutofit/>
          </a:bodyPr>
          <a:lstStyle/>
          <a:p>
            <a:pPr marL="0" indent="0">
              <a:buNone/>
            </a:pPr>
            <a:r>
              <a:rPr lang="en-US" dirty="0"/>
              <a:t>The following are the ablation experiments performed to understand each agent’s influence on our multi-agent framework results.</a:t>
            </a:r>
          </a:p>
          <a:p>
            <a:r>
              <a:rPr lang="en-US" dirty="0"/>
              <a:t>With Problem Analysis Agent only </a:t>
            </a:r>
          </a:p>
          <a:p>
            <a:r>
              <a:rPr lang="en-US" dirty="0"/>
              <a:t>With Methodology Agent only </a:t>
            </a:r>
          </a:p>
          <a:p>
            <a:r>
              <a:rPr lang="en-US" dirty="0"/>
              <a:t>With Contribution Agent only </a:t>
            </a:r>
          </a:p>
          <a:p>
            <a:r>
              <a:rPr lang="en-US" dirty="0"/>
              <a:t>Without Problem Analysis Agent </a:t>
            </a:r>
          </a:p>
          <a:p>
            <a:r>
              <a:rPr lang="en-US" dirty="0"/>
              <a:t>Without Methodology Agent </a:t>
            </a:r>
          </a:p>
          <a:p>
            <a:r>
              <a:rPr lang="en-US" dirty="0"/>
              <a:t>Without Contribution Agent </a:t>
            </a:r>
          </a:p>
          <a:p>
            <a:r>
              <a:rPr lang="en-US" dirty="0"/>
              <a:t>Without Meta-Review Agent</a:t>
            </a:r>
          </a:p>
          <a:p>
            <a:r>
              <a:rPr lang="en-US" dirty="0"/>
              <a:t>Impact of Retrieval Augment Generation (RAG)</a:t>
            </a:r>
          </a:p>
          <a:p>
            <a:endParaRPr lang="en-US" dirty="0"/>
          </a:p>
        </p:txBody>
      </p:sp>
    </p:spTree>
    <p:extLst>
      <p:ext uri="{BB962C8B-B14F-4D97-AF65-F5344CB8AC3E}">
        <p14:creationId xmlns:p14="http://schemas.microsoft.com/office/powerpoint/2010/main" val="719986819"/>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6C43CDF-BF78-6526-AD37-0E3412E9E8F6}"/>
              </a:ext>
            </a:extLst>
          </p:cNvPr>
          <p:cNvSpPr>
            <a:spLocks noGrp="1"/>
          </p:cNvSpPr>
          <p:nvPr>
            <p:ph type="title"/>
          </p:nvPr>
        </p:nvSpPr>
        <p:spPr>
          <a:xfrm>
            <a:off x="436703" y="368968"/>
            <a:ext cx="8596668" cy="1320800"/>
          </a:xfrm>
        </p:spPr>
        <p:txBody>
          <a:bodyPr/>
          <a:lstStyle/>
          <a:p>
            <a:r>
              <a:rPr lang="en-US" dirty="0"/>
              <a:t>Ablation Study Result</a:t>
            </a:r>
          </a:p>
        </p:txBody>
      </p:sp>
      <p:pic>
        <p:nvPicPr>
          <p:cNvPr id="5" name="Content Placeholder 4">
            <a:extLst>
              <a:ext uri="{FF2B5EF4-FFF2-40B4-BE49-F238E27FC236}">
                <a16:creationId xmlns:a16="http://schemas.microsoft.com/office/drawing/2014/main" id="{02B545D9-C06E-417B-C7AB-8D86E1D1EC35}"/>
              </a:ext>
            </a:extLst>
          </p:cNvPr>
          <p:cNvPicPr>
            <a:picLocks noGrp="1" noChangeAspect="1"/>
          </p:cNvPicPr>
          <p:nvPr>
            <p:ph idx="1"/>
          </p:nvPr>
        </p:nvPicPr>
        <p:blipFill>
          <a:blip r:embed="rId2"/>
          <a:stretch>
            <a:fillRect/>
          </a:stretch>
        </p:blipFill>
        <p:spPr>
          <a:xfrm>
            <a:off x="2547926" y="1029368"/>
            <a:ext cx="5104157" cy="4754880"/>
          </a:xfrm>
          <a:prstGeom prst="rect">
            <a:avLst/>
          </a:prstGeom>
        </p:spPr>
      </p:pic>
      <p:sp>
        <p:nvSpPr>
          <p:cNvPr id="7" name="TextBox 6">
            <a:extLst>
              <a:ext uri="{FF2B5EF4-FFF2-40B4-BE49-F238E27FC236}">
                <a16:creationId xmlns:a16="http://schemas.microsoft.com/office/drawing/2014/main" id="{D4586E6F-38FD-2E92-442F-521F25412001}"/>
              </a:ext>
            </a:extLst>
          </p:cNvPr>
          <p:cNvSpPr txBox="1"/>
          <p:nvPr/>
        </p:nvSpPr>
        <p:spPr>
          <a:xfrm>
            <a:off x="1142999" y="6038949"/>
            <a:ext cx="8450179" cy="646331"/>
          </a:xfrm>
          <a:prstGeom prst="rect">
            <a:avLst/>
          </a:prstGeom>
          <a:noFill/>
        </p:spPr>
        <p:txBody>
          <a:bodyPr wrap="square">
            <a:spAutoFit/>
          </a:bodyPr>
          <a:lstStyle/>
          <a:p>
            <a:r>
              <a:rPr lang="en-US" dirty="0"/>
              <a:t>Ablation Study of Multi-Agent Components With and Without Retrieval (RAG) Using MAE and RMSE Metrics</a:t>
            </a:r>
          </a:p>
        </p:txBody>
      </p:sp>
    </p:spTree>
    <p:extLst>
      <p:ext uri="{BB962C8B-B14F-4D97-AF65-F5344CB8AC3E}">
        <p14:creationId xmlns:p14="http://schemas.microsoft.com/office/powerpoint/2010/main" val="3197856116"/>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773DDAC-5A7F-CA68-368E-17FF2F01F51F}"/>
              </a:ext>
            </a:extLst>
          </p:cNvPr>
          <p:cNvSpPr>
            <a:spLocks noGrp="1"/>
          </p:cNvSpPr>
          <p:nvPr>
            <p:ph type="title"/>
          </p:nvPr>
        </p:nvSpPr>
        <p:spPr/>
        <p:txBody>
          <a:bodyPr/>
          <a:lstStyle/>
          <a:p>
            <a:r>
              <a:rPr lang="en-US" dirty="0"/>
              <a:t>Conclusion</a:t>
            </a:r>
          </a:p>
        </p:txBody>
      </p:sp>
      <p:sp>
        <p:nvSpPr>
          <p:cNvPr id="3" name="Content Placeholder 2">
            <a:extLst>
              <a:ext uri="{FF2B5EF4-FFF2-40B4-BE49-F238E27FC236}">
                <a16:creationId xmlns:a16="http://schemas.microsoft.com/office/drawing/2014/main" id="{9F5441D3-AA71-34EF-BFC3-DFA9E716B576}"/>
              </a:ext>
            </a:extLst>
          </p:cNvPr>
          <p:cNvSpPr>
            <a:spLocks noGrp="1"/>
          </p:cNvSpPr>
          <p:nvPr>
            <p:ph idx="1"/>
          </p:nvPr>
        </p:nvSpPr>
        <p:spPr>
          <a:xfrm>
            <a:off x="677334" y="1379621"/>
            <a:ext cx="8947929" cy="4868779"/>
          </a:xfrm>
        </p:spPr>
        <p:txBody>
          <a:bodyPr>
            <a:normAutofit fontScale="85000" lnSpcReduction="10000"/>
          </a:bodyPr>
          <a:lstStyle/>
          <a:p>
            <a:pPr algn="just">
              <a:lnSpc>
                <a:spcPct val="120000"/>
              </a:lnSpc>
            </a:pPr>
            <a:r>
              <a:rPr lang="en-US" dirty="0"/>
              <a:t>The proposed ProComp framework addresses the most important challenges present in existing and existing peer-review based practices and introduces it through a multi-agent evaluation paradigms through a structured and multi-agent evaluation framework that can be used effectively to decompose the review process into distinct components that make different research aspects in a way that would allow for the more granularity, interpretability and alignment through multiple research aspects of the entire reviews process.</a:t>
            </a:r>
          </a:p>
          <a:p>
            <a:pPr algn="just">
              <a:lnSpc>
                <a:spcPct val="120000"/>
              </a:lnSpc>
            </a:pPr>
            <a:r>
              <a:rPr lang="en-US" dirty="0"/>
              <a:t> ProComp is supported by Retrieval-Augmented Generation (RAG), which supports strong factual grounding, reduces hallucinations, and helps to reinforce automated evaluations. JSON-based outputs are more usable for accurately assessing an automated review, with the benefit of being easily peer-reviewed and easily compared with a human.</a:t>
            </a:r>
          </a:p>
          <a:p>
            <a:pPr algn="just">
              <a:lnSpc>
                <a:spcPct val="120000"/>
              </a:lnSpc>
            </a:pPr>
            <a:r>
              <a:rPr lang="en-US" dirty="0"/>
              <a:t> ProComp outperforms existing baselines in accuracy, reliability, data quality, and ranking ability, and also demonstrates a significant difference in research quality. Our framework works well alongside human judgment, which supports its use.</a:t>
            </a:r>
          </a:p>
          <a:p>
            <a:pPr algn="just">
              <a:lnSpc>
                <a:spcPct val="120000"/>
              </a:lnSpc>
            </a:pPr>
            <a:r>
              <a:rPr lang="en-US" dirty="0"/>
              <a:t>ProComp offers a scalable, robust peer-review solution with high in-house automation and interpretability, helping an intelligent review team support human reviewers in making fair, efficient, and high-quality decisions throughout the process.</a:t>
            </a:r>
          </a:p>
          <a:p>
            <a:pPr algn="just">
              <a:lnSpc>
                <a:spcPct val="120000"/>
              </a:lnSpc>
            </a:pPr>
            <a:endParaRPr lang="en-US" dirty="0"/>
          </a:p>
        </p:txBody>
      </p:sp>
    </p:spTree>
    <p:extLst>
      <p:ext uri="{BB962C8B-B14F-4D97-AF65-F5344CB8AC3E}">
        <p14:creationId xmlns:p14="http://schemas.microsoft.com/office/powerpoint/2010/main" val="245611005"/>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5D95829-E3CA-5964-8AAA-C8F253CB8F32}"/>
              </a:ext>
            </a:extLst>
          </p:cNvPr>
          <p:cNvSpPr>
            <a:spLocks noGrp="1"/>
          </p:cNvSpPr>
          <p:nvPr>
            <p:ph type="title"/>
          </p:nvPr>
        </p:nvSpPr>
        <p:spPr/>
        <p:txBody>
          <a:bodyPr/>
          <a:lstStyle/>
          <a:p>
            <a:r>
              <a:rPr lang="en-US" dirty="0"/>
              <a:t>Limitations and Challenges</a:t>
            </a:r>
          </a:p>
        </p:txBody>
      </p:sp>
      <p:sp>
        <p:nvSpPr>
          <p:cNvPr id="3" name="Content Placeholder 2">
            <a:extLst>
              <a:ext uri="{FF2B5EF4-FFF2-40B4-BE49-F238E27FC236}">
                <a16:creationId xmlns:a16="http://schemas.microsoft.com/office/drawing/2014/main" id="{392B0BCF-515E-4FB4-CEC8-81CAA20845E8}"/>
              </a:ext>
            </a:extLst>
          </p:cNvPr>
          <p:cNvSpPr>
            <a:spLocks noGrp="1"/>
          </p:cNvSpPr>
          <p:nvPr>
            <p:ph idx="1"/>
          </p:nvPr>
        </p:nvSpPr>
        <p:spPr>
          <a:xfrm>
            <a:off x="677334" y="1620253"/>
            <a:ext cx="9012098" cy="4421109"/>
          </a:xfrm>
        </p:spPr>
        <p:txBody>
          <a:bodyPr>
            <a:normAutofit/>
          </a:bodyPr>
          <a:lstStyle/>
          <a:p>
            <a:pPr algn="just"/>
            <a:r>
              <a:rPr lang="en-US" sz="2000" dirty="0"/>
              <a:t>ProComp is dependent on underlying LLM capabilities, making it vulnerable to issues such as hallucinations, prompt sensitivity, and variability across different models.</a:t>
            </a:r>
          </a:p>
          <a:p>
            <a:pPr algn="just"/>
            <a:r>
              <a:rPr lang="en-US" sz="2000" dirty="0"/>
              <a:t>The effectiveness of Retrieval-Augmented Generation (RAG) is contingent on the quality and relevance of retrieved sources, which may introduce noise or bias into the evaluation process.</a:t>
            </a:r>
          </a:p>
          <a:p>
            <a:pPr algn="just"/>
            <a:r>
              <a:rPr lang="en-US" sz="2000" dirty="0"/>
              <a:t>The multi-agent architecture increases computational overhead and system complexity, resulting in higher latency and resource consumption for large-scale deployment.</a:t>
            </a:r>
          </a:p>
          <a:p>
            <a:pPr algn="just"/>
            <a:r>
              <a:rPr lang="en-US" sz="2000" dirty="0"/>
              <a:t>Alignment with human judgment is not perfect, and maintaining consistency across diverse and highly specialized research domains remains a challenging task</a:t>
            </a:r>
          </a:p>
        </p:txBody>
      </p:sp>
    </p:spTree>
    <p:extLst>
      <p:ext uri="{BB962C8B-B14F-4D97-AF65-F5344CB8AC3E}">
        <p14:creationId xmlns:p14="http://schemas.microsoft.com/office/powerpoint/2010/main" val="1287883029"/>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12F6984-01FD-3022-BCC4-8E2A8F2D348D}"/>
              </a:ext>
            </a:extLst>
          </p:cNvPr>
          <p:cNvSpPr>
            <a:spLocks noGrp="1"/>
          </p:cNvSpPr>
          <p:nvPr>
            <p:ph type="title"/>
          </p:nvPr>
        </p:nvSpPr>
        <p:spPr/>
        <p:txBody>
          <a:bodyPr/>
          <a:lstStyle/>
          <a:p>
            <a:r>
              <a:rPr lang="en-US" dirty="0"/>
              <a:t>Future work</a:t>
            </a:r>
          </a:p>
        </p:txBody>
      </p:sp>
      <p:sp>
        <p:nvSpPr>
          <p:cNvPr id="3" name="Content Placeholder 2">
            <a:extLst>
              <a:ext uri="{FF2B5EF4-FFF2-40B4-BE49-F238E27FC236}">
                <a16:creationId xmlns:a16="http://schemas.microsoft.com/office/drawing/2014/main" id="{8035ECD7-DBE3-3E0E-C736-CC581E12A456}"/>
              </a:ext>
            </a:extLst>
          </p:cNvPr>
          <p:cNvSpPr>
            <a:spLocks noGrp="1"/>
          </p:cNvSpPr>
          <p:nvPr>
            <p:ph idx="1"/>
          </p:nvPr>
        </p:nvSpPr>
        <p:spPr>
          <a:xfrm>
            <a:off x="677334" y="1363579"/>
            <a:ext cx="8596668" cy="4884821"/>
          </a:xfrm>
        </p:spPr>
        <p:txBody>
          <a:bodyPr>
            <a:normAutofit/>
          </a:bodyPr>
          <a:lstStyle/>
          <a:p>
            <a:r>
              <a:rPr lang="en-US" dirty="0"/>
              <a:t>We plan to improve the robustness and generalization of ProComp by leveraging advanced LLMs and employing prompt design strategies to ensure consistent, accurate evaluation.</a:t>
            </a:r>
          </a:p>
          <a:p>
            <a:r>
              <a:rPr lang="en-US" dirty="0"/>
              <a:t>Improvements to the Retrieval-Augmented Generation (RAG) component, with domain-specific and dynamically updated knowledge sources, could provide more solid grounding in the field and reduce incorrect evaluations.</a:t>
            </a:r>
          </a:p>
          <a:p>
            <a:r>
              <a:rPr lang="en-US" dirty="0"/>
              <a:t>We will also explore advanced judge mechanisms and competitive discussion protocols among agents, incorporating agreement-based scoring, consensus modeling, and pairwise ranking strategies to improve reliability, calibration, and discriminative ranking performance.</a:t>
            </a:r>
          </a:p>
          <a:p>
            <a:r>
              <a:rPr lang="en-US" dirty="0"/>
              <a:t>Trying to optimize the multi-agent architecture to reduce computational overhead, latency, and resource consumption for large-scale implementation.</a:t>
            </a:r>
          </a:p>
          <a:p>
            <a:r>
              <a:rPr lang="en-US" dirty="0"/>
              <a:t>Extending the framework to various research domains and multilingual evaluation will broaden the scope and the size of that methodology in real-world peer-review scenarios.</a:t>
            </a:r>
          </a:p>
        </p:txBody>
      </p:sp>
    </p:spTree>
    <p:extLst>
      <p:ext uri="{BB962C8B-B14F-4D97-AF65-F5344CB8AC3E}">
        <p14:creationId xmlns:p14="http://schemas.microsoft.com/office/powerpoint/2010/main" val="3833409432"/>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83C0E21-15BF-00C9-58EC-86757A9521CF}"/>
              </a:ext>
            </a:extLst>
          </p:cNvPr>
          <p:cNvSpPr>
            <a:spLocks noGrp="1"/>
          </p:cNvSpPr>
          <p:nvPr>
            <p:ph type="title"/>
          </p:nvPr>
        </p:nvSpPr>
        <p:spPr>
          <a:xfrm>
            <a:off x="372534" y="240631"/>
            <a:ext cx="8596668" cy="1320800"/>
          </a:xfrm>
        </p:spPr>
        <p:txBody>
          <a:bodyPr/>
          <a:lstStyle/>
          <a:p>
            <a:r>
              <a:rPr lang="en-US" dirty="0"/>
              <a:t>References</a:t>
            </a:r>
          </a:p>
        </p:txBody>
      </p:sp>
      <p:sp>
        <p:nvSpPr>
          <p:cNvPr id="7" name="TextBox 6">
            <a:extLst>
              <a:ext uri="{FF2B5EF4-FFF2-40B4-BE49-F238E27FC236}">
                <a16:creationId xmlns:a16="http://schemas.microsoft.com/office/drawing/2014/main" id="{65C3B088-B37F-8428-BA4C-3F814337995B}"/>
              </a:ext>
            </a:extLst>
          </p:cNvPr>
          <p:cNvSpPr txBox="1"/>
          <p:nvPr/>
        </p:nvSpPr>
        <p:spPr>
          <a:xfrm>
            <a:off x="673768" y="985058"/>
            <a:ext cx="8999622" cy="5632311"/>
          </a:xfrm>
          <a:prstGeom prst="rect">
            <a:avLst/>
          </a:prstGeom>
          <a:noFill/>
        </p:spPr>
        <p:txBody>
          <a:bodyPr wrap="square">
            <a:spAutoFit/>
          </a:bodyPr>
          <a:lstStyle/>
          <a:p>
            <a:pPr algn="just">
              <a:buNone/>
            </a:pPr>
            <a:r>
              <a:rPr lang="en-US" dirty="0"/>
              <a:t>[1] T. Brown </a:t>
            </a:r>
            <a:r>
              <a:rPr lang="en-US" i="1" dirty="0"/>
              <a:t>et al.</a:t>
            </a:r>
            <a:r>
              <a:rPr lang="en-US" dirty="0"/>
              <a:t>, “Language Models are Few-Shot Learners,” in </a:t>
            </a:r>
            <a:r>
              <a:rPr lang="en-US" i="1" dirty="0"/>
              <a:t>Advances in Neural Information Processing Systems (</a:t>
            </a:r>
            <a:r>
              <a:rPr lang="en-US" i="1" dirty="0" err="1"/>
              <a:t>NeurIPS</a:t>
            </a:r>
            <a:r>
              <a:rPr lang="en-US" i="1" dirty="0"/>
              <a:t>)</a:t>
            </a:r>
            <a:r>
              <a:rPr lang="en-US" dirty="0"/>
              <a:t>, 2020.</a:t>
            </a:r>
          </a:p>
          <a:p>
            <a:pPr algn="just">
              <a:buNone/>
            </a:pPr>
            <a:r>
              <a:rPr lang="en-US" dirty="0"/>
              <a:t>[2] H. </a:t>
            </a:r>
            <a:r>
              <a:rPr lang="en-US" dirty="0" err="1"/>
              <a:t>Touvron</a:t>
            </a:r>
            <a:r>
              <a:rPr lang="en-US" dirty="0"/>
              <a:t> </a:t>
            </a:r>
            <a:r>
              <a:rPr lang="en-US" i="1" dirty="0"/>
              <a:t>et al.</a:t>
            </a:r>
            <a:r>
              <a:rPr lang="en-US" dirty="0"/>
              <a:t>, “</a:t>
            </a:r>
            <a:r>
              <a:rPr lang="en-US" dirty="0" err="1"/>
              <a:t>LLaMA</a:t>
            </a:r>
            <a:r>
              <a:rPr lang="en-US" dirty="0"/>
              <a:t>: Open and Efficient Foundation Language Models,” </a:t>
            </a:r>
            <a:r>
              <a:rPr lang="en-US" i="1" dirty="0" err="1"/>
              <a:t>arXiv</a:t>
            </a:r>
            <a:r>
              <a:rPr lang="en-US" i="1" dirty="0"/>
              <a:t> preprint arXiv:2302.13971</a:t>
            </a:r>
            <a:r>
              <a:rPr lang="en-US" dirty="0"/>
              <a:t>, 2023.</a:t>
            </a:r>
          </a:p>
          <a:p>
            <a:pPr algn="just">
              <a:buNone/>
            </a:pPr>
            <a:r>
              <a:rPr lang="en-US" dirty="0"/>
              <a:t>[3] J. Wei </a:t>
            </a:r>
            <a:r>
              <a:rPr lang="en-US" i="1" dirty="0"/>
              <a:t>et al.</a:t>
            </a:r>
            <a:r>
              <a:rPr lang="en-US" dirty="0"/>
              <a:t>, “Chain-of-Thought Prompting Elicits Reasoning in Large Language Models,” in </a:t>
            </a:r>
            <a:r>
              <a:rPr lang="en-US" i="1" dirty="0" err="1"/>
              <a:t>NeurIPS</a:t>
            </a:r>
            <a:r>
              <a:rPr lang="en-US" dirty="0"/>
              <a:t>, 2022.</a:t>
            </a:r>
          </a:p>
          <a:p>
            <a:pPr algn="just">
              <a:buNone/>
            </a:pPr>
            <a:r>
              <a:rPr lang="en-US" dirty="0"/>
              <a:t>[4] Y. Liu </a:t>
            </a:r>
            <a:r>
              <a:rPr lang="en-US" i="1" dirty="0"/>
              <a:t>et al.</a:t>
            </a:r>
            <a:r>
              <a:rPr lang="en-US" dirty="0"/>
              <a:t>, “Retrieval-Augmented Generation for Knowledge-Intensive NLP Tasks,” in </a:t>
            </a:r>
            <a:r>
              <a:rPr lang="en-US" i="1" dirty="0"/>
              <a:t>Advances in Neural Information Processing Systems (</a:t>
            </a:r>
            <a:r>
              <a:rPr lang="en-US" i="1" dirty="0" err="1"/>
              <a:t>NeurIPS</a:t>
            </a:r>
            <a:r>
              <a:rPr lang="en-US" i="1" dirty="0"/>
              <a:t>)</a:t>
            </a:r>
            <a:r>
              <a:rPr lang="en-US" dirty="0"/>
              <a:t>, 2020.</a:t>
            </a:r>
          </a:p>
          <a:p>
            <a:pPr algn="just">
              <a:buNone/>
            </a:pPr>
            <a:r>
              <a:rPr lang="en-US" dirty="0"/>
              <a:t>[5] S. Yasunaga </a:t>
            </a:r>
            <a:r>
              <a:rPr lang="en-US" i="1" dirty="0"/>
              <a:t>et al.</a:t>
            </a:r>
            <a:r>
              <a:rPr lang="en-US" dirty="0"/>
              <a:t>, “Self-Refine: Iterative Refinement with Self-Feedback,” </a:t>
            </a:r>
            <a:r>
              <a:rPr lang="en-US" i="1" dirty="0" err="1"/>
              <a:t>arXiv</a:t>
            </a:r>
            <a:r>
              <a:rPr lang="en-US" i="1" dirty="0"/>
              <a:t> preprint arXiv:2303.17651</a:t>
            </a:r>
            <a:r>
              <a:rPr lang="en-US" dirty="0"/>
              <a:t>, 2023.</a:t>
            </a:r>
          </a:p>
          <a:p>
            <a:pPr algn="just">
              <a:buNone/>
            </a:pPr>
            <a:r>
              <a:rPr lang="en-US" dirty="0"/>
              <a:t>[6] L. Zheng </a:t>
            </a:r>
            <a:r>
              <a:rPr lang="en-US" i="1" dirty="0"/>
              <a:t>et al.</a:t>
            </a:r>
            <a:r>
              <a:rPr lang="en-US" dirty="0"/>
              <a:t>, “Judging LLM-as-a-Judge with MT-Bench and Chatbot Arena,” in </a:t>
            </a:r>
            <a:r>
              <a:rPr lang="en-US" i="1" dirty="0" err="1"/>
              <a:t>NeurIPS</a:t>
            </a:r>
            <a:r>
              <a:rPr lang="en-US" i="1" dirty="0"/>
              <a:t> Datasets and Benchmarks Track</a:t>
            </a:r>
            <a:r>
              <a:rPr lang="en-US" dirty="0"/>
              <a:t>, 2023.</a:t>
            </a:r>
          </a:p>
          <a:p>
            <a:pPr algn="just">
              <a:buNone/>
            </a:pPr>
            <a:r>
              <a:rPr lang="en-US" dirty="0"/>
              <a:t>[7] X. Wang </a:t>
            </a:r>
            <a:r>
              <a:rPr lang="en-US" i="1" dirty="0"/>
              <a:t>et al.</a:t>
            </a:r>
            <a:r>
              <a:rPr lang="en-US" dirty="0"/>
              <a:t>, “Self-Consistency Improves Chain of Thought Reasoning in Language Models,” in </a:t>
            </a:r>
            <a:r>
              <a:rPr lang="en-US" i="1" dirty="0"/>
              <a:t>ICLR</a:t>
            </a:r>
            <a:r>
              <a:rPr lang="en-US" dirty="0"/>
              <a:t>, 2023.</a:t>
            </a:r>
          </a:p>
          <a:p>
            <a:pPr algn="just">
              <a:buNone/>
            </a:pPr>
            <a:r>
              <a:rPr lang="en-US" dirty="0"/>
              <a:t>[8] G. Wang </a:t>
            </a:r>
            <a:r>
              <a:rPr lang="en-US" i="1" dirty="0"/>
              <a:t>et al.</a:t>
            </a:r>
            <a:r>
              <a:rPr lang="en-US" dirty="0"/>
              <a:t>, “</a:t>
            </a:r>
            <a:r>
              <a:rPr lang="en-US" dirty="0" err="1"/>
              <a:t>AgentVerse</a:t>
            </a:r>
            <a:r>
              <a:rPr lang="en-US" dirty="0"/>
              <a:t>: Facilitating Multi-Agent Collaboration and Exploration,” </a:t>
            </a:r>
            <a:r>
              <a:rPr lang="en-US" i="1" dirty="0" err="1"/>
              <a:t>arXiv</a:t>
            </a:r>
            <a:r>
              <a:rPr lang="en-US" i="1" dirty="0"/>
              <a:t> preprint arXiv:2308.10848</a:t>
            </a:r>
            <a:r>
              <a:rPr lang="en-US" dirty="0"/>
              <a:t>, 2023.</a:t>
            </a:r>
          </a:p>
          <a:p>
            <a:pPr algn="just">
              <a:buNone/>
            </a:pPr>
            <a:r>
              <a:rPr lang="en-US" dirty="0"/>
              <a:t>[9] S. Kovačević </a:t>
            </a:r>
            <a:r>
              <a:rPr lang="en-US" i="1" dirty="0"/>
              <a:t>et al.</a:t>
            </a:r>
            <a:r>
              <a:rPr lang="en-US" dirty="0"/>
              <a:t>, “Automating Scientific Peer Review: A Survey,” </a:t>
            </a:r>
            <a:r>
              <a:rPr lang="en-US" i="1" dirty="0"/>
              <a:t>ACM Computing Surveys</a:t>
            </a:r>
            <a:r>
              <a:rPr lang="en-US" dirty="0"/>
              <a:t>, 2024.</a:t>
            </a:r>
          </a:p>
          <a:p>
            <a:pPr algn="just">
              <a:buNone/>
            </a:pPr>
            <a:r>
              <a:rPr lang="en-US" dirty="0"/>
              <a:t>[10] M. Wadden </a:t>
            </a:r>
            <a:r>
              <a:rPr lang="en-US" i="1" dirty="0"/>
              <a:t>et al.</a:t>
            </a:r>
            <a:r>
              <a:rPr lang="en-US" dirty="0"/>
              <a:t>, “Fact-Checking Scientific Claims with Retrieval-Augmented Language Models,” in </a:t>
            </a:r>
            <a:r>
              <a:rPr lang="en-US" i="1" dirty="0"/>
              <a:t>ACL</a:t>
            </a:r>
            <a:r>
              <a:rPr lang="en-US" dirty="0"/>
              <a:t>, 2023.</a:t>
            </a:r>
          </a:p>
        </p:txBody>
      </p:sp>
    </p:spTree>
    <p:extLst>
      <p:ext uri="{BB962C8B-B14F-4D97-AF65-F5344CB8AC3E}">
        <p14:creationId xmlns:p14="http://schemas.microsoft.com/office/powerpoint/2010/main" val="3686860576"/>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bg>
      <p:bgPr>
        <a:blipFill>
          <a:blip r:embed="rId3">
            <a:duotone>
              <a:schemeClr val="bg2">
                <a:shade val="88000"/>
                <a:hueMod val="106000"/>
                <a:satMod val="140000"/>
                <a:lumMod val="54000"/>
              </a:schemeClr>
              <a:schemeClr val="bg2">
                <a:tint val="98000"/>
                <a:hueMod val="90000"/>
                <a:satMod val="150000"/>
                <a:lumMod val="160000"/>
              </a:schemeClr>
            </a:duotone>
          </a:blip>
          <a:stretch/>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62BC497-EBAE-FBD1-3E02-5BEFFD1AEBF4}"/>
              </a:ext>
            </a:extLst>
          </p:cNvPr>
          <p:cNvSpPr>
            <a:spLocks noGrp="1"/>
          </p:cNvSpPr>
          <p:nvPr>
            <p:ph type="title"/>
          </p:nvPr>
        </p:nvSpPr>
        <p:spPr>
          <a:xfrm>
            <a:off x="1876424" y="4141693"/>
            <a:ext cx="8791575" cy="1301673"/>
          </a:xfrm>
        </p:spPr>
        <p:txBody>
          <a:bodyPr vert="horz" lIns="91440" tIns="45720" rIns="91440" bIns="45720" rtlCol="0" anchor="b">
            <a:normAutofit/>
          </a:bodyPr>
          <a:lstStyle/>
          <a:p>
            <a:pPr algn="ctr"/>
            <a:r>
              <a:rPr lang="en-US" sz="4800" dirty="0"/>
              <a:t>Thank you</a:t>
            </a:r>
          </a:p>
        </p:txBody>
      </p:sp>
      <p:pic>
        <p:nvPicPr>
          <p:cNvPr id="5" name="Picture 4" descr="Yellow and blue symbols">
            <a:extLst>
              <a:ext uri="{FF2B5EF4-FFF2-40B4-BE49-F238E27FC236}">
                <a16:creationId xmlns:a16="http://schemas.microsoft.com/office/drawing/2014/main" id="{18EF8256-5C55-129F-F137-8360C7A1E0F4}"/>
              </a:ext>
            </a:extLst>
          </p:cNvPr>
          <p:cNvPicPr>
            <a:picLocks noChangeAspect="1"/>
          </p:cNvPicPr>
          <p:nvPr/>
        </p:nvPicPr>
        <p:blipFill>
          <a:blip r:embed="rId4"/>
          <a:srcRect l="5285" r="10401" b="1"/>
          <a:stretch>
            <a:fillRect/>
          </a:stretch>
        </p:blipFill>
        <p:spPr>
          <a:xfrm>
            <a:off x="4677499" y="1108038"/>
            <a:ext cx="3189424" cy="2893808"/>
          </a:xfrm>
          <a:prstGeom prst="round2DiagRect">
            <a:avLst>
              <a:gd name="adj1" fmla="val 5608"/>
              <a:gd name="adj2" fmla="val 0"/>
            </a:avLst>
          </a:prstGeom>
          <a:ln w="19050" cap="sq">
            <a:solidFill>
              <a:schemeClr val="tx2">
                <a:lumMod val="60000"/>
                <a:lumOff val="40000"/>
                <a:alpha val="60000"/>
              </a:schemeClr>
            </a:solidFill>
            <a:miter lim="800000"/>
          </a:ln>
          <a:effectLst>
            <a:outerShdw blurRad="88900" dist="38100" dir="5400000" algn="t" rotWithShape="0">
              <a:prstClr val="black">
                <a:alpha val="40000"/>
              </a:prstClr>
            </a:outerShdw>
          </a:effectLst>
        </p:spPr>
      </p:pic>
    </p:spTree>
    <p:extLst>
      <p:ext uri="{BB962C8B-B14F-4D97-AF65-F5344CB8AC3E}">
        <p14:creationId xmlns:p14="http://schemas.microsoft.com/office/powerpoint/2010/main" val="4171331226"/>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PLUS_ID" val="header_0"/>
</p:tagLst>
</file>

<file path=ppt/tags/tag2.xml><?xml version="1.0" encoding="utf-8"?>
<p:tagLst xmlns:a="http://schemas.openxmlformats.org/drawingml/2006/main" xmlns:r="http://schemas.openxmlformats.org/officeDocument/2006/relationships" xmlns:p="http://schemas.openxmlformats.org/presentationml/2006/main">
  <p:tag name="PLUS_ID" val="detail_0"/>
</p:tagLst>
</file>

<file path=ppt/tags/tag3.xml><?xml version="1.0" encoding="utf-8"?>
<p:tagLst xmlns:a="http://schemas.openxmlformats.org/drawingml/2006/main" xmlns:r="http://schemas.openxmlformats.org/officeDocument/2006/relationships" xmlns:p="http://schemas.openxmlformats.org/presentationml/2006/main">
  <p:tag name="PLUS_ID" val="header_1"/>
</p:tagLst>
</file>

<file path=ppt/tags/tag4.xml><?xml version="1.0" encoding="utf-8"?>
<p:tagLst xmlns:a="http://schemas.openxmlformats.org/drawingml/2006/main" xmlns:r="http://schemas.openxmlformats.org/officeDocument/2006/relationships" xmlns:p="http://schemas.openxmlformats.org/presentationml/2006/main">
  <p:tag name="PLUS_ID" val="detail_1"/>
</p:tagLst>
</file>

<file path=ppt/tags/tag5.xml><?xml version="1.0" encoding="utf-8"?>
<p:tagLst xmlns:a="http://schemas.openxmlformats.org/drawingml/2006/main" xmlns:r="http://schemas.openxmlformats.org/officeDocument/2006/relationships" xmlns:p="http://schemas.openxmlformats.org/presentationml/2006/main">
  <p:tag name="PLUS_ID" val="header_2"/>
</p:tagLst>
</file>

<file path=ppt/tags/tag6.xml><?xml version="1.0" encoding="utf-8"?>
<p:tagLst xmlns:a="http://schemas.openxmlformats.org/drawingml/2006/main" xmlns:r="http://schemas.openxmlformats.org/officeDocument/2006/relationships" xmlns:p="http://schemas.openxmlformats.org/presentationml/2006/main">
  <p:tag name="PLUS_ID" val="detail_2"/>
</p:tagLst>
</file>

<file path=ppt/tags/tag7.xml><?xml version="1.0" encoding="utf-8"?>
<p:tagLst xmlns:a="http://schemas.openxmlformats.org/drawingml/2006/main" xmlns:r="http://schemas.openxmlformats.org/officeDocument/2006/relationships" xmlns:p="http://schemas.openxmlformats.org/presentationml/2006/main">
  <p:tag name="PLUS_ID" val="header_3"/>
</p:tagLst>
</file>

<file path=ppt/tags/tag8.xml><?xml version="1.0" encoding="utf-8"?>
<p:tagLst xmlns:a="http://schemas.openxmlformats.org/drawingml/2006/main" xmlns:r="http://schemas.openxmlformats.org/officeDocument/2006/relationships" xmlns:p="http://schemas.openxmlformats.org/presentationml/2006/main">
  <p:tag name="PLUS_ID" val="detail_3"/>
</p:tagLst>
</file>

<file path=ppt/tags/tag9.xml><?xml version="1.0" encoding="utf-8"?>
<p:tagLst xmlns:a="http://schemas.openxmlformats.org/drawingml/2006/main" xmlns:r="http://schemas.openxmlformats.org/officeDocument/2006/relationships" xmlns:p="http://schemas.openxmlformats.org/presentationml/2006/main">
  <p:tag name="PLUS_ID" val="swappable_0"/>
</p:tagLst>
</file>

<file path=ppt/tags/tag10.xml><?xml version="1.0" encoding="utf-8"?>
<p:tagLst xmlns:a="http://schemas.openxmlformats.org/drawingml/2006/main" xmlns:r="http://schemas.openxmlformats.org/officeDocument/2006/relationships" xmlns:p="http://schemas.openxmlformats.org/presentationml/2006/main">
  <p:tag name="PLUS_ID" val="swappable_1"/>
</p:tagLst>
</file>

<file path=ppt/tags/tag11.xml><?xml version="1.0" encoding="utf-8"?>
<p:tagLst xmlns:a="http://schemas.openxmlformats.org/drawingml/2006/main" xmlns:r="http://schemas.openxmlformats.org/officeDocument/2006/relationships" xmlns:p="http://schemas.openxmlformats.org/presentationml/2006/main">
  <p:tag name="PLUS_ID" val="swappable_2"/>
</p:tagLst>
</file>

<file path=ppt/tags/tag12.xml><?xml version="1.0" encoding="utf-8"?>
<p:tagLst xmlns:a="http://schemas.openxmlformats.org/drawingml/2006/main" xmlns:r="http://schemas.openxmlformats.org/officeDocument/2006/relationships" xmlns:p="http://schemas.openxmlformats.org/presentationml/2006/main">
  <p:tag name="PLUS_ID" val="icon_0"/>
</p:tagLst>
</file>

<file path=ppt/tags/tag13.xml><?xml version="1.0" encoding="utf-8"?>
<p:tagLst xmlns:a="http://schemas.openxmlformats.org/drawingml/2006/main" xmlns:r="http://schemas.openxmlformats.org/officeDocument/2006/relationships" xmlns:p="http://schemas.openxmlformats.org/presentationml/2006/main">
  <p:tag name="PLUS_ID" val="icon_1"/>
</p:tagLst>
</file>

<file path=ppt/tags/tag14.xml><?xml version="1.0" encoding="utf-8"?>
<p:tagLst xmlns:a="http://schemas.openxmlformats.org/drawingml/2006/main" xmlns:r="http://schemas.openxmlformats.org/officeDocument/2006/relationships" xmlns:p="http://schemas.openxmlformats.org/presentationml/2006/main">
  <p:tag name="PLUS_ID" val="icon_2"/>
</p:tagLst>
</file>

<file path=ppt/tags/tag15.xml><?xml version="1.0" encoding="utf-8"?>
<p:tagLst xmlns:a="http://schemas.openxmlformats.org/drawingml/2006/main" xmlns:r="http://schemas.openxmlformats.org/officeDocument/2006/relationships" xmlns:p="http://schemas.openxmlformats.org/presentationml/2006/main">
  <p:tag name="PLUS_ID" val="title"/>
</p:tagLst>
</file>

<file path=ppt/tags/tag16.xml><?xml version="1.0" encoding="utf-8"?>
<p:tagLst xmlns:a="http://schemas.openxmlformats.org/drawingml/2006/main" xmlns:r="http://schemas.openxmlformats.org/officeDocument/2006/relationships" xmlns:p="http://schemas.openxmlformats.org/presentationml/2006/main">
  <p:tag name="PLUS_ID" val="header_0"/>
</p:tagLst>
</file>

<file path=ppt/tags/tag17.xml><?xml version="1.0" encoding="utf-8"?>
<p:tagLst xmlns:a="http://schemas.openxmlformats.org/drawingml/2006/main" xmlns:r="http://schemas.openxmlformats.org/officeDocument/2006/relationships" xmlns:p="http://schemas.openxmlformats.org/presentationml/2006/main">
  <p:tag name="PLUS_ID" val="header_1"/>
</p:tagLst>
</file>

<file path=ppt/tags/tag18.xml><?xml version="1.0" encoding="utf-8"?>
<p:tagLst xmlns:a="http://schemas.openxmlformats.org/drawingml/2006/main" xmlns:r="http://schemas.openxmlformats.org/officeDocument/2006/relationships" xmlns:p="http://schemas.openxmlformats.org/presentationml/2006/main">
  <p:tag name="PLUS_ID" val="image_0"/>
</p:tagLst>
</file>

<file path=ppt/tags/tag19.xml><?xml version="1.0" encoding="utf-8"?>
<p:tagLst xmlns:a="http://schemas.openxmlformats.org/drawingml/2006/main" xmlns:r="http://schemas.openxmlformats.org/officeDocument/2006/relationships" xmlns:p="http://schemas.openxmlformats.org/presentationml/2006/main">
  <p:tag name="PLUS_ID" val="image_1"/>
</p:tagLst>
</file>

<file path=ppt/tags/tag20.xml><?xml version="1.0" encoding="utf-8"?>
<p:tagLst xmlns:a="http://schemas.openxmlformats.org/drawingml/2006/main" xmlns:r="http://schemas.openxmlformats.org/officeDocument/2006/relationships" xmlns:p="http://schemas.openxmlformats.org/presentationml/2006/main">
  <p:tag name="PLUS_ID" val="swappable_3"/>
</p:tagLst>
</file>

<file path=ppt/tags/tag21.xml><?xml version="1.0" encoding="utf-8"?>
<p:tagLst xmlns:a="http://schemas.openxmlformats.org/drawingml/2006/main" xmlns:r="http://schemas.openxmlformats.org/officeDocument/2006/relationships" xmlns:p="http://schemas.openxmlformats.org/presentationml/2006/main">
  <p:tag name="PLUS_ID" val="header_0"/>
</p:tagLst>
</file>

<file path=ppt/tags/tag22.xml><?xml version="1.0" encoding="utf-8"?>
<p:tagLst xmlns:a="http://schemas.openxmlformats.org/drawingml/2006/main" xmlns:r="http://schemas.openxmlformats.org/officeDocument/2006/relationships" xmlns:p="http://schemas.openxmlformats.org/presentationml/2006/main">
  <p:tag name="PLUS_ID" val="header_1"/>
</p:tagLst>
</file>

<file path=ppt/tags/tag23.xml><?xml version="1.0" encoding="utf-8"?>
<p:tagLst xmlns:a="http://schemas.openxmlformats.org/drawingml/2006/main" xmlns:r="http://schemas.openxmlformats.org/officeDocument/2006/relationships" xmlns:p="http://schemas.openxmlformats.org/presentationml/2006/main">
  <p:tag name="PLUS_ID" val="header_2"/>
</p:tagLst>
</file>

<file path=ppt/tags/tag24.xml><?xml version="1.0" encoding="utf-8"?>
<p:tagLst xmlns:a="http://schemas.openxmlformats.org/drawingml/2006/main" xmlns:r="http://schemas.openxmlformats.org/officeDocument/2006/relationships" xmlns:p="http://schemas.openxmlformats.org/presentationml/2006/main">
  <p:tag name="PLUS_ID" val="header_3"/>
</p:tagLst>
</file>

<file path=ppt/tags/tag25.xml><?xml version="1.0" encoding="utf-8"?>
<p:tagLst xmlns:a="http://schemas.openxmlformats.org/drawingml/2006/main" xmlns:r="http://schemas.openxmlformats.org/officeDocument/2006/relationships" xmlns:p="http://schemas.openxmlformats.org/presentationml/2006/main">
  <p:tag name="PLUS_ID" val="swappable_0"/>
</p:tagLst>
</file>

<file path=ppt/tags/tag26.xml><?xml version="1.0" encoding="utf-8"?>
<p:tagLst xmlns:a="http://schemas.openxmlformats.org/drawingml/2006/main" xmlns:r="http://schemas.openxmlformats.org/officeDocument/2006/relationships" xmlns:p="http://schemas.openxmlformats.org/presentationml/2006/main">
  <p:tag name="PLUS_ID" val="swappable_1"/>
</p:tagLst>
</file>

<file path=ppt/tags/tag27.xml><?xml version="1.0" encoding="utf-8"?>
<p:tagLst xmlns:a="http://schemas.openxmlformats.org/drawingml/2006/main" xmlns:r="http://schemas.openxmlformats.org/officeDocument/2006/relationships" xmlns:p="http://schemas.openxmlformats.org/presentationml/2006/main">
  <p:tag name="PLUS_ID" val="swappable_2"/>
</p:tagLst>
</file>

<file path=ppt/tags/tag28.xml><?xml version="1.0" encoding="utf-8"?>
<p:tagLst xmlns:a="http://schemas.openxmlformats.org/drawingml/2006/main" xmlns:r="http://schemas.openxmlformats.org/officeDocument/2006/relationships" xmlns:p="http://schemas.openxmlformats.org/presentationml/2006/main">
  <p:tag name="PLUS_ID" val="icon_0"/>
</p:tagLst>
</file>

<file path=ppt/tags/tag29.xml><?xml version="1.0" encoding="utf-8"?>
<p:tagLst xmlns:a="http://schemas.openxmlformats.org/drawingml/2006/main" xmlns:r="http://schemas.openxmlformats.org/officeDocument/2006/relationships" xmlns:p="http://schemas.openxmlformats.org/presentationml/2006/main">
  <p:tag name="PLUS_ID" val="icon_1"/>
</p:tagLst>
</file>

<file path=ppt/tags/tag30.xml><?xml version="1.0" encoding="utf-8"?>
<p:tagLst xmlns:a="http://schemas.openxmlformats.org/drawingml/2006/main" xmlns:r="http://schemas.openxmlformats.org/officeDocument/2006/relationships" xmlns:p="http://schemas.openxmlformats.org/presentationml/2006/main">
  <p:tag name="PLUS_ID" val="icon_2"/>
</p:tagLst>
</file>

<file path=ppt/tags/tag31.xml><?xml version="1.0" encoding="utf-8"?>
<p:tagLst xmlns:a="http://schemas.openxmlformats.org/drawingml/2006/main" xmlns:r="http://schemas.openxmlformats.org/officeDocument/2006/relationships" xmlns:p="http://schemas.openxmlformats.org/presentationml/2006/main">
  <p:tag name="PLUS_ID" val="icon_3"/>
</p:tagLst>
</file>

<file path=ppt/tags/tag32.xml><?xml version="1.0" encoding="utf-8"?>
<p:tagLst xmlns:a="http://schemas.openxmlformats.org/drawingml/2006/main" xmlns:r="http://schemas.openxmlformats.org/officeDocument/2006/relationships" xmlns:p="http://schemas.openxmlformats.org/presentationml/2006/main">
  <p:tag name="PLUS_ID" val="swappable_0"/>
</p:tagLst>
</file>

<file path=ppt/tags/tag33.xml><?xml version="1.0" encoding="utf-8"?>
<p:tagLst xmlns:a="http://schemas.openxmlformats.org/drawingml/2006/main" xmlns:r="http://schemas.openxmlformats.org/officeDocument/2006/relationships" xmlns:p="http://schemas.openxmlformats.org/presentationml/2006/main">
  <p:tag name="PLUS_ID" val="swappable_1"/>
</p:tagLst>
</file>

<file path=ppt/tags/tag34.xml><?xml version="1.0" encoding="utf-8"?>
<p:tagLst xmlns:a="http://schemas.openxmlformats.org/drawingml/2006/main" xmlns:r="http://schemas.openxmlformats.org/officeDocument/2006/relationships" xmlns:p="http://schemas.openxmlformats.org/presentationml/2006/main">
  <p:tag name="PLUS_ID" val="swappable_2"/>
</p:tagLst>
</file>

<file path=ppt/tags/tag35.xml><?xml version="1.0" encoding="utf-8"?>
<p:tagLst xmlns:a="http://schemas.openxmlformats.org/drawingml/2006/main" xmlns:r="http://schemas.openxmlformats.org/officeDocument/2006/relationships" xmlns:p="http://schemas.openxmlformats.org/presentationml/2006/main">
  <p:tag name="PLUS_ID" val="icon_0"/>
</p:tagLst>
</file>

<file path=ppt/tags/tag36.xml><?xml version="1.0" encoding="utf-8"?>
<p:tagLst xmlns:a="http://schemas.openxmlformats.org/drawingml/2006/main" xmlns:r="http://schemas.openxmlformats.org/officeDocument/2006/relationships" xmlns:p="http://schemas.openxmlformats.org/presentationml/2006/main">
  <p:tag name="PLUS_ID" val="icon_1"/>
</p:tagLst>
</file>

<file path=ppt/tags/tag37.xml><?xml version="1.0" encoding="utf-8"?>
<p:tagLst xmlns:a="http://schemas.openxmlformats.org/drawingml/2006/main" xmlns:r="http://schemas.openxmlformats.org/officeDocument/2006/relationships" xmlns:p="http://schemas.openxmlformats.org/presentationml/2006/main">
  <p:tag name="PLUS_ID" val="icon_2"/>
</p:tagLst>
</file>

<file path=ppt/tags/tag38.xml><?xml version="1.0" encoding="utf-8"?>
<p:tagLst xmlns:a="http://schemas.openxmlformats.org/drawingml/2006/main" xmlns:r="http://schemas.openxmlformats.org/officeDocument/2006/relationships" xmlns:p="http://schemas.openxmlformats.org/presentationml/2006/main">
  <p:tag name="PLUS_ID" val="detail_0"/>
</p:tagLst>
</file>

<file path=ppt/tags/tag39.xml><?xml version="1.0" encoding="utf-8"?>
<p:tagLst xmlns:a="http://schemas.openxmlformats.org/drawingml/2006/main" xmlns:r="http://schemas.openxmlformats.org/officeDocument/2006/relationships" xmlns:p="http://schemas.openxmlformats.org/presentationml/2006/main">
  <p:tag name="PLUS_ID" val="detail_1"/>
</p:tagLst>
</file>

<file path=ppt/tags/tag40.xml><?xml version="1.0" encoding="utf-8"?>
<p:tagLst xmlns:a="http://schemas.openxmlformats.org/drawingml/2006/main" xmlns:r="http://schemas.openxmlformats.org/officeDocument/2006/relationships" xmlns:p="http://schemas.openxmlformats.org/presentationml/2006/main">
  <p:tag name="PLUS_ID" val="detail_2"/>
</p:tagLst>
</file>

<file path=ppt/tags/tag41.xml><?xml version="1.0" encoding="utf-8"?>
<p:tagLst xmlns:a="http://schemas.openxmlformats.org/drawingml/2006/main" xmlns:r="http://schemas.openxmlformats.org/officeDocument/2006/relationships" xmlns:p="http://schemas.openxmlformats.org/presentationml/2006/main">
  <p:tag name="PLUS_ID" val="header_0"/>
</p:tagLst>
</file>

<file path=ppt/tags/tag42.xml><?xml version="1.0" encoding="utf-8"?>
<p:tagLst xmlns:a="http://schemas.openxmlformats.org/drawingml/2006/main" xmlns:r="http://schemas.openxmlformats.org/officeDocument/2006/relationships" xmlns:p="http://schemas.openxmlformats.org/presentationml/2006/main">
  <p:tag name="PLUS_ID" val="header_1"/>
</p:tagLst>
</file>

<file path=ppt/tags/tag43.xml><?xml version="1.0" encoding="utf-8"?>
<p:tagLst xmlns:a="http://schemas.openxmlformats.org/drawingml/2006/main" xmlns:r="http://schemas.openxmlformats.org/officeDocument/2006/relationships" xmlns:p="http://schemas.openxmlformats.org/presentationml/2006/main">
  <p:tag name="PLUS_ID" val="header_2"/>
</p:tagLst>
</file>

<file path=ppt/tags/tag44.xml><?xml version="1.0" encoding="utf-8"?>
<p:tagLst xmlns:a="http://schemas.openxmlformats.org/drawingml/2006/main" xmlns:r="http://schemas.openxmlformats.org/officeDocument/2006/relationships" xmlns:p="http://schemas.openxmlformats.org/presentationml/2006/main">
  <p:tag name="PLUS_ID" val="swappable_2"/>
</p:tagLst>
</file>

<file path=ppt/tags/tag45.xml><?xml version="1.0" encoding="utf-8"?>
<p:tagLst xmlns:a="http://schemas.openxmlformats.org/drawingml/2006/main" xmlns:r="http://schemas.openxmlformats.org/officeDocument/2006/relationships" xmlns:p="http://schemas.openxmlformats.org/presentationml/2006/main">
  <p:tag name="PLUS_ID" val="detail_0"/>
</p:tagLst>
</file>

<file path=ppt/tags/tag46.xml><?xml version="1.0" encoding="utf-8"?>
<p:tagLst xmlns:a="http://schemas.openxmlformats.org/drawingml/2006/main" xmlns:r="http://schemas.openxmlformats.org/officeDocument/2006/relationships" xmlns:p="http://schemas.openxmlformats.org/presentationml/2006/main">
  <p:tag name="PLUS_ID" val="detail_1"/>
</p:tagLst>
</file>

<file path=ppt/tags/tag47.xml><?xml version="1.0" encoding="utf-8"?>
<p:tagLst xmlns:a="http://schemas.openxmlformats.org/drawingml/2006/main" xmlns:r="http://schemas.openxmlformats.org/officeDocument/2006/relationships" xmlns:p="http://schemas.openxmlformats.org/presentationml/2006/main">
  <p:tag name="PLUS_ID" val="detail_2"/>
</p:tagLst>
</file>

<file path=ppt/tags/tag48.xml><?xml version="1.0" encoding="utf-8"?>
<p:tagLst xmlns:a="http://schemas.openxmlformats.org/drawingml/2006/main" xmlns:r="http://schemas.openxmlformats.org/officeDocument/2006/relationships" xmlns:p="http://schemas.openxmlformats.org/presentationml/2006/main">
  <p:tag name="PLUS_ID" val="header_0"/>
</p:tagLst>
</file>

<file path=ppt/tags/tag49.xml><?xml version="1.0" encoding="utf-8"?>
<p:tagLst xmlns:a="http://schemas.openxmlformats.org/drawingml/2006/main" xmlns:r="http://schemas.openxmlformats.org/officeDocument/2006/relationships" xmlns:p="http://schemas.openxmlformats.org/presentationml/2006/main">
  <p:tag name="PLUS_ID" val="header_1"/>
</p:tagLst>
</file>

<file path=ppt/tags/tag50.xml><?xml version="1.0" encoding="utf-8"?>
<p:tagLst xmlns:a="http://schemas.openxmlformats.org/drawingml/2006/main" xmlns:r="http://schemas.openxmlformats.org/officeDocument/2006/relationships" xmlns:p="http://schemas.openxmlformats.org/presentationml/2006/main">
  <p:tag name="PLUS_ID" val="header_2"/>
</p:tagLst>
</file>

<file path=ppt/tags/tag51.xml><?xml version="1.0" encoding="utf-8"?>
<p:tagLst xmlns:a="http://schemas.openxmlformats.org/drawingml/2006/main" xmlns:r="http://schemas.openxmlformats.org/officeDocument/2006/relationships" xmlns:p="http://schemas.openxmlformats.org/presentationml/2006/main">
  <p:tag name="PLUS_ID" val="swappable_0"/>
</p:tagLst>
</file>

<file path=ppt/tags/tag52.xml><?xml version="1.0" encoding="utf-8"?>
<p:tagLst xmlns:a="http://schemas.openxmlformats.org/drawingml/2006/main" xmlns:r="http://schemas.openxmlformats.org/officeDocument/2006/relationships" xmlns:p="http://schemas.openxmlformats.org/presentationml/2006/main">
  <p:tag name="PLUS_ID" val="swappable_1"/>
</p:tagLst>
</file>

<file path=ppt/tags/tag53.xml><?xml version="1.0" encoding="utf-8"?>
<p:tagLst xmlns:a="http://schemas.openxmlformats.org/drawingml/2006/main" xmlns:r="http://schemas.openxmlformats.org/officeDocument/2006/relationships" xmlns:p="http://schemas.openxmlformats.org/presentationml/2006/main">
  <p:tag name="PLUS_ID" val="icon_0"/>
</p:tagLst>
</file>

<file path=ppt/tags/tag54.xml><?xml version="1.0" encoding="utf-8"?>
<p:tagLst xmlns:a="http://schemas.openxmlformats.org/drawingml/2006/main" xmlns:r="http://schemas.openxmlformats.org/officeDocument/2006/relationships" xmlns:p="http://schemas.openxmlformats.org/presentationml/2006/main">
  <p:tag name="PLUS_ID" val="icon_1"/>
</p:tagLst>
</file>

<file path=ppt/tags/tag55.xml><?xml version="1.0" encoding="utf-8"?>
<p:tagLst xmlns:a="http://schemas.openxmlformats.org/drawingml/2006/main" xmlns:r="http://schemas.openxmlformats.org/officeDocument/2006/relationships" xmlns:p="http://schemas.openxmlformats.org/presentationml/2006/main">
  <p:tag name="PLUS_ID" val="icon_2"/>
</p:tagLst>
</file>

<file path=ppt/theme/theme1.xml><?xml version="1.0" encoding="utf-8"?>
<a:theme xmlns:a="http://schemas.openxmlformats.org/drawingml/2006/main" name="Facet">
  <a:themeElements>
    <a:clrScheme name="Blue Green">
      <a:dk1>
        <a:sysClr val="windowText" lastClr="000000"/>
      </a:dk1>
      <a:lt1>
        <a:sysClr val="window" lastClr="FFFFFF"/>
      </a:lt1>
      <a:dk2>
        <a:srgbClr val="373545"/>
      </a:dk2>
      <a:lt2>
        <a:srgbClr val="CEDBE6"/>
      </a:lt2>
      <a:accent1>
        <a:srgbClr val="3494BA"/>
      </a:accent1>
      <a:accent2>
        <a:srgbClr val="58B6C0"/>
      </a:accent2>
      <a:accent3>
        <a:srgbClr val="75BDA7"/>
      </a:accent3>
      <a:accent4>
        <a:srgbClr val="7A8C8E"/>
      </a:accent4>
      <a:accent5>
        <a:srgbClr val="84ACB6"/>
      </a:accent5>
      <a:accent6>
        <a:srgbClr val="2683C6"/>
      </a:accent6>
      <a:hlink>
        <a:srgbClr val="6B9F25"/>
      </a:hlink>
      <a:folHlink>
        <a:srgbClr val="9F6715"/>
      </a:folHlink>
    </a:clrScheme>
    <a:fontScheme name="Facet">
      <a:majorFont>
        <a:latin typeface="Trebuchet MS" panose="020B0603020202020204"/>
        <a:ea typeface=""/>
        <a:cs typeface=""/>
        <a:font script="Jpan" typeface="メイリオ"/>
        <a:font script="Hang" typeface="맑은 고딕"/>
        <a:font script="Hans" typeface="方正姚体"/>
        <a:font script="Hant" typeface="微軟正黑體"/>
        <a:font script="Arab" typeface="Tahoma"/>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Trebuchet MS" panose="020B0603020202020204"/>
        <a:ea typeface=""/>
        <a:cs typeface=""/>
        <a:font script="Jpan" typeface="メイリオ"/>
        <a:font script="Hang" typeface="HY그래픽M"/>
        <a:font script="Hans" typeface="华文新魏"/>
        <a:font script="Hant" typeface="微軟正黑體"/>
        <a:font script="Arab" typeface="Tahoma"/>
        <a:font script="Hebr" typeface="Gisha"/>
        <a:font script="Thai" typeface="Iris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Facet">
      <a:fillStyleLst>
        <a:solidFill>
          <a:schemeClr val="phClr"/>
        </a:solidFill>
        <a:gradFill rotWithShape="1">
          <a:gsLst>
            <a:gs pos="0">
              <a:schemeClr val="phClr">
                <a:tint val="65000"/>
                <a:lumMod val="110000"/>
              </a:schemeClr>
            </a:gs>
            <a:gs pos="88000">
              <a:schemeClr val="phClr">
                <a:tint val="90000"/>
              </a:schemeClr>
            </a:gs>
          </a:gsLst>
          <a:lin ang="5400000" scaled="0"/>
        </a:gradFill>
        <a:gradFill rotWithShape="1">
          <a:gsLst>
            <a:gs pos="0">
              <a:schemeClr val="phClr">
                <a:tint val="96000"/>
                <a:lumMod val="100000"/>
              </a:schemeClr>
            </a:gs>
            <a:gs pos="78000">
              <a:schemeClr val="phClr">
                <a:shade val="94000"/>
                <a:lumMod val="94000"/>
              </a:schemeClr>
            </a:gs>
          </a:gsLst>
          <a:lin ang="5400000" scaled="0"/>
        </a:gradFill>
      </a:fillStyleLst>
      <a:lnStyleLst>
        <a:ln w="12700" cap="rnd" cmpd="sng" algn="ctr">
          <a:solidFill>
            <a:schemeClr val="phClr"/>
          </a:solidFill>
          <a:prstDash val="solid"/>
        </a:ln>
        <a:ln w="19050"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38100" dist="25400" dir="5400000" rotWithShape="0">
              <a:srgbClr val="000000">
                <a:alpha val="35000"/>
              </a:srgbClr>
            </a:outerShdw>
          </a:effectLst>
        </a:effectStyle>
        <a:effectStyle>
          <a:effectLst>
            <a:outerShdw blurRad="50800" dist="38100" dir="5400000" rotWithShape="0">
              <a:srgbClr val="000000">
                <a:alpha val="35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0000"/>
                <a:lumMod val="104000"/>
              </a:schemeClr>
            </a:gs>
            <a:gs pos="94000">
              <a:schemeClr val="phClr">
                <a:shade val="96000"/>
                <a:lumMod val="82000"/>
              </a:schemeClr>
            </a:gs>
          </a:gsLst>
          <a:lin ang="5400000" scaled="0"/>
        </a:gradFill>
        <a:gradFill rotWithShape="1">
          <a:gsLst>
            <a:gs pos="0">
              <a:schemeClr val="phClr">
                <a:tint val="90000"/>
                <a:lumMod val="110000"/>
              </a:schemeClr>
            </a:gs>
            <a:gs pos="100000">
              <a:schemeClr val="phClr">
                <a:shade val="94000"/>
                <a:lumMod val="96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Facet" id="{C0C680CD-088A-49FC-A102-D699147F32B2}" vid="{CFBC31BA-B70F-4F30-BCAA-4F3011E16C4D}"/>
    </a:ext>
  </a:extLst>
</a:theme>
</file>

<file path=ppt/theme/theme2.xml><?xml version="1.0" encoding="utf-8"?>
<a:theme xmlns:a="http://schemas.openxmlformats.org/drawingml/2006/main" name="Retrospect">
  <a:themeElements>
    <a:clrScheme name="Blue Warm">
      <a:dk1>
        <a:sysClr val="windowText" lastClr="000000"/>
      </a:dk1>
      <a:lt1>
        <a:sysClr val="window" lastClr="FFFFFF"/>
      </a:lt1>
      <a:dk2>
        <a:srgbClr val="242852"/>
      </a:dk2>
      <a:lt2>
        <a:srgbClr val="ACCBF9"/>
      </a:lt2>
      <a:accent1>
        <a:srgbClr val="4A66AC"/>
      </a:accent1>
      <a:accent2>
        <a:srgbClr val="629DD1"/>
      </a:accent2>
      <a:accent3>
        <a:srgbClr val="297FD5"/>
      </a:accent3>
      <a:accent4>
        <a:srgbClr val="7F8FA9"/>
      </a:accent4>
      <a:accent5>
        <a:srgbClr val="5AA2AE"/>
      </a:accent5>
      <a:accent6>
        <a:srgbClr val="9D90A0"/>
      </a:accent6>
      <a:hlink>
        <a:srgbClr val="9454C3"/>
      </a:hlink>
      <a:folHlink>
        <a:srgbClr val="3EBBF0"/>
      </a:folHlink>
    </a:clrScheme>
    <a:fontScheme name="Retrospect">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Retrospect">
      <a:fillStyleLst>
        <a:solidFill>
          <a:schemeClr val="phClr"/>
        </a:solidFill>
        <a:gradFill rotWithShape="1">
          <a:gsLst>
            <a:gs pos="0">
              <a:schemeClr val="phClr">
                <a:tint val="65000"/>
                <a:shade val="92000"/>
                <a:satMod val="130000"/>
              </a:schemeClr>
            </a:gs>
            <a:gs pos="45000">
              <a:schemeClr val="phClr">
                <a:tint val="60000"/>
                <a:shade val="99000"/>
                <a:satMod val="120000"/>
              </a:schemeClr>
            </a:gs>
            <a:gs pos="100000">
              <a:schemeClr val="phClr">
                <a:tint val="55000"/>
                <a:satMod val="140000"/>
              </a:schemeClr>
            </a:gs>
          </a:gsLst>
          <a:path path="circle">
            <a:fillToRect l="100000" t="100000" r="100000" b="100000"/>
          </a:path>
        </a:gradFill>
        <a:gradFill rotWithShape="1">
          <a:gsLst>
            <a:gs pos="0">
              <a:schemeClr val="phClr">
                <a:shade val="85000"/>
                <a:satMod val="130000"/>
              </a:schemeClr>
            </a:gs>
            <a:gs pos="34000">
              <a:schemeClr val="phClr">
                <a:shade val="87000"/>
                <a:satMod val="125000"/>
              </a:schemeClr>
            </a:gs>
            <a:gs pos="70000">
              <a:schemeClr val="phClr">
                <a:tint val="100000"/>
                <a:shade val="90000"/>
                <a:satMod val="130000"/>
              </a:schemeClr>
            </a:gs>
            <a:gs pos="100000">
              <a:schemeClr val="phClr">
                <a:tint val="100000"/>
                <a:shade val="100000"/>
                <a:satMod val="110000"/>
              </a:schemeClr>
            </a:gs>
          </a:gsLst>
          <a:path path="circle">
            <a:fillToRect l="100000" t="100000" r="100000" b="100000"/>
          </a:path>
        </a:gradFill>
      </a:fillStyleLst>
      <a:lnStyleLst>
        <a:ln w="12700" cap="flat" cmpd="sng" algn="ctr">
          <a:solidFill>
            <a:schemeClr val="phClr"/>
          </a:solidFill>
          <a:prstDash val="solid"/>
        </a:ln>
        <a:ln w="15875" cap="flat" cmpd="sng" algn="ctr">
          <a:solidFill>
            <a:schemeClr val="phClr"/>
          </a:solidFill>
          <a:prstDash val="solid"/>
        </a:ln>
        <a:ln w="25400" cap="flat" cmpd="sng" algn="ctr">
          <a:solidFill>
            <a:schemeClr val="phClr"/>
          </a:solidFill>
          <a:prstDash val="solid"/>
        </a:ln>
      </a:lnStyleLst>
      <a:effectStyleLst>
        <a:effectStyle>
          <a:effectLst/>
        </a:effectStyle>
        <a:effectStyle>
          <a:effectLst>
            <a:outerShdw blurRad="38100" dist="25400" dir="2700000" algn="br" rotWithShape="0">
              <a:srgbClr val="000000">
                <a:alpha val="60000"/>
              </a:srgbClr>
            </a:outerShdw>
          </a:effectLst>
        </a:effectStyle>
        <a:effectStyle>
          <a:effectLst>
            <a:outerShdw blurRad="44450" dist="25400" dir="2700000" algn="br" rotWithShape="0">
              <a:srgbClr val="000000">
                <a:alpha val="60000"/>
              </a:srgbClr>
            </a:outerShdw>
          </a:effectLst>
          <a:scene3d>
            <a:camera prst="orthographicFront">
              <a:rot lat="0" lon="0" rev="0"/>
            </a:camera>
            <a:lightRig rig="threePt" dir="t">
              <a:rot lat="0" lon="0" rev="19800000"/>
            </a:lightRig>
          </a:scene3d>
          <a:sp3d prstMaterial="flat">
            <a:bevelT w="25400" h="31750"/>
          </a:sp3d>
        </a:effectStyle>
      </a:effectStyleLst>
      <a:bgFillStyleLst>
        <a:solidFill>
          <a:schemeClr val="phClr"/>
        </a:solidFill>
        <a:solidFill>
          <a:schemeClr val="phClr">
            <a:tint val="90000"/>
            <a:shade val="97000"/>
            <a:satMod val="130000"/>
          </a:schemeClr>
        </a:solidFill>
        <a:gradFill rotWithShape="1">
          <a:gsLst>
            <a:gs pos="0">
              <a:schemeClr val="phClr">
                <a:tint val="96000"/>
                <a:shade val="99000"/>
                <a:satMod val="140000"/>
              </a:schemeClr>
            </a:gs>
            <a:gs pos="65000">
              <a:schemeClr val="phClr">
                <a:tint val="100000"/>
                <a:shade val="80000"/>
                <a:satMod val="130000"/>
              </a:schemeClr>
            </a:gs>
            <a:gs pos="100000">
              <a:schemeClr val="phClr">
                <a:tint val="100000"/>
                <a:shade val="48000"/>
                <a:satMod val="120000"/>
              </a:schemeClr>
            </a:gs>
          </a:gsLst>
          <a:lin ang="16200000" scaled="0"/>
        </a:gradFill>
      </a:bgFillStyleLst>
    </a:fmtScheme>
  </a:themeElements>
  <a:objectDefaults/>
  <a:extraClrSchemeLst/>
  <a:extLst>
    <a:ext uri="{05A4C25C-085E-4340-85A3-A5531E510DB2}">
      <thm15:themeFamily xmlns:thm15="http://schemas.microsoft.com/office/thememl/2012/main" name="Retrospect" id="{5F128B03-DCCA-4EEB-AB3B-CF2899314A46}" vid="{9CC26709-368C-4D72-9060-94E5B3FF3CD6}"/>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
  <TotalTime>2299</TotalTime>
  <Words>2514</Words>
  <Application>Microsoft Office PowerPoint</Application>
  <PresentationFormat>Widescreen</PresentationFormat>
  <Paragraphs>189</Paragraphs>
  <Slides>34</Slides>
  <Notes>2</Notes>
  <HiddenSlides>0</HiddenSlides>
  <MMClips>0</MMClips>
  <ScaleCrop>false</ScaleCrop>
  <HeadingPairs>
    <vt:vector size="6" baseType="variant">
      <vt:variant>
        <vt:lpstr>Fonts Used</vt:lpstr>
      </vt:variant>
      <vt:variant>
        <vt:i4>7</vt:i4>
      </vt:variant>
      <vt:variant>
        <vt:lpstr>Theme</vt:lpstr>
      </vt:variant>
      <vt:variant>
        <vt:i4>2</vt:i4>
      </vt:variant>
      <vt:variant>
        <vt:lpstr>Slide Titles</vt:lpstr>
      </vt:variant>
      <vt:variant>
        <vt:i4>34</vt:i4>
      </vt:variant>
    </vt:vector>
  </HeadingPairs>
  <TitlesOfParts>
    <vt:vector size="43" baseType="lpstr">
      <vt:lpstr>Aptos</vt:lpstr>
      <vt:lpstr>Arial</vt:lpstr>
      <vt:lpstr>Calibri</vt:lpstr>
      <vt:lpstr>Calibri Light</vt:lpstr>
      <vt:lpstr>Trebuchet MS</vt:lpstr>
      <vt:lpstr>Wingdings</vt:lpstr>
      <vt:lpstr>Wingdings 3</vt:lpstr>
      <vt:lpstr>Facet</vt:lpstr>
      <vt:lpstr>Retrospect</vt:lpstr>
      <vt:lpstr>ProComp: A Problem-Driven Multi-Agent Framework for Comparative Paper Ranking</vt:lpstr>
      <vt:lpstr>AGENDA</vt:lpstr>
      <vt:lpstr>Background </vt:lpstr>
      <vt:lpstr>Limitations of Peer Review Systems</vt:lpstr>
      <vt:lpstr>Research problem </vt:lpstr>
      <vt:lpstr>Role of AI in Scientific Evaluation</vt:lpstr>
      <vt:lpstr>Challenges in Traditional LLM Peer Review Systems</vt:lpstr>
      <vt:lpstr>Motivation for PROCOMP Framework</vt:lpstr>
      <vt:lpstr>Objectives</vt:lpstr>
      <vt:lpstr>PROPOSED PROCOMP NETWORK (A Problem-Driven Multi-Agent Framework )</vt:lpstr>
      <vt:lpstr>PowerPoint Presentation</vt:lpstr>
      <vt:lpstr>Multi-Agent ProCOMP Architecture</vt:lpstr>
      <vt:lpstr>Agents Architecture</vt:lpstr>
      <vt:lpstr>RAG</vt:lpstr>
      <vt:lpstr>Prompt engineering Strategy</vt:lpstr>
      <vt:lpstr>Experimental setup</vt:lpstr>
      <vt:lpstr>Model Configurations</vt:lpstr>
      <vt:lpstr>Evaluation metrics</vt:lpstr>
      <vt:lpstr>Comparative analysis of Muti-Agent framework</vt:lpstr>
      <vt:lpstr>Baselines Framework</vt:lpstr>
      <vt:lpstr>Baselines Framework</vt:lpstr>
      <vt:lpstr>Baselines Framework</vt:lpstr>
      <vt:lpstr>Interpretation of Baselines evaluated with Error-Based Metrics</vt:lpstr>
      <vt:lpstr>HOLISTIC RANKING EVALUATION</vt:lpstr>
      <vt:lpstr>HOLISTIC RANKING EVALUATION</vt:lpstr>
      <vt:lpstr>Within-Group Ranking Analysis</vt:lpstr>
      <vt:lpstr>CORRELATION ANALYSIS EVALUATION</vt:lpstr>
      <vt:lpstr>ABLATION STUDY</vt:lpstr>
      <vt:lpstr>Ablation Study Result</vt:lpstr>
      <vt:lpstr>Conclusion</vt:lpstr>
      <vt:lpstr>Limitations and Challenges</vt:lpstr>
      <vt:lpstr>Future work</vt:lpstr>
      <vt:lpstr>References</vt:lpstr>
      <vt:lpstr>Thank you</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Laxmi Shravani Mamidala</dc:creator>
  <cp:lastModifiedBy>Laxmi Shravani Mamidala</cp:lastModifiedBy>
  <cp:revision>8</cp:revision>
  <dcterms:created xsi:type="dcterms:W3CDTF">2026-03-23T02:20:39Z</dcterms:created>
  <dcterms:modified xsi:type="dcterms:W3CDTF">2026-03-25T19:33:21Z</dcterms:modified>
</cp:coreProperties>
</file>